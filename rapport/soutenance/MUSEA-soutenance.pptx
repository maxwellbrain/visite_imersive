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Fréquence (%)</c:v>
                </c:pt>
              </c:strCache>
            </c:strRef>
          </c:tx>
          <c:spPr>
            <a:solidFill>
              <a:srgbClr val="25B98C"/>
            </a:solidFill>
            <a:effectLst/>
          </c:spPr>
          <c:invertIfNegative val="0"/>
          <c:dLbls>
            <c:numFmt formatCode="0.0&quot;%&quot;" sourceLinked="0"/>
            <c:txPr>
              <a:bodyPr/>
              <a:lstStyle/>
              <a:p>
                <a:pPr>
                  <a:defRPr b="0" i="0" strike="noStrike" sz="1000" u="none">
                    <a:solidFill>
                      <a:srgbClr val="F0D68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Acheter un billet
ou un objet en ligne</c:v>
                  </c:pt>
                  <c:pt idx="1">
                    <c:v>Savoir si des objets
semblables existent ailleurs</c:v>
                  </c:pt>
                  <c:pt idx="2">
                    <c:v>Savoir à qui l’objet
a appartenu</c:v>
                  </c:pt>
                  <c:pt idx="3">
                    <c:v>Poser une question,
réponse immédiate</c:v>
                  </c:pt>
                  <c:pt idx="4">
                    <c:v>Voir les objets sous
tous leurs angles</c:v>
                  </c:pt>
                  <c:pt idx="5">
                    <c:v>Se déplacer dans les salles
comme si l’on y était</c:v>
                  </c:pt>
                </c:lvl>
              </c:multiLvlStrCache>
            </c:multiLvlStrRef>
          </c:cat>
          <c:val>
            <c:numRef>
              <c:f>Sheet1!$B$2:$B$7</c:f>
              <c:numCache>
                <c:formatCode>General</c:formatCode>
                <c:ptCount val="6"/>
                <c:pt idx="0">
                  <c:v>42.9</c:v>
                </c:pt>
                <c:pt idx="1">
                  <c:v>57.1</c:v>
                </c:pt>
                <c:pt idx="2">
                  <c:v>69</c:v>
                </c:pt>
                <c:pt idx="3">
                  <c:v>78.6</c:v>
                </c:pt>
                <c:pt idx="4">
                  <c:v>83.3</c:v>
                </c:pt>
                <c:pt idx="5">
                  <c:v>90.5</c:v>
                </c:pt>
              </c:numCache>
            </c:numRef>
          </c:val>
        </c:ser>
        <c:dLbls>
          <c:numFmt formatCode="0.0&quot;%&quot;" sourceLinked="0"/>
          <c:txPr>
            <a:bodyPr/>
            <a:lstStyle/>
            <a:p>
              <a:pPr>
                <a:defRPr b="0" i="0" strike="noStrike" sz="1000" u="none">
                  <a:solidFill>
                    <a:srgbClr val="F0D68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F4F1E9"/>
                </a:solidFill>
                <a:latin typeface="Calibri"/>
              </a:defRPr>
            </a:pPr>
            <a:endParaRPr lang="en-US"/>
          </a:p>
        </c:txPr>
        <c:crossAx val="2094734552"/>
        <c:crosses val="autoZero"/>
        <c:auto val="1"/>
        <c:lblAlgn val="ctr"/>
        <c:noMultiLvlLbl val="1"/>
      </c:catAx>
      <c:valAx>
        <c:axId val="2094734552"/>
        <c:scaling>
          <c:orientation val="minMax"/>
          <c:max val="100"/>
        </c:scaling>
        <c:delete val="0"/>
        <c:axPos val="b"/>
        <c:majorGridlines>
          <c:spPr>
            <a:ln w="12700" cap="flat">
              <a:solidFill>
                <a:srgbClr val="1E473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9CB6A9"/>
                </a:solidFill>
                <a:latin typeface="Calibri"/>
              </a:defRPr>
            </a:pPr>
            <a:endParaRPr lang="en-US"/>
          </a:p>
        </c:txPr>
        <c:crossAx val="2094734554"/>
        <c:crosses val="autoZero"/>
        <c:crossBetween val="between"/>
        <c:majorUnit val="25"/>
      </c:valAx>
      <c:spPr>
        <a:solidFill>
          <a:srgbClr val="102A21"/>
        </a:solidFill>
        <a:ln>
          <a:noFill/>
        </a:ln>
        <a:effectLst/>
      </c:spPr>
    </c:plotArea>
    <c:plotVisOnly val="1"/>
    <c:dispBlanksAs val="span"/>
  </c:chart>
  <c:spPr>
    <a:solidFill>
      <a:srgbClr val="102A2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Résultats retournés</c:v>
                </c:pt>
              </c:strCache>
            </c:strRef>
          </c:tx>
          <c:spPr>
            <a:solidFill>
              <a:srgbClr val="E08A3C"/>
            </a:solidFill>
            <a:effectLst/>
          </c:spPr>
          <c:invertIfNegative val="0"/>
          <c:dLbls>
            <c:numFmt formatCode="#,##0" sourceLinked="0"/>
            <c:txPr>
              <a:bodyPr/>
              <a:lstStyle/>
              <a:p>
                <a:pPr>
                  <a:defRPr b="0" i="0" strike="noStrike" sz="1100" u="none">
                    <a:solidFill>
                      <a:srgbClr val="F4F1E9"/>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Saisie française brute</c:v>
                  </c:pt>
                  <c:pt idx="1">
                    <c:v>Vocabulaire de catalogage</c:v>
                  </c:pt>
                </c:lvl>
              </c:multiLvlStrCache>
            </c:multiLvlStrRef>
          </c:cat>
          <c:val>
            <c:numRef>
              <c:f>Sheet1!$B$2:$B$3</c:f>
              <c:numCache>
                <c:formatCode>General</c:formatCode>
                <c:ptCount val="2"/>
                <c:pt idx="0">
                  <c:v>16</c:v>
                </c:pt>
                <c:pt idx="1">
                  <c:v>5</c:v>
                </c:pt>
              </c:numCache>
            </c:numRef>
          </c:val>
        </c:ser>
        <c:ser>
          <c:idx val="1"/>
          <c:order val="1"/>
          <c:tx>
            <c:strRef>
              <c:f>Sheet1!$C$1</c:f>
              <c:strCache>
                <c:ptCount val="1"/>
                <c:pt idx="0">
                  <c:v>Meilleur score / 100</c:v>
                </c:pt>
              </c:strCache>
            </c:strRef>
          </c:tx>
          <c:spPr>
            <a:solidFill>
              <a:srgbClr val="25B98C"/>
            </a:solidFill>
            <a:effectLst/>
          </c:spPr>
          <c:invertIfNegative val="0"/>
          <c:dLbls>
            <c:numFmt formatCode="#,##0" sourceLinked="0"/>
            <c:txPr>
              <a:bodyPr/>
              <a:lstStyle/>
              <a:p>
                <a:pPr>
                  <a:defRPr b="0" i="0" strike="noStrike" sz="1100" u="none">
                    <a:solidFill>
                      <a:srgbClr val="F4F1E9"/>
                    </a:solidFill>
                    <a:latin typeface="Calibri"/>
                  </a:defRPr>
                </a:pPr>
              </a:p>
            </c:txPr>
            <c:showLegendKey val="0"/>
            <c:showVal val="1"/>
            <c:showCatName val="0"/>
            <c:showSerName val="0"/>
            <c:showPercent val="0"/>
            <c:showBubbleSize val="0"/>
            <c:showLeaderLines val="0"/>
          </c:dLbls>
          <c:cat>
            <c:multiLvlStrRef>
              <c:f>Sheet1!$A$2:$A$3</c:f>
              <c:multiLvlStrCache>
                <c:ptCount val="2"/>
                <c:lvl>
                  <c:pt idx="0">
                    <c:v>Saisie française brute</c:v>
                  </c:pt>
                  <c:pt idx="1">
                    <c:v>Vocabulaire de catalogage</c:v>
                  </c:pt>
                </c:lvl>
              </c:multiLvlStrCache>
            </c:multiLvlStrRef>
          </c:cat>
          <c:val>
            <c:numRef>
              <c:f>Sheet1!$C$2:$C$3</c:f>
              <c:numCache>
                <c:formatCode>General</c:formatCode>
                <c:ptCount val="2"/>
                <c:pt idx="0">
                  <c:v>57</c:v>
                </c:pt>
                <c:pt idx="1">
                  <c:v>85</c:v>
                </c:pt>
              </c:numCache>
            </c:numRef>
          </c:val>
        </c:ser>
        <c:dLbls>
          <c:numFmt formatCode="#,##0" sourceLinked="0"/>
          <c:txPr>
            <a:bodyPr/>
            <a:lstStyle/>
            <a:p>
              <a:pPr>
                <a:defRPr b="0" i="0" strike="noStrike" sz="1100" u="none">
                  <a:solidFill>
                    <a:srgbClr val="F4F1E9"/>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F4F1E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1E473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9CB6A9"/>
                </a:solidFill>
                <a:latin typeface="Calibri"/>
              </a:defRPr>
            </a:pPr>
            <a:endParaRPr lang="en-US"/>
          </a:p>
        </c:txPr>
        <c:crossAx val="2094734554"/>
        <c:crosses val="autoZero"/>
        <c:crossBetween val="between"/>
      </c:valAx>
      <c:spPr>
        <a:solidFill>
          <a:srgbClr val="102A21"/>
        </a:solidFill>
        <a:ln>
          <a:noFill/>
        </a:ln>
        <a:effectLst/>
      </c:spPr>
    </c:plotArea>
    <c:legend>
      <c:legendPos val="b"/>
      <c:overlay val="0"/>
      <c:txPr>
        <a:bodyPr/>
        <a:lstStyle/>
        <a:p>
          <a:pPr>
            <a:defRPr sz="1000">
              <a:solidFill>
                <a:srgbClr val="9CB6A9"/>
              </a:solidFill>
              <a:latin typeface="Calibri"/>
              <a:cs typeface="Calibri"/>
            </a:defRPr>
          </a:pPr>
          <a:endParaRPr lang="en-US"/>
        </a:p>
      </c:txPr>
    </c:legend>
    <c:plotVisOnly val="1"/>
    <c:dispBlanksAs val="span"/>
  </c:chart>
  <c:spPr>
    <a:solidFill>
      <a:srgbClr val="102A21"/>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Monsieur le président, messieurs les membres du jury, je vous remercie de votre présence.
Je m'appelle DASSI KAMGANG Max-Brian et je vais vous présenter le travail conduit du 20 juin au 20 août 2026 au sein du Think Tank Fou'ndjem de la Fondation Jean Félicien Gacha, à Bangoulap.
Le thème : mise en place d'un système de visite immersive des musées.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exposé suit cinq mouvements. Je pars de ce que j'ai trouvé sur le terrain et de la question que cela pose ; je présente ensuite la plateforme construite, puis les trois architectures qui la portent ; je m'arrête sur la façon dont les données du conservateur y entrent, parce que c'est là que se joue l'adoption ; et je termine par les mesures, la vérification des hypothèses et les suites proposées.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mouvement : le point de départ. Je vais dire ce que j'ai trouvé, ce que cela pose comme question, et comment je m'y suis pris pour y répondre.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Fondation n'était pas en terrain vierge : une première version en ligne existait, avec des photographies et de brèves descriptions.
J'ai relevé ce qu'elle permettait — et surtout ce qu'elle ne permettait pas — pendant la première semaine du stage. Quatre valeurs de départ, toutes nulles ou unitaires.
Insistez sur le délai : dix à vingt jours pour répondre à une question de visiteur, parfois sans réponse. Un tel délai n'est pas une lenteur, il annule la question : le visiteur a cessé d'attendre.
Une limite qui n'est pas chiffrée ne permet pas, en fin de travail, de mesurer ce que la solution a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de l'étude. La Fondation Jean Félicien Gacha est à Bangoulap, arrondissement de Bangangté, département du Ndé, région de l'Ouest.
Un point de méthode important : le Think Tank Fou'ndjem, qui m'a accueilli, n'est pas le client opérationnel. Il n'administre pas les collections et ne reçoit pas le public. Il a tenu un rôle de cadrage intellectuel et méthodologique ; les utilisateurs finaux sont les pôles Conservation, Accueil et Communication.
Trois contraintes du terrain ont commandé toute la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Quarante-deux visiteurs ont répondu au questionnaire, six membres du personnel ont été reçus en entretien semi-directif.
Deux enseignements du profil : plus de huit visiteurs sur dix accèdent au numérique par un téléphone — le dispositif devait donc être conçu pour le téléphone d'abord ; et la moitié des visiteurs vient déjà de l'extérieur de la région, ce qui atteste un public prêt à s'intéresser à la Fondation à distance.
Les attentes confirment la hiérarchie des objectifs : se déplacer, percevoir, interroger, relier. Notez la cinquième : savoir si des objets semblables existent ailleurs — plus d'un visiteur sur deux, alors que cela ne figurait pas dans la demande initiale.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ces constats découle la question générale de l'étude. Je la lis.
Elle se décompose en quatre questions spécifiques, qui commandent tout le reste du travail : à chacune correspondra une hypothèse, un objectif, une variable et, au chapitre 3, une mesure.
Représenter — relier — répondre — accueillir.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chaque question spécifique répond une hypothèse et un objectif, et un seul. C'est le fil qui tient tout le mémoire : la question fixe le problème, l'hypothèse annonce la réponse attendue, l'objectif dit ce qui sera construit, et le chapitre 3 apporte la mesure.
L'hypothèse générale : une plateforme unifiée réunissant restitution 3D, rapprochement documentaire, assistant ancré et isolation des données permet de restituer à distance l'essentiel de l'expérience de visite.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L'étude relève du niveau intégrateur : je ne me suis pas limité à décrire ni à expliquer, je suis intervenu sur la réalité observée en concevant et en mettant en service un dispositif. Le type d'étude correspondant est la recherche interactive, ou recherche par la conception, au sens de Hevner.
L'approche est mixte : le qualitatif pour comprendre le besoin, le quantitatif pour évaluer le dispositif construit.
Un point que je souligne : chaque indicateur porte un statut, mesuré ou non mesuré. Sans cette colonne, un indicateur annoncé se confondrait avec un indicateur renseigné.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mouvement : la solution construite. Une plateforme, MUSÉA, articulée autour de quatre ensembles et livrée avec une vingtaine de fonctionnalités.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MUSÉA en un écran : quatre ensembles fonctionnels.
Le progiciel de gestion et le site public éditable, qui forment le socle : sans inventaire structuré, ni la visite, ni l'assistant, ni le rapprochement n'ont de matière.
La visite immersive. L'assistant ancré sur les documents. Et la mémoire réunifiée, qui retrouve les œuvres apparentées dispersées dans le monde.
Le bandeau du bas donne les ordres de grandeur du système livré.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ce que cela donne. À gauche, le site public : trois entrées seulement — Musées, Nos boutiques, Généalogie — qui sont les trois fils du projet, et la section « Tournez autour de l'œuvre », où chaque pièce modélisée porte la pastille 3D.
À droite, le back-office. Trois choses à relever : l'interrupteur En ligne / Hors ligne, qui fait de la publication une décision explicite du personnel ; les boutons Exporter le modèle Excel et Importer, sur lesquels je reviendrai ; et le vocabulaire affiché, qui est celui du métier, pas celui du modèle relationnel.
Le bouton Back-office dans l'en-tête public dit l'essentiel : ce ne sont pas deux applications séparées.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restitution repose sur trois dispositifs distincts, qui ne répondent pas à la même question. C'est un résultat d'analyse, pas un choix d'outils.
Le parcours 360° répond à « où suis-je ». Le modèle 3D répond à « à quoi ressemble-t-elle sous tous ses angles ». La réalité augmentée répond à « quelle taille cela fait-il » — et elle ne porte pas sur les œuvres, mais sur les habitations et les espaces.
Pourquoi ? Parce que l'écran n'a pas d'échelle. Faire pivoter un masque à l'écran ne renseigne jamais sur sa taille véritable. Poser une case de Bangoulap, à sa dimension réelle, dans le salon d'un membre de la diaspora : voilà ce qu'aucune photographie ne transmet.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mouvement : les architectures. Trois schémas — l'architecture générale, l'assistant ancré, et le nuage avec la chaîne de livraison.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retenue comporte trois couches : présentation dans le navigateur, services, diffusion.
Le principe directeur tient en une phrase, et il n'a jamais été enfreint : aucune clé d'accès à un service tiers ne se trouve dans le navigateur. Toute demande adressée à un modèle de langue, à un service de synthèse vocale ou de paiement transite par une fonction serveur qui détient seule le secret.
C'est ce qui rend la plateforme démontrable devant un jury sans exposer quoi que ce soit.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L'assistant repose sur une architecture de génération augmentée par la recherche. Cinq temps.
Ingestion : les documents validés de la Fondation sont déposés dans un espace de stockage. Rien de ce qui n'y figure pas ne peut fonder une réponse.
Découpage et vectorisation : chaque fragment est converti en vecteur — et plongé en anglais, j'y reviens dans un instant, c'est le point décisif.
Indexation : colonne vectorielle de dimension 384, index HNSW en distance cosinus.
Recherche et augmentation : garde-fous d'abord, puis recherche des fragments les plus proches et composition de l'instruction.
Génération contrôlée : interdiction d'énoncer un fait absent des fragments, obligation de citer l'institution et le numéro d'inventaire, autorisation explicite de dire qu'on ne sait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résultat le plus instructif de l'étude, et il est contre-intuitif.
Une recherche formulée en français dans les catalogues internationaux ramène seize résultats, dont le meilleur atteint 57 sur 100. La même recherche, reformulée dans le vocabulaire de catalogage anglais, n'en ramène plus que cinq — mais le meilleur atteint 85.
Le nombre de résultats a chuté des deux tiers, et c'est une amélioration : on échange du rappel contre de la précision. Remontent en tête un masque éléphant conservé à Cleveland et deux masques comparables du Metropolitan, identifiés par leur numéro d'inventaire.
La portée dépasse la technique : l'échec initial d'une recherche ne traduisait pas une absence de données, mais un décalage de vocabulaire. À la dispersion physique des œuvres s'ajoute une dispersion documentaire — réversible, celle-là.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juge spontanément un assistant à ce qu'il sait. L'étude montre qu'en médiation culturelle, il faut le juger à ce qu'il refuse d'affirmer : une réponse inventée n'est pas une maladresse, c'est une falsification.
Trois mécanismes se sont révélés déterminants, et leur ordre d'efficacité est inverse de leur complexité technique. Le plus simple — écarter les questions hors périmètre avant même de solliciter le modèle — est le plus efficace, à coût nul.
Le moins intuitif et le plus important : l'autorisation explicite d'ignorer. Un modèle à qui l'on demande une réponse en produira une. Sans cette clause, il comble les vides.
Enfin le journal : une question récurrente sans réponse ne signale pas un défaut du dispositif, elle signale une lacune de la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L'infrastructure, telle qu'elle est décrite dans le code Terraform du projet. Elle se lit sur deux chemins.
Le chemin du visiteur : le navigateur interroge Route 53, qui résout aussi bien le domaine principal que le sous-domaine de chaque institution ; CloudFront sert le contenu sous le certificat délivré par ACM, et il est le seul à pouvoir lire le compartiment S3.
Le chemin de la livraison : le développeur dépose sa modification, GitHub Actions construit et dépose l'image, en se présentant à IAM avec un jeton de courte durée plutôt qu'une clé permanente. Et la chaîne vérifie le site en ligne après publication : on ne contrôle pas ce qu'on croit avoir déployé, on contrôle ce que le visiteur reçoit.
Enfin l'écart : 29 ressources décrites dans le code, 19 réellement créées. Le VPC, l'ALB, ECS Fargate et EKS sont écrits et validés, mais délibérément non appliqués — un site statique n'en a pas besoin et ils coûteraient sans rien servir. Ce schéma dit donc deux choses à la fois : l'état déployé, et la trajectoire déjà écrite.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posée par la Fondation en entretien était simple : combien cela coûtera-t-il une fois le stagiaire parti ?
Le coût récurrent de l'hébergement s'établit à 730 FCFA par mois — moins de 9 000 FCFA par an. Ce montant tient à un choix d'architecture : l'application étant un site statique servi par un réseau de diffusion, elle ne mobilise aucun serveur en fonctionnement permanent.
Le chiffre n'est pas deviné, il est établi par Infracost, qui lit les fichiers Terraform et interroge le barème public du fournisseur. Trois raisons : il chiffre avant que la modification ne soit appliquée, c'est-à-dire au moment où l'on peut encore y renoncer ; il se déduit des seuls fichiers versionnés, donc n'importe qui obtient le même chiffre ; et il s'exécute dans la chaîne d'intégration continue.
Une réserve : Infracost évalue le coût structurel, pas la consommation. Les montants du rapport combinent les deux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mouvement, et j'y attache une importance particulière : comment les données du conservateur entrent dans le système. C'est là que se joue l'adoption — une institution qui doit saisir cent notices avant de voir quoi que ce soit abandonne.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objection est revenue dans tous les entretiens : « nous n'allons pas ressaisir un inventaire que nous tenons déjà sur tableur ».
Le constat de conception qui en découle : un responsable de musée ne saisira pas deux cents pièces dans un formulaire web. Il remplit un tableau, hors ligne, à son rythme, et nous le renvoie. Le classeur est donc la vraie porte d'entrée du catalogue ; l'écran de saisie ne sert qu'aux corrections.
Quatre temps : la plateforme exporte le modèle, l'institution le remplit hors ligne, elle le dépose, et l'assistant montre son plan AVANT de créer quoi que ce soit.
L'écriture se fait ensuite en cascade — musées, puis salles, puis œuvres — parce que chaque étape a besoin des identifiants créés par la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 posé la question, et elle est légitime : pourquoi ne pas avoir simplement branché Power Query ?
Power Query est un excellent outil — ce n'est pas l'outil qui est en cause, c'est le sens du flux qu'il impose. C'est un ETL en lecture : il tire la donnée vers un classeur ou un modèle décisionnel. Il ne pousse rien dans une base métier.
Sept écarts, ligne par ligne. Le plus décisif est le dernier : Power Query n'a aucune notion d'institution ni d'identité. Dans une plateforme qui accueille plusieurs organisations, une écriture qui ne passe pas par l'identité de la personne casse tout le cloisonnement.
Et le sixième : la réexécution. Recharger deux fois le même fichier ne doit pas dupliquer un musée.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donc la méthode retenue, opposée terme à terme.
En haut, le flux tiré : le classeur va chercher la donnée, et la transformation s'arrête dans le classeur. Rien n'atteint la base.
En bas, le flux poussé : le fichier remonte, il est reconnu, montré, puis écrit sous l'identité de la personne.
Trois décisions techniques méritent d'être signalées. D'abord le format : pas de CSV comme format principal, parce qu'un fichier séparé par des virgules s'ouvre en une seule colonne sur un Excel configuré en français — on ne peut pas envoyer cela à un conservateur. Le .xlsx s'ouvre correctement partout et porte plusieurs feuilles. Le CSV reste accepté en lecture.
Ensuite, le classeur est écrit et relu sans aucune bibliothèque : un .xlsx est une archive ZIP de quelques fichiers XML.
Enfin, ce qui n'est jamais dans le tableau : les photos et les modèles 3D. Une colonne « photo » n'aurait pu contenir qu'une adresse web que le musée n'a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et dernier mouvement : les résultats mesurés, la vérification des hypothèses, et ce que je propose pour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synthèse des mesures relevées sur la base de production et sur les journaux du système, en septembre 2026, confrontées aux valeurs de départ issues de l'étude de l'existant.
Trois écarts portent l'essentiel du résultat. Le délai de réponse : de dix à vingt jours à l'instantané, et c'est ce que mesure le taux de 85,7 %. L'ouverture documentaire : de zéro collection interrogée à cinq, et 41 œuvres apparentées retrouvées. Et enfin ce qui commande la diffusion du dispositif : six institutions servies au lieu d'une, sans qu'une seule ligne de code ait été modifiée pour les accueillir.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confrontation des hypothèses aux résultats.
Les quatre hypothèses spécifiques sont confirmées, deux d'entre elles avec une précision qui est un apport du travail : pour la première, trois dispositifs distincts sont requis, car la perception des dimensions n'est obtenue que par la réalité augmentée ; pour la quatrième, la garantie doit être portée par la base, non par le code.
L'hypothèse générale est confirmée sous réserve : le dispositif est en service, mais la restitution demeure tributaire de la production des médias par l'institution. Je préfère le dire ainsi plutôt que de sur-affirmer.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le diagnostic peut être ramené à une proposition unique, et c'est la contribution théorique que je revendique : la restitution numérique d'une visite repose sur quatre continuités, dont la rupture d'une seule suffit à faire échouer l'ensemble.
La continuité spatiale : une galerie d'images la brise. La continuité d'échelle : l'écran, dépourvu d'échelle, la brise ; la réalité augmentée la rétablit. La continuité documentaire : l'invention la brise ; l'ancrage la maintient. La continuité narrative : un écran sans issue la brise — un objet qui ne mène nulle part est un échec de conception.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L'intervention que je propose consiste à faire passer MUSÉA de l'état de démonstration éprouvée à celui de service exploité durablement par la Fondation. Quatre composantes, douze mois.
Le choix d'orchestrateur a été instruit : ECS avec Fargate d'abord, pas Kubernetes. Pour une équipe technique réduite, le coût fixe et la charge d'administration de Kubernetes ne se justifient pas au volume actuel — et la conteneurisation préserve intégralement la migration ultérieure, puisque ce serait la même image.
Coût de fonctionnement annuel projeté : 369 360 FCFA, soit moins qu'un poste de travail, et mutualisable entre institutions.
Deux risques commandent les autres : la mise en sommeil de la base faute de trafic, et le départ du référent technique. C'est ce dernier que la démarche DevOps réduit le plus directement : une mise en production décrite dans un fichier se transmet, une suite de gestes mémorisés ne se transmet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conclus. Au-delà de l'outil livré, trois enseignements constituent la contribution propre de ce travail.
Le décalage de vocabulaire est une seconde dispersion des œuvres — documentaire celle-là, et réversible.
L'isolement des données ne peut pas être une propriété du code : les deux fuites détectées étaient d'origine applicative, et seule une garantie portée par la base résiste à l'erreur de programmation.
Et la qualité d'une visite restituée repose sur quatre continuités.
Quant aux suites : la plus importante est de comparer les œuvres sur l'image et non sur le texte, ce qui supprimerait la principale limite de la mémoire réunifiée. Et celle qui me tient le plus à cœur : ajouter le ghomálá', le fe'efe'e et le medumba. Il ne s'agirait plus seulement de faire connaître un patrimoine à l'extérieur, mais de le restituer aux communautés qui en sont issues, dans leur langue — ce que la structure du système permet déjà, sans modification.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de votre attention, et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
    <p:bg>
      <p:bgPr>
        <a:solidFill>
          <a:srgbClr val="07130F"/>
        </a:solidFill>
      </p:bgPr>
    </p:bg>
    <p:spTree>
      <p:nvGrpSpPr>
        <p:cNvPr id="1" name=""/>
        <p:cNvGrpSpPr/>
        <p:nvPr/>
      </p:nvGrpSpPr>
      <p:grpSpPr>
        <a:xfrm>
          <a:off x="0" y="0"/>
          <a:ext cx="0" cy="0"/>
          <a:chOff x="0" y="0"/>
          <a:chExt cx="0" cy="0"/>
        </a:xfrm>
      </p:grpSpPr>
      <p:pic>
        <p:nvPicPr>
          <p:cNvPr id="2" name="Image 0" descr="C:/Users/maxib/Desktop/visite_immersive/public/hero/hero-plateform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30F">
              <a:alpha val="66000"/>
            </a:srgbClr>
          </a:solidFill>
          <a:ln/>
        </p:spPr>
      </p:sp>
      <p:sp>
        <p:nvSpPr>
          <p:cNvPr id="4" name="Shape 1"/>
          <p:cNvSpPr/>
          <p:nvPr/>
        </p:nvSpPr>
        <p:spPr>
          <a:xfrm>
            <a:off x="9921240" y="411480"/>
            <a:ext cx="1691640" cy="841248"/>
          </a:xfrm>
          <a:prstGeom prst="roundRect">
            <a:avLst>
              <a:gd name="adj" fmla="val 10870"/>
            </a:avLst>
          </a:prstGeom>
          <a:solidFill>
            <a:srgbClr val="F6F4EE"/>
          </a:solidFill>
          <a:ln w="12700">
            <a:solidFill>
              <a:srgbClr val="F6F4EE"/>
            </a:solidFill>
            <a:prstDash val="solid"/>
          </a:ln>
          <a:effectLst>
            <a:outerShdw sx="100000" sy="100000" kx="0" ky="0" algn="bl" rotWithShape="0" blurRad="203200" dist="63500" dir="5400000">
              <a:srgbClr val="000000">
                <a:alpha val="40000"/>
              </a:srgbClr>
            </a:outerShdw>
          </a:effectLst>
        </p:spPr>
      </p:sp>
      <p:pic>
        <p:nvPicPr>
          <p:cNvPr id="5" name="Image 1" descr="C:/Users/maxib/Desktop/visite_immersive/rapport/latex/figures/logos/logo-keyce.png">    </p:cNvPr>
          <p:cNvPicPr>
            <a:picLocks noChangeAspect="1"/>
          </p:cNvPicPr>
          <p:nvPr/>
        </p:nvPicPr>
        <p:blipFill>
          <a:blip r:embed="rId2"/>
          <a:stretch>
            <a:fillRect/>
          </a:stretch>
        </p:blipFill>
        <p:spPr>
          <a:xfrm>
            <a:off x="10076688" y="603504"/>
            <a:ext cx="1051560" cy="365760"/>
          </a:xfrm>
          <a:prstGeom prst="rect">
            <a:avLst/>
          </a:prstGeom>
        </p:spPr>
      </p:pic>
      <p:pic>
        <p:nvPicPr>
          <p:cNvPr id="6" name="Image 2" descr="C:/Users/maxib/Desktop/visite_immersive/rapport/latex/figures/logos/logo-fondation.png">    </p:cNvPr>
          <p:cNvPicPr>
            <a:picLocks noChangeAspect="1"/>
          </p:cNvPicPr>
          <p:nvPr/>
        </p:nvPicPr>
        <p:blipFill>
          <a:blip r:embed="rId3"/>
          <a:stretch>
            <a:fillRect/>
          </a:stretch>
        </p:blipFill>
        <p:spPr>
          <a:xfrm>
            <a:off x="11192256" y="566928"/>
            <a:ext cx="329184" cy="438912"/>
          </a:xfrm>
          <a:prstGeom prst="rect">
            <a:avLst/>
          </a:prstGeom>
        </p:spPr>
      </p:pic>
      <p:sp>
        <p:nvSpPr>
          <p:cNvPr id="7" name="!!wordmark"/>
          <p:cNvSpPr txBox="1"/>
          <p:nvPr/>
        </p:nvSpPr>
        <p:spPr>
          <a:xfrm>
            <a:off x="640080" y="1417320"/>
            <a:ext cx="7315200" cy="1234440"/>
          </a:xfrm>
          <a:prstGeom prst="rect">
            <a:avLst/>
          </a:prstGeom>
          <a:noFill/>
          <a:ln/>
          <a:effectLst>
            <a:outerShdw sx="100000" sy="100000" kx="0" ky="0" algn="bl" rotWithShape="0" blurRad="228600" dist="50800" dir="5400000">
              <a:srgbClr val="000000">
                <a:alpha val="55000"/>
              </a:srgbClr>
            </a:outerShdw>
          </a:effectLst>
        </p:spPr>
        <p:txBody>
          <a:bodyPr wrap="square" lIns="0" tIns="0" rIns="0" bIns="0" rtlCol="0" anchor="ctr"/>
          <a:lstStyle/>
          <a:p>
            <a:pPr indent="0" marL="0">
              <a:buNone/>
            </a:pPr>
            <a:r>
              <a:rPr lang="en-US" sz="7200" b="1" spc="900" kern="0" dirty="0">
                <a:solidFill>
                  <a:srgbClr val="F0D68A"/>
                </a:solidFill>
                <a:latin typeface="Cambria" pitchFamily="34" charset="0"/>
                <a:ea typeface="Cambria" pitchFamily="34" charset="-122"/>
                <a:cs typeface="Cambria" pitchFamily="34" charset="-120"/>
              </a:rPr>
              <a:t>MUSÉA</a:t>
            </a:r>
            <a:endParaRPr lang="en-US" sz="7200" dirty="0"/>
          </a:p>
        </p:txBody>
      </p:sp>
      <p:sp>
        <p:nvSpPr>
          <p:cNvPr id="8" name="t_tag"/>
          <p:cNvSpPr txBox="1"/>
          <p:nvPr/>
        </p:nvSpPr>
        <p:spPr>
          <a:xfrm>
            <a:off x="640080" y="2615184"/>
            <a:ext cx="8503920" cy="365760"/>
          </a:xfrm>
          <a:prstGeom prst="rect">
            <a:avLst/>
          </a:prstGeom>
          <a:noFill/>
          <a:ln/>
        </p:spPr>
        <p:txBody>
          <a:bodyPr wrap="square" lIns="0" tIns="0" rIns="0" bIns="0" rtlCol="0" anchor="ctr"/>
          <a:lstStyle/>
          <a:p>
            <a:pPr indent="0" marL="0">
              <a:buNone/>
            </a:pPr>
            <a:r>
              <a:rPr lang="en-US" sz="1400" i="1" dirty="0">
                <a:solidFill>
                  <a:srgbClr val="D4A62A"/>
                </a:solidFill>
                <a:latin typeface="Calibri" pitchFamily="34" charset="0"/>
                <a:ea typeface="Calibri" pitchFamily="34" charset="-122"/>
                <a:cs typeface="Calibri" pitchFamily="34" charset="-120"/>
              </a:rPr>
              <a:t>Faire entrer la Fondation dans l’écran de ceux qui ne peuvent pas franchir son portail</a:t>
            </a:r>
            <a:endParaRPr lang="en-US" sz="1400" dirty="0"/>
          </a:p>
        </p:txBody>
      </p:sp>
      <p:sp>
        <p:nvSpPr>
          <p:cNvPr id="9" name="t_theme"/>
          <p:cNvSpPr txBox="1"/>
          <p:nvPr/>
        </p:nvSpPr>
        <p:spPr>
          <a:xfrm>
            <a:off x="640080" y="3246120"/>
            <a:ext cx="9509760" cy="1051560"/>
          </a:xfrm>
          <a:prstGeom prst="rect">
            <a:avLst/>
          </a:prstGeom>
          <a:noFill/>
          <a:ln/>
        </p:spPr>
        <p:txBody>
          <a:bodyPr wrap="square" lIns="0" tIns="0" rIns="0" bIns="0" rtlCol="0" anchor="ctr"/>
          <a:lstStyle/>
          <a:p>
            <a:pPr indent="0" marL="0">
              <a:lnSpc>
                <a:spcPts val="3200"/>
              </a:lnSpc>
              <a:buNone/>
            </a:pPr>
            <a:r>
              <a:rPr lang="en-US" sz="2500" b="1" dirty="0">
                <a:solidFill>
                  <a:srgbClr val="F4F1E9"/>
                </a:solidFill>
                <a:latin typeface="Cambria" pitchFamily="34" charset="0"/>
                <a:ea typeface="Cambria" pitchFamily="34" charset="-122"/>
                <a:cs typeface="Cambria" pitchFamily="34" charset="-120"/>
              </a:rPr>
              <a:t>Mise en place d’un système de visite immersive des musées :</a:t>
            </a:r>
            <a:endParaRPr lang="en-US" sz="2500" dirty="0"/>
          </a:p>
          <a:p>
            <a:pPr indent="0" marL="0">
              <a:lnSpc>
                <a:spcPts val="3200"/>
              </a:lnSpc>
              <a:buNone/>
            </a:pPr>
            <a:r>
              <a:rPr lang="en-US" sz="2500" b="1" dirty="0">
                <a:solidFill>
                  <a:srgbClr val="F4F1E9"/>
                </a:solidFill>
                <a:latin typeface="Cambria" pitchFamily="34" charset="0"/>
                <a:ea typeface="Cambria" pitchFamily="34" charset="-122"/>
                <a:cs typeface="Cambria" pitchFamily="34" charset="-120"/>
              </a:rPr>
              <a:t>cas de la Fondation Jean Félicien Gacha</a:t>
            </a:r>
            <a:endParaRPr lang="en-US" sz="2500" dirty="0"/>
          </a:p>
        </p:txBody>
      </p:sp>
      <p:sp>
        <p:nvSpPr>
          <p:cNvPr id="10" name="t_card"/>
          <p:cNvSpPr/>
          <p:nvPr/>
        </p:nvSpPr>
        <p:spPr>
          <a:xfrm>
            <a:off x="640080" y="4617720"/>
            <a:ext cx="10911535" cy="1371600"/>
          </a:xfrm>
          <a:prstGeom prst="roundRect">
            <a:avLst>
              <a:gd name="adj" fmla="val 4000"/>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1" name="Text 6"/>
          <p:cNvSpPr txBox="1"/>
          <p:nvPr/>
        </p:nvSpPr>
        <p:spPr>
          <a:xfrm>
            <a:off x="914400" y="4800600"/>
            <a:ext cx="2834640" cy="237744"/>
          </a:xfrm>
          <a:prstGeom prst="rect">
            <a:avLst/>
          </a:prstGeom>
          <a:noFill/>
          <a:ln/>
        </p:spPr>
        <p:txBody>
          <a:bodyPr wrap="square" lIns="0" tIns="0" rIns="0" bIns="0" rtlCol="0" anchor="ctr"/>
          <a:lstStyle/>
          <a:p>
            <a:pPr indent="0" marL="0">
              <a:buNone/>
            </a:pPr>
            <a:r>
              <a:rPr lang="en-US" sz="900" b="1" spc="160" kern="0" dirty="0">
                <a:solidFill>
                  <a:srgbClr val="D4A62A"/>
                </a:solidFill>
                <a:latin typeface="Calibri" pitchFamily="34" charset="0"/>
                <a:ea typeface="Calibri" pitchFamily="34" charset="-122"/>
                <a:cs typeface="Calibri" pitchFamily="34" charset="-120"/>
              </a:rPr>
              <a:t>PRÉSENTÉ ET SOUTENU PAR</a:t>
            </a:r>
            <a:endParaRPr lang="en-US" sz="900" dirty="0"/>
          </a:p>
        </p:txBody>
      </p:sp>
      <p:sp>
        <p:nvSpPr>
          <p:cNvPr id="12" name="Text 7"/>
          <p:cNvSpPr txBox="1"/>
          <p:nvPr/>
        </p:nvSpPr>
        <p:spPr>
          <a:xfrm>
            <a:off x="914400" y="5047488"/>
            <a:ext cx="2834640" cy="777240"/>
          </a:xfrm>
          <a:prstGeom prst="rect">
            <a:avLst/>
          </a:prstGeom>
          <a:noFill/>
          <a:ln/>
        </p:spPr>
        <p:txBody>
          <a:bodyPr wrap="square" lIns="0" tIns="0" rIns="0" bIns="0" rtlCol="0" anchor="ctr"/>
          <a:lstStyle/>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DASSI KAMGANG Max-Brian</a:t>
            </a:r>
            <a:endParaRPr lang="en-US" sz="1250" dirty="0"/>
          </a:p>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Licence en Génie Informatique</a:t>
            </a:r>
            <a:endParaRPr lang="en-US" sz="1250" dirty="0"/>
          </a:p>
        </p:txBody>
      </p:sp>
      <p:sp>
        <p:nvSpPr>
          <p:cNvPr id="13" name="Text 8"/>
          <p:cNvSpPr txBox="1"/>
          <p:nvPr/>
        </p:nvSpPr>
        <p:spPr>
          <a:xfrm>
            <a:off x="3931920" y="4800600"/>
            <a:ext cx="2926080" cy="237744"/>
          </a:xfrm>
          <a:prstGeom prst="rect">
            <a:avLst/>
          </a:prstGeom>
          <a:noFill/>
          <a:ln/>
        </p:spPr>
        <p:txBody>
          <a:bodyPr wrap="square" lIns="0" tIns="0" rIns="0" bIns="0" rtlCol="0" anchor="ctr"/>
          <a:lstStyle/>
          <a:p>
            <a:pPr indent="0" marL="0">
              <a:buNone/>
            </a:pPr>
            <a:r>
              <a:rPr lang="en-US" sz="900" b="1" spc="160" kern="0" dirty="0">
                <a:solidFill>
                  <a:srgbClr val="D4A62A"/>
                </a:solidFill>
                <a:latin typeface="Calibri" pitchFamily="34" charset="0"/>
                <a:ea typeface="Calibri" pitchFamily="34" charset="-122"/>
                <a:cs typeface="Calibri" pitchFamily="34" charset="-120"/>
              </a:rPr>
              <a:t>ENCADREUR ACADÉMIQUE</a:t>
            </a:r>
            <a:endParaRPr lang="en-US" sz="900" dirty="0"/>
          </a:p>
        </p:txBody>
      </p:sp>
      <p:sp>
        <p:nvSpPr>
          <p:cNvPr id="14" name="Text 9"/>
          <p:cNvSpPr txBox="1"/>
          <p:nvPr/>
        </p:nvSpPr>
        <p:spPr>
          <a:xfrm>
            <a:off x="3931920" y="5047488"/>
            <a:ext cx="2926080" cy="777240"/>
          </a:xfrm>
          <a:prstGeom prst="rect">
            <a:avLst/>
          </a:prstGeom>
          <a:noFill/>
          <a:ln/>
        </p:spPr>
        <p:txBody>
          <a:bodyPr wrap="square" lIns="0" tIns="0" rIns="0" bIns="0" rtlCol="0" anchor="ctr"/>
          <a:lstStyle/>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M. GOUDJOU Blondon</a:t>
            </a:r>
            <a:endParaRPr lang="en-US" sz="1250" dirty="0"/>
          </a:p>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Institut Supérieur KEYCE</a:t>
            </a:r>
            <a:endParaRPr lang="en-US" sz="1250" dirty="0"/>
          </a:p>
        </p:txBody>
      </p:sp>
      <p:sp>
        <p:nvSpPr>
          <p:cNvPr id="15" name="Text 10"/>
          <p:cNvSpPr txBox="1"/>
          <p:nvPr/>
        </p:nvSpPr>
        <p:spPr>
          <a:xfrm>
            <a:off x="6949440" y="4800600"/>
            <a:ext cx="2926080" cy="237744"/>
          </a:xfrm>
          <a:prstGeom prst="rect">
            <a:avLst/>
          </a:prstGeom>
          <a:noFill/>
          <a:ln/>
        </p:spPr>
        <p:txBody>
          <a:bodyPr wrap="square" lIns="0" tIns="0" rIns="0" bIns="0" rtlCol="0" anchor="ctr"/>
          <a:lstStyle/>
          <a:p>
            <a:pPr indent="0" marL="0">
              <a:buNone/>
            </a:pPr>
            <a:r>
              <a:rPr lang="en-US" sz="900" b="1" spc="160" kern="0" dirty="0">
                <a:solidFill>
                  <a:srgbClr val="D4A62A"/>
                </a:solidFill>
                <a:latin typeface="Calibri" pitchFamily="34" charset="0"/>
                <a:ea typeface="Calibri" pitchFamily="34" charset="-122"/>
                <a:cs typeface="Calibri" pitchFamily="34" charset="-120"/>
              </a:rPr>
              <a:t>ENCADREUR PROFESSIONNEL</a:t>
            </a:r>
            <a:endParaRPr lang="en-US" sz="900" dirty="0"/>
          </a:p>
        </p:txBody>
      </p:sp>
      <p:sp>
        <p:nvSpPr>
          <p:cNvPr id="16" name="Text 11"/>
          <p:cNvSpPr txBox="1"/>
          <p:nvPr/>
        </p:nvSpPr>
        <p:spPr>
          <a:xfrm>
            <a:off x="6949440" y="5047488"/>
            <a:ext cx="2926080" cy="777240"/>
          </a:xfrm>
          <a:prstGeom prst="rect">
            <a:avLst/>
          </a:prstGeom>
          <a:noFill/>
          <a:ln/>
        </p:spPr>
        <p:txBody>
          <a:bodyPr wrap="square" lIns="0" tIns="0" rIns="0" bIns="0" rtlCol="0" anchor="ctr"/>
          <a:lstStyle/>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M. Adrien GHOMSI</a:t>
            </a:r>
            <a:endParaRPr lang="en-US" sz="1250" dirty="0"/>
          </a:p>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Think Tank Fou’ndjem</a:t>
            </a:r>
            <a:endParaRPr lang="en-US" sz="1250" dirty="0"/>
          </a:p>
        </p:txBody>
      </p:sp>
      <p:sp>
        <p:nvSpPr>
          <p:cNvPr id="17" name="Text 12"/>
          <p:cNvSpPr txBox="1"/>
          <p:nvPr/>
        </p:nvSpPr>
        <p:spPr>
          <a:xfrm>
            <a:off x="9966960" y="4800600"/>
            <a:ext cx="1737360" cy="237744"/>
          </a:xfrm>
          <a:prstGeom prst="rect">
            <a:avLst/>
          </a:prstGeom>
          <a:noFill/>
          <a:ln/>
        </p:spPr>
        <p:txBody>
          <a:bodyPr wrap="square" lIns="0" tIns="0" rIns="0" bIns="0" rtlCol="0" anchor="ctr"/>
          <a:lstStyle/>
          <a:p>
            <a:pPr indent="0" marL="0">
              <a:buNone/>
            </a:pPr>
            <a:r>
              <a:rPr lang="en-US" sz="900" b="1" spc="160" kern="0" dirty="0">
                <a:solidFill>
                  <a:srgbClr val="D4A62A"/>
                </a:solidFill>
                <a:latin typeface="Calibri" pitchFamily="34" charset="0"/>
                <a:ea typeface="Calibri" pitchFamily="34" charset="-122"/>
                <a:cs typeface="Calibri" pitchFamily="34" charset="-120"/>
              </a:rPr>
              <a:t>ANNÉE ACADÉMIQUE</a:t>
            </a:r>
            <a:endParaRPr lang="en-US" sz="900" dirty="0"/>
          </a:p>
        </p:txBody>
      </p:sp>
      <p:sp>
        <p:nvSpPr>
          <p:cNvPr id="18" name="Text 13"/>
          <p:cNvSpPr txBox="1"/>
          <p:nvPr/>
        </p:nvSpPr>
        <p:spPr>
          <a:xfrm>
            <a:off x="9966960" y="5047488"/>
            <a:ext cx="1737360" cy="777240"/>
          </a:xfrm>
          <a:prstGeom prst="rect">
            <a:avLst/>
          </a:prstGeom>
          <a:noFill/>
          <a:ln/>
        </p:spPr>
        <p:txBody>
          <a:bodyPr wrap="square" lIns="0" tIns="0" rIns="0" bIns="0" rtlCol="0" anchor="ctr"/>
          <a:lstStyle/>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2025 – 2026</a:t>
            </a:r>
            <a:endParaRPr lang="en-US" sz="1250" dirty="0"/>
          </a:p>
          <a:p>
            <a:pPr indent="0" marL="0">
              <a:lnSpc>
                <a:spcPts val="1600"/>
              </a:lnSpc>
              <a:buNone/>
            </a:pPr>
            <a:r>
              <a:rPr lang="en-US" sz="1250" dirty="0">
                <a:solidFill>
                  <a:srgbClr val="F4F1E9"/>
                </a:solidFill>
                <a:latin typeface="Calibri" pitchFamily="34" charset="0"/>
                <a:ea typeface="Calibri" pitchFamily="34" charset="-122"/>
                <a:cs typeface="Calibri" pitchFamily="34" charset="-120"/>
              </a:rPr>
              <a:t>Bafoussam, Cameroun</a:t>
            </a:r>
            <a:endParaRPr lang="en-US" sz="125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entr" presetSubtype="8" fill="hold" grpId="0" nodeType="withEffect">
                                  <p:stCondLst>
                                    <p:cond delay="7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additive="base">
                                        <p:cTn id="11" dur="500" fill="hold"/>
                                        <p:tgtEl>
                                          <p:spTgt spid="9"/>
                                        </p:tgtEl>
                                        <p:attrNameLst>
                                          <p:attrName>ppt_y</p:attrName>
                                        </p:attrNameLst>
                                      </p:cBhvr>
                                      <p:tavLst>
                                        <p:tav tm="0">
                                          <p:val>
                                            <p:strVal val="#ppt_y+.035"/>
                                          </p:val>
                                        </p:tav>
                                        <p:tav tm="100000">
                                          <p:val>
                                            <p:strVal val="#ppt_y"/>
                                          </p:val>
                                        </p:tav>
                                      </p:tavLst>
                                    </p:anim>
                                  </p:childTnLst>
                                </p:cTn>
                              </p:par>
                              <p:par>
                                <p:cTn id="12" presetID="42" presetClass="entr" presetSubtype="8" fill="hold" grpId="0" nodeType="withEffect">
                                  <p:stCondLst>
                                    <p:cond delay="10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additive="base">
                                        <p:cTn id="15" dur="500" fill="hold"/>
                                        <p:tgtEl>
                                          <p:spTgt spid="1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8961120" y="-1097280"/>
            <a:ext cx="5120640" cy="5120640"/>
          </a:xfrm>
          <a:prstGeom prst="ellipse">
            <a:avLst/>
          </a:prstGeom>
          <a:solidFill>
            <a:srgbClr val="0E6B4F">
              <a:alpha val="8000"/>
            </a:srgbClr>
          </a:solidFill>
          <a:ln/>
        </p:spPr>
      </p:sp>
      <p:sp>
        <p:nvSpPr>
          <p:cNvPr id="3" name="!!wordmark"/>
          <p:cNvSpPr txBox="1"/>
          <p:nvPr/>
        </p:nvSpPr>
        <p:spPr>
          <a:xfrm>
            <a:off x="640080" y="411480"/>
            <a:ext cx="2743200" cy="457200"/>
          </a:xfrm>
          <a:prstGeom prst="rect">
            <a:avLst/>
          </a:prstGeom>
          <a:noFill/>
          <a:ln/>
        </p:spPr>
        <p:txBody>
          <a:bodyPr wrap="square" lIns="0" tIns="0" rIns="0" bIns="0" rtlCol="0" anchor="ctr"/>
          <a:lstStyle/>
          <a:p>
            <a:pPr indent="0" marL="0">
              <a:buNone/>
            </a:pPr>
            <a:r>
              <a:rPr lang="en-US" sz="2200" b="1" spc="400" kern="0" dirty="0">
                <a:solidFill>
                  <a:srgbClr val="F0D68A"/>
                </a:solidFill>
                <a:latin typeface="Cambria" pitchFamily="34" charset="0"/>
                <a:ea typeface="Cambria" pitchFamily="34" charset="-122"/>
                <a:cs typeface="Cambria" pitchFamily="34" charset="-120"/>
              </a:rPr>
              <a:t>MUSÉA</a:t>
            </a:r>
            <a:endParaRPr lang="en-US" sz="2200" dirty="0"/>
          </a:p>
        </p:txBody>
      </p:sp>
      <p:sp>
        <p:nvSpPr>
          <p:cNvPr id="4" name="f_t"/>
          <p:cNvSpPr txBox="1"/>
          <p:nvPr/>
        </p:nvSpPr>
        <p:spPr>
          <a:xfrm>
            <a:off x="640080" y="1051560"/>
            <a:ext cx="10911535" cy="777240"/>
          </a:xfrm>
          <a:prstGeom prst="rect">
            <a:avLst/>
          </a:prstGeom>
          <a:noFill/>
          <a:ln/>
        </p:spPr>
        <p:txBody>
          <a:bodyPr wrap="square" lIns="0" tIns="0" rIns="0" bIns="0" rtlCol="0" anchor="ctr"/>
          <a:lstStyle/>
          <a:p>
            <a:pPr indent="0" marL="0">
              <a:lnSpc>
                <a:spcPts val="3600"/>
              </a:lnSpc>
              <a:buNone/>
            </a:pPr>
            <a:r>
              <a:rPr lang="en-US" sz="3600" b="1" dirty="0">
                <a:solidFill>
                  <a:srgbClr val="F4F1E9"/>
                </a:solidFill>
                <a:latin typeface="Cambria" pitchFamily="34" charset="0"/>
                <a:ea typeface="Cambria" pitchFamily="34" charset="-122"/>
                <a:cs typeface="Cambria" pitchFamily="34" charset="-120"/>
              </a:rPr>
              <a:t>Le fil de la soutenance</a:t>
            </a:r>
            <a:endParaRPr lang="en-US" sz="3600" dirty="0"/>
          </a:p>
        </p:txBody>
      </p:sp>
      <p:sp>
        <p:nvSpPr>
          <p:cNvPr id="5" name="f_k"/>
          <p:cNvSpPr txBox="1"/>
          <p:nvPr/>
        </p:nvSpPr>
        <p:spPr>
          <a:xfrm>
            <a:off x="640080" y="1783080"/>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Cinq mouvements, du terrain relevé jusqu’aux suites proposées.</a:t>
            </a:r>
            <a:endParaRPr lang="en-US" sz="1450" dirty="0"/>
          </a:p>
        </p:txBody>
      </p:sp>
      <p:sp>
        <p:nvSpPr>
          <p:cNvPr id="6" name="f_c0"/>
          <p:cNvSpPr/>
          <p:nvPr/>
        </p:nvSpPr>
        <p:spPr>
          <a:xfrm>
            <a:off x="640080" y="2514600"/>
            <a:ext cx="1992112" cy="2743200"/>
          </a:xfrm>
          <a:prstGeom prst="roundRect">
            <a:avLst>
              <a:gd name="adj" fmla="val 275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7" name="!!num1b"/>
          <p:cNvSpPr/>
          <p:nvPr/>
        </p:nvSpPr>
        <p:spPr>
          <a:xfrm>
            <a:off x="1024128" y="2834640"/>
            <a:ext cx="822960" cy="822960"/>
          </a:xfrm>
          <a:prstGeom prst="roundRect">
            <a:avLst>
              <a:gd name="adj" fmla="val 38889"/>
            </a:avLst>
          </a:prstGeom>
          <a:solidFill>
            <a:srgbClr val="0E6B4F"/>
          </a:solidFill>
          <a:ln w="12700">
            <a:solidFill>
              <a:srgbClr val="25B98C"/>
            </a:solidFill>
            <a:prstDash val="solid"/>
          </a:ln>
        </p:spPr>
      </p:sp>
      <p:sp>
        <p:nvSpPr>
          <p:cNvPr id="8" name="!!num1"/>
          <p:cNvSpPr txBox="1"/>
          <p:nvPr/>
        </p:nvSpPr>
        <p:spPr>
          <a:xfrm>
            <a:off x="1024128" y="2834640"/>
            <a:ext cx="822960" cy="822960"/>
          </a:xfrm>
          <a:prstGeom prst="rect">
            <a:avLst/>
          </a:prstGeom>
          <a:noFill/>
          <a:ln/>
        </p:spPr>
        <p:txBody>
          <a:bodyPr wrap="square" lIns="0" tIns="0" rIns="0" bIns="0" rtlCol="0" anchor="ctr"/>
          <a:lstStyle/>
          <a:p>
            <a:pPr algn="ctr" indent="0" marL="0">
              <a:buNone/>
            </a:pPr>
            <a:r>
              <a:rPr lang="en-US" sz="2200" b="1" dirty="0">
                <a:solidFill>
                  <a:srgbClr val="F0D68A"/>
                </a:solidFill>
                <a:latin typeface="Cambria" pitchFamily="34" charset="0"/>
                <a:ea typeface="Cambria" pitchFamily="34" charset="-122"/>
                <a:cs typeface="Cambria" pitchFamily="34" charset="-120"/>
              </a:rPr>
              <a:t>I</a:t>
            </a:r>
            <a:endParaRPr lang="en-US" sz="2200" dirty="0"/>
          </a:p>
        </p:txBody>
      </p:sp>
      <p:sp>
        <p:nvSpPr>
          <p:cNvPr id="9" name="Text 7"/>
          <p:cNvSpPr txBox="1"/>
          <p:nvPr/>
        </p:nvSpPr>
        <p:spPr>
          <a:xfrm>
            <a:off x="841248" y="3840480"/>
            <a:ext cx="1589776" cy="685800"/>
          </a:xfrm>
          <a:prstGeom prst="rect">
            <a:avLst/>
          </a:prstGeom>
          <a:noFill/>
          <a:ln/>
        </p:spPr>
        <p:txBody>
          <a:bodyPr wrap="square" lIns="0" tIns="0" rIns="0" bIns="0" rtlCol="0" anchor="ctr"/>
          <a:lstStyle/>
          <a:p>
            <a:pPr algn="ctr" indent="0" marL="0">
              <a:lnSpc>
                <a:spcPts val="1900"/>
              </a:lnSpc>
              <a:buNone/>
            </a:pPr>
            <a:r>
              <a:rPr lang="en-US" sz="1500" b="1" dirty="0">
                <a:solidFill>
                  <a:srgbClr val="F4F1E9"/>
                </a:solidFill>
                <a:latin typeface="Cambria" pitchFamily="34" charset="0"/>
                <a:ea typeface="Cambria" pitchFamily="34" charset="-122"/>
                <a:cs typeface="Cambria" pitchFamily="34" charset="-120"/>
              </a:rPr>
              <a:t>LE POINT DE DÉPART</a:t>
            </a:r>
            <a:endParaRPr lang="en-US" sz="1500" dirty="0"/>
          </a:p>
        </p:txBody>
      </p:sp>
      <p:sp>
        <p:nvSpPr>
          <p:cNvPr id="10" name="Text 8"/>
          <p:cNvSpPr txBox="1"/>
          <p:nvPr/>
        </p:nvSpPr>
        <p:spPr>
          <a:xfrm>
            <a:off x="841248" y="4526280"/>
            <a:ext cx="1589776" cy="658368"/>
          </a:xfrm>
          <a:prstGeom prst="rect">
            <a:avLst/>
          </a:prstGeom>
          <a:noFill/>
          <a:ln/>
        </p:spPr>
        <p:txBody>
          <a:bodyPr wrap="square" lIns="0" tIns="0" rIns="0" bIns="0" rtlCol="0" anchor="ctr"/>
          <a:lstStyle/>
          <a:p>
            <a:pPr algn="ctr" indent="0" marL="0">
              <a:lnSpc>
                <a:spcPts val="1400"/>
              </a:lnSpc>
              <a:buNone/>
            </a:pPr>
            <a:r>
              <a:rPr lang="en-US" sz="1050" dirty="0">
                <a:solidFill>
                  <a:srgbClr val="9CB6A9"/>
                </a:solidFill>
                <a:latin typeface="Calibri" pitchFamily="34" charset="0"/>
                <a:ea typeface="Calibri" pitchFamily="34" charset="-122"/>
                <a:cs typeface="Calibri" pitchFamily="34" charset="-120"/>
              </a:rPr>
              <a:t>L’existant relevé, la question posée, la méthode suivie</a:t>
            </a:r>
            <a:endParaRPr lang="en-US" sz="1050" dirty="0"/>
          </a:p>
        </p:txBody>
      </p:sp>
      <p:sp>
        <p:nvSpPr>
          <p:cNvPr id="11" name="f_c1"/>
          <p:cNvSpPr/>
          <p:nvPr/>
        </p:nvSpPr>
        <p:spPr>
          <a:xfrm>
            <a:off x="2869936" y="2514600"/>
            <a:ext cx="1992112" cy="2743200"/>
          </a:xfrm>
          <a:prstGeom prst="roundRect">
            <a:avLst>
              <a:gd name="adj" fmla="val 275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num2b"/>
          <p:cNvSpPr/>
          <p:nvPr/>
        </p:nvSpPr>
        <p:spPr>
          <a:xfrm>
            <a:off x="3253984" y="2834640"/>
            <a:ext cx="822960" cy="822960"/>
          </a:xfrm>
          <a:prstGeom prst="roundRect">
            <a:avLst>
              <a:gd name="adj" fmla="val 38889"/>
            </a:avLst>
          </a:prstGeom>
          <a:solidFill>
            <a:srgbClr val="0E6B4F"/>
          </a:solidFill>
          <a:ln w="12700">
            <a:solidFill>
              <a:srgbClr val="25B98C"/>
            </a:solidFill>
            <a:prstDash val="solid"/>
          </a:ln>
        </p:spPr>
      </p:sp>
      <p:sp>
        <p:nvSpPr>
          <p:cNvPr id="13" name="!!num2"/>
          <p:cNvSpPr txBox="1"/>
          <p:nvPr/>
        </p:nvSpPr>
        <p:spPr>
          <a:xfrm>
            <a:off x="3253984" y="2834640"/>
            <a:ext cx="822960" cy="822960"/>
          </a:xfrm>
          <a:prstGeom prst="rect">
            <a:avLst/>
          </a:prstGeom>
          <a:noFill/>
          <a:ln/>
        </p:spPr>
        <p:txBody>
          <a:bodyPr wrap="square" lIns="0" tIns="0" rIns="0" bIns="0" rtlCol="0" anchor="ctr"/>
          <a:lstStyle/>
          <a:p>
            <a:pPr algn="ctr" indent="0" marL="0">
              <a:buNone/>
            </a:pPr>
            <a:r>
              <a:rPr lang="en-US" sz="2200" b="1" dirty="0">
                <a:solidFill>
                  <a:srgbClr val="F0D68A"/>
                </a:solidFill>
                <a:latin typeface="Cambria" pitchFamily="34" charset="0"/>
                <a:ea typeface="Cambria" pitchFamily="34" charset="-122"/>
                <a:cs typeface="Cambria" pitchFamily="34" charset="-120"/>
              </a:rPr>
              <a:t>II</a:t>
            </a:r>
            <a:endParaRPr lang="en-US" sz="2200" dirty="0"/>
          </a:p>
        </p:txBody>
      </p:sp>
      <p:sp>
        <p:nvSpPr>
          <p:cNvPr id="14" name="Text 12"/>
          <p:cNvSpPr txBox="1"/>
          <p:nvPr/>
        </p:nvSpPr>
        <p:spPr>
          <a:xfrm>
            <a:off x="3071104" y="3840480"/>
            <a:ext cx="1589776" cy="685800"/>
          </a:xfrm>
          <a:prstGeom prst="rect">
            <a:avLst/>
          </a:prstGeom>
          <a:noFill/>
          <a:ln/>
        </p:spPr>
        <p:txBody>
          <a:bodyPr wrap="square" lIns="0" tIns="0" rIns="0" bIns="0" rtlCol="0" anchor="ctr"/>
          <a:lstStyle/>
          <a:p>
            <a:pPr algn="ctr" indent="0" marL="0">
              <a:lnSpc>
                <a:spcPts val="1900"/>
              </a:lnSpc>
              <a:buNone/>
            </a:pPr>
            <a:r>
              <a:rPr lang="en-US" sz="1500" b="1" dirty="0">
                <a:solidFill>
                  <a:srgbClr val="F4F1E9"/>
                </a:solidFill>
                <a:latin typeface="Cambria" pitchFamily="34" charset="0"/>
                <a:ea typeface="Cambria" pitchFamily="34" charset="-122"/>
                <a:cs typeface="Cambria" pitchFamily="34" charset="-120"/>
              </a:rPr>
              <a:t>LA SOLUTION</a:t>
            </a:r>
            <a:endParaRPr lang="en-US" sz="1500" dirty="0"/>
          </a:p>
        </p:txBody>
      </p:sp>
      <p:sp>
        <p:nvSpPr>
          <p:cNvPr id="15" name="Text 13"/>
          <p:cNvSpPr txBox="1"/>
          <p:nvPr/>
        </p:nvSpPr>
        <p:spPr>
          <a:xfrm>
            <a:off x="3071104" y="4526280"/>
            <a:ext cx="1589776" cy="658368"/>
          </a:xfrm>
          <a:prstGeom prst="rect">
            <a:avLst/>
          </a:prstGeom>
          <a:noFill/>
          <a:ln/>
        </p:spPr>
        <p:txBody>
          <a:bodyPr wrap="square" lIns="0" tIns="0" rIns="0" bIns="0" rtlCol="0" anchor="ctr"/>
          <a:lstStyle/>
          <a:p>
            <a:pPr algn="ctr" indent="0" marL="0">
              <a:lnSpc>
                <a:spcPts val="1400"/>
              </a:lnSpc>
              <a:buNone/>
            </a:pPr>
            <a:r>
              <a:rPr lang="en-US" sz="1050" dirty="0">
                <a:solidFill>
                  <a:srgbClr val="9CB6A9"/>
                </a:solidFill>
                <a:latin typeface="Calibri" pitchFamily="34" charset="0"/>
                <a:ea typeface="Calibri" pitchFamily="34" charset="-122"/>
                <a:cs typeface="Calibri" pitchFamily="34" charset="-120"/>
              </a:rPr>
              <a:t>MUSÉA : une plateforme, vingt fonctionnalités livrées</a:t>
            </a:r>
            <a:endParaRPr lang="en-US" sz="1050" dirty="0"/>
          </a:p>
        </p:txBody>
      </p:sp>
      <p:sp>
        <p:nvSpPr>
          <p:cNvPr id="16" name="f_c2"/>
          <p:cNvSpPr/>
          <p:nvPr/>
        </p:nvSpPr>
        <p:spPr>
          <a:xfrm>
            <a:off x="5099792" y="2514600"/>
            <a:ext cx="1992112" cy="2743200"/>
          </a:xfrm>
          <a:prstGeom prst="roundRect">
            <a:avLst>
              <a:gd name="adj" fmla="val 275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7" name="!!num3b"/>
          <p:cNvSpPr/>
          <p:nvPr/>
        </p:nvSpPr>
        <p:spPr>
          <a:xfrm>
            <a:off x="5483840" y="2834640"/>
            <a:ext cx="822960" cy="822960"/>
          </a:xfrm>
          <a:prstGeom prst="roundRect">
            <a:avLst>
              <a:gd name="adj" fmla="val 38889"/>
            </a:avLst>
          </a:prstGeom>
          <a:solidFill>
            <a:srgbClr val="0E6B4F"/>
          </a:solidFill>
          <a:ln w="12700">
            <a:solidFill>
              <a:srgbClr val="25B98C"/>
            </a:solidFill>
            <a:prstDash val="solid"/>
          </a:ln>
        </p:spPr>
      </p:sp>
      <p:sp>
        <p:nvSpPr>
          <p:cNvPr id="18" name="!!num3"/>
          <p:cNvSpPr txBox="1"/>
          <p:nvPr/>
        </p:nvSpPr>
        <p:spPr>
          <a:xfrm>
            <a:off x="5483840" y="2834640"/>
            <a:ext cx="822960" cy="822960"/>
          </a:xfrm>
          <a:prstGeom prst="rect">
            <a:avLst/>
          </a:prstGeom>
          <a:noFill/>
          <a:ln/>
        </p:spPr>
        <p:txBody>
          <a:bodyPr wrap="square" lIns="0" tIns="0" rIns="0" bIns="0" rtlCol="0" anchor="ctr"/>
          <a:lstStyle/>
          <a:p>
            <a:pPr algn="ctr" indent="0" marL="0">
              <a:buNone/>
            </a:pPr>
            <a:r>
              <a:rPr lang="en-US" sz="2200" b="1" dirty="0">
                <a:solidFill>
                  <a:srgbClr val="F0D68A"/>
                </a:solidFill>
                <a:latin typeface="Cambria" pitchFamily="34" charset="0"/>
                <a:ea typeface="Cambria" pitchFamily="34" charset="-122"/>
                <a:cs typeface="Cambria" pitchFamily="34" charset="-120"/>
              </a:rPr>
              <a:t>III</a:t>
            </a:r>
            <a:endParaRPr lang="en-US" sz="2200" dirty="0"/>
          </a:p>
        </p:txBody>
      </p:sp>
      <p:sp>
        <p:nvSpPr>
          <p:cNvPr id="19" name="Text 17"/>
          <p:cNvSpPr txBox="1"/>
          <p:nvPr/>
        </p:nvSpPr>
        <p:spPr>
          <a:xfrm>
            <a:off x="5300960" y="3840480"/>
            <a:ext cx="1589776" cy="685800"/>
          </a:xfrm>
          <a:prstGeom prst="rect">
            <a:avLst/>
          </a:prstGeom>
          <a:noFill/>
          <a:ln/>
        </p:spPr>
        <p:txBody>
          <a:bodyPr wrap="square" lIns="0" tIns="0" rIns="0" bIns="0" rtlCol="0" anchor="ctr"/>
          <a:lstStyle/>
          <a:p>
            <a:pPr algn="ctr" indent="0" marL="0">
              <a:lnSpc>
                <a:spcPts val="1900"/>
              </a:lnSpc>
              <a:buNone/>
            </a:pPr>
            <a:r>
              <a:rPr lang="en-US" sz="1500" b="1" dirty="0">
                <a:solidFill>
                  <a:srgbClr val="F4F1E9"/>
                </a:solidFill>
                <a:latin typeface="Cambria" pitchFamily="34" charset="0"/>
                <a:ea typeface="Cambria" pitchFamily="34" charset="-122"/>
                <a:cs typeface="Cambria" pitchFamily="34" charset="-120"/>
              </a:rPr>
              <a:t>LES ARCHITECTURES</a:t>
            </a:r>
            <a:endParaRPr lang="en-US" sz="1500" dirty="0"/>
          </a:p>
        </p:txBody>
      </p:sp>
      <p:sp>
        <p:nvSpPr>
          <p:cNvPr id="20" name="Text 18"/>
          <p:cNvSpPr txBox="1"/>
          <p:nvPr/>
        </p:nvSpPr>
        <p:spPr>
          <a:xfrm>
            <a:off x="5300960" y="4526280"/>
            <a:ext cx="1589776" cy="658368"/>
          </a:xfrm>
          <a:prstGeom prst="rect">
            <a:avLst/>
          </a:prstGeom>
          <a:noFill/>
          <a:ln/>
        </p:spPr>
        <p:txBody>
          <a:bodyPr wrap="square" lIns="0" tIns="0" rIns="0" bIns="0" rtlCol="0" anchor="ctr"/>
          <a:lstStyle/>
          <a:p>
            <a:pPr algn="ctr" indent="0" marL="0">
              <a:lnSpc>
                <a:spcPts val="1400"/>
              </a:lnSpc>
              <a:buNone/>
            </a:pPr>
            <a:r>
              <a:rPr lang="en-US" sz="1050" dirty="0">
                <a:solidFill>
                  <a:srgbClr val="9CB6A9"/>
                </a:solidFill>
                <a:latin typeface="Calibri" pitchFamily="34" charset="0"/>
                <a:ea typeface="Calibri" pitchFamily="34" charset="-122"/>
                <a:cs typeface="Calibri" pitchFamily="34" charset="-120"/>
              </a:rPr>
              <a:t>L’assistant ancré, le nuage, la livraison continue</a:t>
            </a:r>
            <a:endParaRPr lang="en-US" sz="1050" dirty="0"/>
          </a:p>
        </p:txBody>
      </p:sp>
      <p:sp>
        <p:nvSpPr>
          <p:cNvPr id="21" name="f_c3"/>
          <p:cNvSpPr/>
          <p:nvPr/>
        </p:nvSpPr>
        <p:spPr>
          <a:xfrm>
            <a:off x="7329648" y="2514600"/>
            <a:ext cx="1992112" cy="2743200"/>
          </a:xfrm>
          <a:prstGeom prst="roundRect">
            <a:avLst>
              <a:gd name="adj" fmla="val 275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2" name="!!num4b"/>
          <p:cNvSpPr/>
          <p:nvPr/>
        </p:nvSpPr>
        <p:spPr>
          <a:xfrm>
            <a:off x="7713696" y="2834640"/>
            <a:ext cx="822960" cy="822960"/>
          </a:xfrm>
          <a:prstGeom prst="roundRect">
            <a:avLst>
              <a:gd name="adj" fmla="val 38889"/>
            </a:avLst>
          </a:prstGeom>
          <a:solidFill>
            <a:srgbClr val="0E6B4F"/>
          </a:solidFill>
          <a:ln w="12700">
            <a:solidFill>
              <a:srgbClr val="25B98C"/>
            </a:solidFill>
            <a:prstDash val="solid"/>
          </a:ln>
        </p:spPr>
      </p:sp>
      <p:sp>
        <p:nvSpPr>
          <p:cNvPr id="23" name="!!num4"/>
          <p:cNvSpPr txBox="1"/>
          <p:nvPr/>
        </p:nvSpPr>
        <p:spPr>
          <a:xfrm>
            <a:off x="7713696" y="2834640"/>
            <a:ext cx="822960" cy="822960"/>
          </a:xfrm>
          <a:prstGeom prst="rect">
            <a:avLst/>
          </a:prstGeom>
          <a:noFill/>
          <a:ln/>
        </p:spPr>
        <p:txBody>
          <a:bodyPr wrap="square" lIns="0" tIns="0" rIns="0" bIns="0" rtlCol="0" anchor="ctr"/>
          <a:lstStyle/>
          <a:p>
            <a:pPr algn="ctr" indent="0" marL="0">
              <a:buNone/>
            </a:pPr>
            <a:r>
              <a:rPr lang="en-US" sz="2200" b="1" dirty="0">
                <a:solidFill>
                  <a:srgbClr val="F0D68A"/>
                </a:solidFill>
                <a:latin typeface="Cambria" pitchFamily="34" charset="0"/>
                <a:ea typeface="Cambria" pitchFamily="34" charset="-122"/>
                <a:cs typeface="Cambria" pitchFamily="34" charset="-120"/>
              </a:rPr>
              <a:t>IV</a:t>
            </a:r>
            <a:endParaRPr lang="en-US" sz="2200" dirty="0"/>
          </a:p>
        </p:txBody>
      </p:sp>
      <p:sp>
        <p:nvSpPr>
          <p:cNvPr id="24" name="Text 22"/>
          <p:cNvSpPr txBox="1"/>
          <p:nvPr/>
        </p:nvSpPr>
        <p:spPr>
          <a:xfrm>
            <a:off x="7530816" y="3840480"/>
            <a:ext cx="1589776" cy="685800"/>
          </a:xfrm>
          <a:prstGeom prst="rect">
            <a:avLst/>
          </a:prstGeom>
          <a:noFill/>
          <a:ln/>
        </p:spPr>
        <p:txBody>
          <a:bodyPr wrap="square" lIns="0" tIns="0" rIns="0" bIns="0" rtlCol="0" anchor="ctr"/>
          <a:lstStyle/>
          <a:p>
            <a:pPr algn="ctr" indent="0" marL="0">
              <a:lnSpc>
                <a:spcPts val="1900"/>
              </a:lnSpc>
              <a:buNone/>
            </a:pPr>
            <a:r>
              <a:rPr lang="en-US" sz="1500" b="1" dirty="0">
                <a:solidFill>
                  <a:srgbClr val="F4F1E9"/>
                </a:solidFill>
                <a:latin typeface="Cambria" pitchFamily="34" charset="0"/>
                <a:ea typeface="Cambria" pitchFamily="34" charset="-122"/>
                <a:cs typeface="Cambria" pitchFamily="34" charset="-120"/>
              </a:rPr>
              <a:t>FAIRE ENTRER LES DONNÉES</a:t>
            </a:r>
            <a:endParaRPr lang="en-US" sz="1500" dirty="0"/>
          </a:p>
        </p:txBody>
      </p:sp>
      <p:sp>
        <p:nvSpPr>
          <p:cNvPr id="25" name="Text 23"/>
          <p:cNvSpPr txBox="1"/>
          <p:nvPr/>
        </p:nvSpPr>
        <p:spPr>
          <a:xfrm>
            <a:off x="7530816" y="4526280"/>
            <a:ext cx="1589776" cy="658368"/>
          </a:xfrm>
          <a:prstGeom prst="rect">
            <a:avLst/>
          </a:prstGeom>
          <a:noFill/>
          <a:ln/>
        </p:spPr>
        <p:txBody>
          <a:bodyPr wrap="square" lIns="0" tIns="0" rIns="0" bIns="0" rtlCol="0" anchor="ctr"/>
          <a:lstStyle/>
          <a:p>
            <a:pPr algn="ctr" indent="0" marL="0">
              <a:lnSpc>
                <a:spcPts val="1400"/>
              </a:lnSpc>
              <a:buNone/>
            </a:pPr>
            <a:r>
              <a:rPr lang="en-US" sz="1050" dirty="0">
                <a:solidFill>
                  <a:srgbClr val="9CB6A9"/>
                </a:solidFill>
                <a:latin typeface="Calibri" pitchFamily="34" charset="0"/>
                <a:ea typeface="Calibri" pitchFamily="34" charset="-122"/>
                <a:cs typeface="Calibri" pitchFamily="34" charset="-120"/>
              </a:rPr>
              <a:t>Le classeur du conservateur, et pourquoi pas Power Query</a:t>
            </a:r>
            <a:endParaRPr lang="en-US" sz="1050" dirty="0"/>
          </a:p>
        </p:txBody>
      </p:sp>
      <p:sp>
        <p:nvSpPr>
          <p:cNvPr id="26" name="f_c4"/>
          <p:cNvSpPr/>
          <p:nvPr/>
        </p:nvSpPr>
        <p:spPr>
          <a:xfrm>
            <a:off x="9559503" y="2514600"/>
            <a:ext cx="1992112" cy="2743200"/>
          </a:xfrm>
          <a:prstGeom prst="roundRect">
            <a:avLst>
              <a:gd name="adj" fmla="val 275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7" name="!!num5b"/>
          <p:cNvSpPr/>
          <p:nvPr/>
        </p:nvSpPr>
        <p:spPr>
          <a:xfrm>
            <a:off x="9943551" y="2834640"/>
            <a:ext cx="822960" cy="822960"/>
          </a:xfrm>
          <a:prstGeom prst="roundRect">
            <a:avLst>
              <a:gd name="adj" fmla="val 38889"/>
            </a:avLst>
          </a:prstGeom>
          <a:solidFill>
            <a:srgbClr val="0E6B4F"/>
          </a:solidFill>
          <a:ln w="12700">
            <a:solidFill>
              <a:srgbClr val="25B98C"/>
            </a:solidFill>
            <a:prstDash val="solid"/>
          </a:ln>
        </p:spPr>
      </p:sp>
      <p:sp>
        <p:nvSpPr>
          <p:cNvPr id="28" name="!!num5"/>
          <p:cNvSpPr txBox="1"/>
          <p:nvPr/>
        </p:nvSpPr>
        <p:spPr>
          <a:xfrm>
            <a:off x="9943551" y="2834640"/>
            <a:ext cx="822960" cy="822960"/>
          </a:xfrm>
          <a:prstGeom prst="rect">
            <a:avLst/>
          </a:prstGeom>
          <a:noFill/>
          <a:ln/>
        </p:spPr>
        <p:txBody>
          <a:bodyPr wrap="square" lIns="0" tIns="0" rIns="0" bIns="0" rtlCol="0" anchor="ctr"/>
          <a:lstStyle/>
          <a:p>
            <a:pPr algn="ctr" indent="0" marL="0">
              <a:buNone/>
            </a:pPr>
            <a:r>
              <a:rPr lang="en-US" sz="2200" b="1" dirty="0">
                <a:solidFill>
                  <a:srgbClr val="F0D68A"/>
                </a:solidFill>
                <a:latin typeface="Cambria" pitchFamily="34" charset="0"/>
                <a:ea typeface="Cambria" pitchFamily="34" charset="-122"/>
                <a:cs typeface="Cambria" pitchFamily="34" charset="-120"/>
              </a:rPr>
              <a:t>V</a:t>
            </a:r>
            <a:endParaRPr lang="en-US" sz="2200" dirty="0"/>
          </a:p>
        </p:txBody>
      </p:sp>
      <p:sp>
        <p:nvSpPr>
          <p:cNvPr id="29" name="Text 27"/>
          <p:cNvSpPr txBox="1"/>
          <p:nvPr/>
        </p:nvSpPr>
        <p:spPr>
          <a:xfrm>
            <a:off x="9760671" y="3840480"/>
            <a:ext cx="1589776" cy="685800"/>
          </a:xfrm>
          <a:prstGeom prst="rect">
            <a:avLst/>
          </a:prstGeom>
          <a:noFill/>
          <a:ln/>
        </p:spPr>
        <p:txBody>
          <a:bodyPr wrap="square" lIns="0" tIns="0" rIns="0" bIns="0" rtlCol="0" anchor="ctr"/>
          <a:lstStyle/>
          <a:p>
            <a:pPr algn="ctr" indent="0" marL="0">
              <a:lnSpc>
                <a:spcPts val="1900"/>
              </a:lnSpc>
              <a:buNone/>
            </a:pPr>
            <a:r>
              <a:rPr lang="en-US" sz="1500" b="1" dirty="0">
                <a:solidFill>
                  <a:srgbClr val="F4F1E9"/>
                </a:solidFill>
                <a:latin typeface="Cambria" pitchFamily="34" charset="0"/>
                <a:ea typeface="Cambria" pitchFamily="34" charset="-122"/>
                <a:cs typeface="Cambria" pitchFamily="34" charset="-120"/>
              </a:rPr>
              <a:t>RÉSULTATS ET SUITES</a:t>
            </a:r>
            <a:endParaRPr lang="en-US" sz="1500" dirty="0"/>
          </a:p>
        </p:txBody>
      </p:sp>
      <p:sp>
        <p:nvSpPr>
          <p:cNvPr id="30" name="Text 28"/>
          <p:cNvSpPr txBox="1"/>
          <p:nvPr/>
        </p:nvSpPr>
        <p:spPr>
          <a:xfrm>
            <a:off x="9760671" y="4526280"/>
            <a:ext cx="1589776" cy="658368"/>
          </a:xfrm>
          <a:prstGeom prst="rect">
            <a:avLst/>
          </a:prstGeom>
          <a:noFill/>
          <a:ln/>
        </p:spPr>
        <p:txBody>
          <a:bodyPr wrap="square" lIns="0" tIns="0" rIns="0" bIns="0" rtlCol="0" anchor="ctr"/>
          <a:lstStyle/>
          <a:p>
            <a:pPr algn="ctr" indent="0" marL="0">
              <a:lnSpc>
                <a:spcPts val="1400"/>
              </a:lnSpc>
              <a:buNone/>
            </a:pPr>
            <a:r>
              <a:rPr lang="en-US" sz="1050" dirty="0">
                <a:solidFill>
                  <a:srgbClr val="9CB6A9"/>
                </a:solidFill>
                <a:latin typeface="Calibri" pitchFamily="34" charset="0"/>
                <a:ea typeface="Calibri" pitchFamily="34" charset="-122"/>
                <a:cs typeface="Calibri" pitchFamily="34" charset="-120"/>
              </a:rPr>
              <a:t>Les mesures, les hypothèses, l’intervention proposée</a:t>
            </a:r>
            <a:endParaRPr lang="en-US" sz="1050" dirty="0"/>
          </a:p>
        </p:txBody>
      </p:sp>
      <p:sp>
        <p:nvSpPr>
          <p:cNvPr id="31" name="Text 29"/>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2" name="Text 30"/>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3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entr" presetSubtype="8" fill="hold" grpId="0" nodeType="with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additive="base">
                                        <p:cTn id="15" dur="500" fill="hold"/>
                                        <p:tgtEl>
                                          <p:spTgt spid="6"/>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65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additive="base">
                                        <p:cTn id="19" dur="500" fill="hold"/>
                                        <p:tgtEl>
                                          <p:spTgt spid="11"/>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8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anim calcmode="lin" valueType="num">
                                      <p:cBhvr additive="base">
                                        <p:cTn id="23" dur="500" fill="hold"/>
                                        <p:tgtEl>
                                          <p:spTgt spid="16"/>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95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anim calcmode="lin" valueType="num">
                                      <p:cBhvr additive="base">
                                        <p:cTn id="27" dur="500" fill="hold"/>
                                        <p:tgtEl>
                                          <p:spTgt spid="21"/>
                                        </p:tgtEl>
                                        <p:attrNameLst>
                                          <p:attrName>ppt_y</p:attrName>
                                        </p:attrNameLst>
                                      </p:cBhvr>
                                      <p:tavLst>
                                        <p:tav tm="0">
                                          <p:val>
                                            <p:strVal val="#ppt_y+.035"/>
                                          </p:val>
                                        </p:tav>
                                        <p:tav tm="100000">
                                          <p:val>
                                            <p:strVal val="#ppt_y"/>
                                          </p:val>
                                        </p:tav>
                                      </p:tavLst>
                                    </p:anim>
                                  </p:childTnLst>
                                </p:cTn>
                              </p:par>
                              <p:par>
                                <p:cTn id="28" presetID="42" presetClass="entr" presetSubtype="8" fill="hold" grpId="0" nodeType="withEffect">
                                  <p:stCondLst>
                                    <p:cond delay="110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anim calcmode="lin" valueType="num">
                                      <p:cBhvr additive="base">
                                        <p:cTn id="31" dur="500" fill="hold"/>
                                        <p:tgtEl>
                                          <p:spTgt spid="2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3">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194560" y="2011680"/>
            <a:ext cx="6858000" cy="6858000"/>
          </a:xfrm>
          <a:prstGeom prst="ellipse">
            <a:avLst/>
          </a:prstGeom>
          <a:solidFill>
            <a:srgbClr val="0E6B4F">
              <a:alpha val="12000"/>
            </a:srgbClr>
          </a:solidFill>
          <a:ln/>
        </p:spPr>
      </p:sp>
      <p:sp>
        <p:nvSpPr>
          <p:cNvPr id="3" name="Shape 1"/>
          <p:cNvSpPr/>
          <p:nvPr/>
        </p:nvSpPr>
        <p:spPr>
          <a:xfrm>
            <a:off x="9326880" y="-1828800"/>
            <a:ext cx="5943600" cy="5943600"/>
          </a:xfrm>
          <a:prstGeom prst="ellipse">
            <a:avLst/>
          </a:prstGeom>
          <a:solidFill>
            <a:srgbClr val="D4A62A">
              <a:alpha val="6000"/>
            </a:srgbClr>
          </a:solidFill>
          <a:ln/>
        </p:spPr>
      </p:sp>
      <p:sp>
        <p:nvSpPr>
          <p:cNvPr id="4" name="!!num1b"/>
          <p:cNvSpPr/>
          <p:nvPr/>
        </p:nvSpPr>
        <p:spPr>
          <a:xfrm>
            <a:off x="1051560" y="2331720"/>
            <a:ext cx="2194560" cy="2194560"/>
          </a:xfrm>
          <a:prstGeom prst="roundRect">
            <a:avLst>
              <a:gd name="adj" fmla="val 14583"/>
            </a:avLst>
          </a:prstGeom>
          <a:solidFill>
            <a:srgbClr val="0E6B4F"/>
          </a:solidFill>
          <a:ln w="12700">
            <a:solidFill>
              <a:srgbClr val="25B98C"/>
            </a:solidFill>
            <a:prstDash val="solid"/>
          </a:ln>
        </p:spPr>
      </p:sp>
      <p:sp>
        <p:nvSpPr>
          <p:cNvPr id="5" name="!!num1"/>
          <p:cNvSpPr txBox="1"/>
          <p:nvPr/>
        </p:nvSpPr>
        <p:spPr>
          <a:xfrm>
            <a:off x="1051560" y="2331720"/>
            <a:ext cx="2194560" cy="2194560"/>
          </a:xfrm>
          <a:prstGeom prst="rect">
            <a:avLst/>
          </a:prstGeom>
          <a:noFill/>
          <a:ln/>
        </p:spPr>
        <p:txBody>
          <a:bodyPr wrap="square" lIns="0" tIns="0" rIns="0" bIns="0" rtlCol="0" anchor="ctr"/>
          <a:lstStyle/>
          <a:p>
            <a:pPr algn="ctr" indent="0" marL="0">
              <a:buNone/>
            </a:pPr>
            <a:r>
              <a:rPr lang="en-US" sz="6600" b="1" dirty="0">
                <a:solidFill>
                  <a:srgbClr val="F0D68A"/>
                </a:solidFill>
                <a:latin typeface="Cambria" pitchFamily="34" charset="0"/>
                <a:ea typeface="Cambria" pitchFamily="34" charset="-122"/>
                <a:cs typeface="Cambria" pitchFamily="34" charset="-120"/>
              </a:rPr>
              <a:t>I</a:t>
            </a:r>
            <a:endParaRPr lang="en-US" sz="6600" dirty="0"/>
          </a:p>
        </p:txBody>
      </p:sp>
      <p:sp>
        <p:nvSpPr>
          <p:cNvPr id="6" name="!!sec1"/>
          <p:cNvSpPr txBox="1"/>
          <p:nvPr/>
        </p:nvSpPr>
        <p:spPr>
          <a:xfrm>
            <a:off x="3977640" y="2606040"/>
            <a:ext cx="7589520" cy="914400"/>
          </a:xfrm>
          <a:prstGeom prst="rect">
            <a:avLst/>
          </a:prstGeom>
          <a:noFill/>
          <a:ln/>
        </p:spPr>
        <p:txBody>
          <a:bodyPr wrap="square" lIns="0" tIns="0" rIns="0" bIns="0" rtlCol="0" anchor="ctr"/>
          <a:lstStyle/>
          <a:p>
            <a:pPr indent="0" marL="0">
              <a:buNone/>
            </a:pPr>
            <a:r>
              <a:rPr lang="en-US" sz="4000" b="1" dirty="0">
                <a:solidFill>
                  <a:srgbClr val="F4F1E9"/>
                </a:solidFill>
                <a:latin typeface="Cambria" pitchFamily="34" charset="0"/>
                <a:ea typeface="Cambria" pitchFamily="34" charset="-122"/>
                <a:cs typeface="Cambria" pitchFamily="34" charset="-120"/>
              </a:rPr>
              <a:t>LE POINT DE DÉPART</a:t>
            </a:r>
            <a:endParaRPr lang="en-US" sz="4000" dirty="0"/>
          </a:p>
        </p:txBody>
      </p:sp>
      <p:sp>
        <p:nvSpPr>
          <p:cNvPr id="7" name="Text 5"/>
          <p:cNvSpPr txBox="1"/>
          <p:nvPr/>
        </p:nvSpPr>
        <p:spPr>
          <a:xfrm>
            <a:off x="4023360" y="3611880"/>
            <a:ext cx="7498080" cy="548640"/>
          </a:xfrm>
          <a:prstGeom prst="rect">
            <a:avLst/>
          </a:prstGeom>
          <a:noFill/>
          <a:ln/>
        </p:spPr>
        <p:txBody>
          <a:bodyPr wrap="square" lIns="0" tIns="0" rIns="0" bIns="0" rtlCol="0" anchor="ctr"/>
          <a:lstStyle/>
          <a:p>
            <a:pPr indent="0" marL="0">
              <a:buNone/>
            </a:pPr>
            <a:r>
              <a:rPr lang="en-US" sz="1500" i="1" dirty="0">
                <a:solidFill>
                  <a:srgbClr val="9CB6A9"/>
                </a:solidFill>
                <a:latin typeface="Calibri" pitchFamily="34" charset="0"/>
                <a:ea typeface="Calibri" pitchFamily="34" charset="-122"/>
                <a:cs typeface="Calibri" pitchFamily="34" charset="-120"/>
              </a:rPr>
              <a:t>L’existant relevé, la question posée, la méthode suivie</a:t>
            </a:r>
            <a:endParaRPr lang="en-US" sz="1500" dirty="0"/>
          </a:p>
        </p:txBody>
      </p:sp>
      <p:sp>
        <p:nvSpPr>
          <p:cNvPr id="8" name="Text 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9" name="Text 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3</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4">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9692640" y="4206240"/>
            <a:ext cx="4754880" cy="4754880"/>
          </a:xfrm>
          <a:prstGeom prst="ellipse">
            <a:avLst/>
          </a:prstGeom>
          <a:solidFill>
            <a:srgbClr val="0E6B4F">
              <a:alpha val="8000"/>
            </a:srgbClr>
          </a:solidFill>
          <a:ln/>
        </p:spPr>
      </p:sp>
      <p:sp>
        <p:nvSpPr>
          <p:cNvPr id="3" name="!!num1b"/>
          <p:cNvSpPr/>
          <p:nvPr/>
        </p:nvSpPr>
        <p:spPr>
          <a:xfrm>
            <a:off x="640080" y="384048"/>
            <a:ext cx="420624" cy="420624"/>
          </a:xfrm>
          <a:prstGeom prst="roundRect">
            <a:avLst>
              <a:gd name="adj" fmla="val 76087"/>
            </a:avLst>
          </a:prstGeom>
          <a:solidFill>
            <a:srgbClr val="0E6B4F"/>
          </a:solidFill>
          <a:ln w="12700">
            <a:solidFill>
              <a:srgbClr val="25B98C"/>
            </a:solidFill>
            <a:prstDash val="solid"/>
          </a:ln>
        </p:spPr>
      </p:sp>
      <p:sp>
        <p:nvSpPr>
          <p:cNvPr id="4" name="!!num1"/>
          <p:cNvSpPr txBox="1"/>
          <p:nvPr/>
        </p:nvSpPr>
        <p:spPr>
          <a:xfrm>
            <a:off x="640080" y="384048"/>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I</a:t>
            </a:r>
            <a:endParaRPr lang="en-US" sz="1200" dirty="0"/>
          </a:p>
        </p:txBody>
      </p:sp>
      <p:sp>
        <p:nvSpPr>
          <p:cNvPr id="5" name="!!sec1"/>
          <p:cNvSpPr txBox="1"/>
          <p:nvPr/>
        </p:nvSpPr>
        <p:spPr>
          <a:xfrm>
            <a:off x="1207008" y="411480"/>
            <a:ext cx="7315200" cy="365760"/>
          </a:xfrm>
          <a:prstGeom prst="rect">
            <a:avLst/>
          </a:prstGeom>
          <a:noFill/>
          <a:ln/>
        </p:spPr>
        <p:txBody>
          <a:bodyPr wrap="square" lIns="0" tIns="0" rIns="0" bIns="0" rtlCol="0" anchor="ctr"/>
          <a:lstStyle/>
          <a:p>
            <a:pPr indent="0" marL="0">
              <a:buNone/>
            </a:pPr>
            <a:r>
              <a:rPr lang="en-US" sz="1150" b="1" spc="240" kern="0" dirty="0">
                <a:solidFill>
                  <a:srgbClr val="D4A62A"/>
                </a:solidFill>
                <a:latin typeface="Calibri" pitchFamily="34" charset="0"/>
                <a:ea typeface="Calibri" pitchFamily="34" charset="-122"/>
                <a:cs typeface="Calibri" pitchFamily="34" charset="-120"/>
              </a:rPr>
              <a:t>LE POINT DE DÉPART</a:t>
            </a:r>
            <a:endParaRPr lang="en-US" sz="1150" dirty="0"/>
          </a:p>
        </p:txBody>
      </p:sp>
      <p:sp>
        <p:nvSpPr>
          <p:cNvPr id="6" name="h4_t"/>
          <p:cNvSpPr txBox="1"/>
          <p:nvPr/>
        </p:nvSpPr>
        <p:spPr>
          <a:xfrm>
            <a:off x="640080" y="1024128"/>
            <a:ext cx="10911535" cy="96012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Une vitrine que l’on regarde,</a:t>
            </a:r>
            <a:endParaRPr lang="en-US" sz="3300" dirty="0"/>
          </a:p>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pas un lieu que l’on parcourt</a:t>
            </a:r>
            <a:endParaRPr lang="en-US" sz="3300" dirty="0"/>
          </a:p>
        </p:txBody>
      </p:sp>
      <p:sp>
        <p:nvSpPr>
          <p:cNvPr id="7" name="h4_k"/>
          <p:cNvSpPr txBox="1"/>
          <p:nvPr/>
        </p:nvSpPr>
        <p:spPr>
          <a:xfrm>
            <a:off x="640080" y="2011680"/>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Étude de l’existant, première semaine du stage : quatre manques, quatre valeurs de départ.</a:t>
            </a:r>
            <a:endParaRPr lang="en-US" sz="1450" dirty="0"/>
          </a:p>
        </p:txBody>
      </p:sp>
      <p:sp>
        <p:nvSpPr>
          <p:cNvPr id="8" name="e_c0"/>
          <p:cNvSpPr/>
          <p:nvPr/>
        </p:nvSpPr>
        <p:spPr>
          <a:xfrm>
            <a:off x="640080" y="2606040"/>
            <a:ext cx="2522144" cy="2514600"/>
          </a:xfrm>
          <a:prstGeom prst="roundRect">
            <a:avLst>
              <a:gd name="adj" fmla="val 2182"/>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9" name="Text 7"/>
          <p:cNvSpPr txBox="1"/>
          <p:nvPr/>
        </p:nvSpPr>
        <p:spPr>
          <a:xfrm>
            <a:off x="896112" y="2816352"/>
            <a:ext cx="2010080" cy="777240"/>
          </a:xfrm>
          <a:prstGeom prst="rect">
            <a:avLst/>
          </a:prstGeom>
          <a:noFill/>
          <a:ln/>
        </p:spPr>
        <p:txBody>
          <a:bodyPr wrap="square" lIns="0" tIns="0" rIns="0" bIns="0" rtlCol="0" anchor="ctr"/>
          <a:lstStyle/>
          <a:p>
            <a:pPr indent="0" marL="0">
              <a:buNone/>
            </a:pPr>
            <a:r>
              <a:rPr lang="en-US" sz="3200" b="1" dirty="0">
                <a:solidFill>
                  <a:srgbClr val="F0D68A"/>
                </a:solidFill>
                <a:latin typeface="Cambria" pitchFamily="34" charset="0"/>
                <a:ea typeface="Cambria" pitchFamily="34" charset="-122"/>
                <a:cs typeface="Cambria" pitchFamily="34" charset="-120"/>
              </a:rPr>
              <a:t>10 à 20 j</a:t>
            </a:r>
            <a:endParaRPr lang="en-US" sz="3200" dirty="0"/>
          </a:p>
        </p:txBody>
      </p:sp>
      <p:sp>
        <p:nvSpPr>
          <p:cNvPr id="10" name="Text 8"/>
          <p:cNvSpPr txBox="1"/>
          <p:nvPr/>
        </p:nvSpPr>
        <p:spPr>
          <a:xfrm>
            <a:off x="896112" y="3657600"/>
            <a:ext cx="2010080" cy="1325880"/>
          </a:xfrm>
          <a:prstGeom prst="rect">
            <a:avLst/>
          </a:prstGeom>
          <a:noFill/>
          <a:ln/>
        </p:spPr>
        <p:txBody>
          <a:bodyPr wrap="square" lIns="0" tIns="0" rIns="0" bIns="0" rtlCol="0" anchor="ctr"/>
          <a:lstStyle/>
          <a:p>
            <a:pPr indent="0" marL="0">
              <a:lnSpc>
                <a:spcPts val="1700"/>
              </a:lnSpc>
              <a:buNone/>
            </a:pPr>
            <a:r>
              <a:rPr lang="en-US" sz="1200" dirty="0">
                <a:solidFill>
                  <a:srgbClr val="F4F1E9"/>
                </a:solidFill>
                <a:latin typeface="Calibri" pitchFamily="34" charset="0"/>
                <a:ea typeface="Calibri" pitchFamily="34" charset="-122"/>
                <a:cs typeface="Calibri" pitchFamily="34" charset="-120"/>
              </a:rPr>
              <a:t>pour répondre à une question de visiteur, par courriel — et une part des demandes restait sans réponse</a:t>
            </a:r>
            <a:endParaRPr lang="en-US" sz="1200" dirty="0"/>
          </a:p>
        </p:txBody>
      </p:sp>
      <p:sp>
        <p:nvSpPr>
          <p:cNvPr id="11" name="e_c1"/>
          <p:cNvSpPr/>
          <p:nvPr/>
        </p:nvSpPr>
        <p:spPr>
          <a:xfrm>
            <a:off x="3436544" y="2606040"/>
            <a:ext cx="2522144" cy="2514600"/>
          </a:xfrm>
          <a:prstGeom prst="roundRect">
            <a:avLst>
              <a:gd name="adj" fmla="val 2182"/>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Text 10"/>
          <p:cNvSpPr txBox="1"/>
          <p:nvPr/>
        </p:nvSpPr>
        <p:spPr>
          <a:xfrm>
            <a:off x="3692576" y="2816352"/>
            <a:ext cx="2010080" cy="777240"/>
          </a:xfrm>
          <a:prstGeom prst="rect">
            <a:avLst/>
          </a:prstGeom>
          <a:noFill/>
          <a:ln/>
        </p:spPr>
        <p:txBody>
          <a:bodyPr wrap="square" lIns="0" tIns="0" rIns="0" bIns="0" rtlCol="0" anchor="ctr"/>
          <a:lstStyle/>
          <a:p>
            <a:pPr indent="0" marL="0">
              <a:buNone/>
            </a:pPr>
            <a:r>
              <a:rPr lang="en-US" sz="4600" b="1" dirty="0">
                <a:solidFill>
                  <a:srgbClr val="F0D68A"/>
                </a:solidFill>
                <a:latin typeface="Cambria" pitchFamily="34" charset="0"/>
                <a:ea typeface="Cambria" pitchFamily="34" charset="-122"/>
                <a:cs typeface="Cambria" pitchFamily="34" charset="-120"/>
              </a:rPr>
              <a:t>0</a:t>
            </a:r>
            <a:endParaRPr lang="en-US" sz="4600" dirty="0"/>
          </a:p>
        </p:txBody>
      </p:sp>
      <p:sp>
        <p:nvSpPr>
          <p:cNvPr id="13" name="Text 11"/>
          <p:cNvSpPr txBox="1"/>
          <p:nvPr/>
        </p:nvSpPr>
        <p:spPr>
          <a:xfrm>
            <a:off x="3692576" y="3657600"/>
            <a:ext cx="2010080" cy="1325880"/>
          </a:xfrm>
          <a:prstGeom prst="rect">
            <a:avLst/>
          </a:prstGeom>
          <a:noFill/>
          <a:ln/>
        </p:spPr>
        <p:txBody>
          <a:bodyPr wrap="square" lIns="0" tIns="0" rIns="0" bIns="0" rtlCol="0" anchor="ctr"/>
          <a:lstStyle/>
          <a:p>
            <a:pPr indent="0" marL="0">
              <a:lnSpc>
                <a:spcPts val="1700"/>
              </a:lnSpc>
              <a:buNone/>
            </a:pPr>
            <a:r>
              <a:rPr lang="en-US" sz="1200" dirty="0">
                <a:solidFill>
                  <a:srgbClr val="F4F1E9"/>
                </a:solidFill>
                <a:latin typeface="Calibri" pitchFamily="34" charset="0"/>
                <a:ea typeface="Calibri" pitchFamily="34" charset="-122"/>
                <a:cs typeface="Calibri" pitchFamily="34" charset="-120"/>
              </a:rPr>
              <a:t>parcours reliant les espaces entre eux, aucune restitution à l’échelle : on regarde une image, on ne visite pas</a:t>
            </a:r>
            <a:endParaRPr lang="en-US" sz="1200" dirty="0"/>
          </a:p>
        </p:txBody>
      </p:sp>
      <p:sp>
        <p:nvSpPr>
          <p:cNvPr id="14" name="e_c2"/>
          <p:cNvSpPr/>
          <p:nvPr/>
        </p:nvSpPr>
        <p:spPr>
          <a:xfrm>
            <a:off x="6233008" y="2606040"/>
            <a:ext cx="2522144" cy="2514600"/>
          </a:xfrm>
          <a:prstGeom prst="roundRect">
            <a:avLst>
              <a:gd name="adj" fmla="val 2182"/>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5" name="Text 13"/>
          <p:cNvSpPr txBox="1"/>
          <p:nvPr/>
        </p:nvSpPr>
        <p:spPr>
          <a:xfrm>
            <a:off x="6489040" y="2816352"/>
            <a:ext cx="2010080" cy="777240"/>
          </a:xfrm>
          <a:prstGeom prst="rect">
            <a:avLst/>
          </a:prstGeom>
          <a:noFill/>
          <a:ln/>
        </p:spPr>
        <p:txBody>
          <a:bodyPr wrap="square" lIns="0" tIns="0" rIns="0" bIns="0" rtlCol="0" anchor="ctr"/>
          <a:lstStyle/>
          <a:p>
            <a:pPr indent="0" marL="0">
              <a:buNone/>
            </a:pPr>
            <a:r>
              <a:rPr lang="en-US" sz="4600" b="1" dirty="0">
                <a:solidFill>
                  <a:srgbClr val="F0D68A"/>
                </a:solidFill>
                <a:latin typeface="Cambria" pitchFamily="34" charset="0"/>
                <a:ea typeface="Cambria" pitchFamily="34" charset="-122"/>
                <a:cs typeface="Cambria" pitchFamily="34" charset="-120"/>
              </a:rPr>
              <a:t>0</a:t>
            </a:r>
            <a:endParaRPr lang="en-US" sz="4600" dirty="0"/>
          </a:p>
        </p:txBody>
      </p:sp>
      <p:sp>
        <p:nvSpPr>
          <p:cNvPr id="16" name="Text 14"/>
          <p:cNvSpPr txBox="1"/>
          <p:nvPr/>
        </p:nvSpPr>
        <p:spPr>
          <a:xfrm>
            <a:off x="6489040" y="3657600"/>
            <a:ext cx="2010080" cy="1325880"/>
          </a:xfrm>
          <a:prstGeom prst="rect">
            <a:avLst/>
          </a:prstGeom>
          <a:noFill/>
          <a:ln/>
        </p:spPr>
        <p:txBody>
          <a:bodyPr wrap="square" lIns="0" tIns="0" rIns="0" bIns="0" rtlCol="0" anchor="ctr"/>
          <a:lstStyle/>
          <a:p>
            <a:pPr indent="0" marL="0">
              <a:lnSpc>
                <a:spcPts val="1700"/>
              </a:lnSpc>
              <a:buNone/>
            </a:pPr>
            <a:r>
              <a:rPr lang="en-US" sz="1200" dirty="0">
                <a:solidFill>
                  <a:srgbClr val="F4F1E9"/>
                </a:solidFill>
                <a:latin typeface="Calibri" pitchFamily="34" charset="0"/>
                <a:ea typeface="Calibri" pitchFamily="34" charset="-122"/>
                <a:cs typeface="Calibri" pitchFamily="34" charset="-120"/>
              </a:rPr>
              <a:t>collection extérieure interrogée, 0 œuvre rattachée à une famille : des objets isolés, une histoire incomplète</a:t>
            </a:r>
            <a:endParaRPr lang="en-US" sz="1200" dirty="0"/>
          </a:p>
        </p:txBody>
      </p:sp>
      <p:sp>
        <p:nvSpPr>
          <p:cNvPr id="17" name="e_c3"/>
          <p:cNvSpPr/>
          <p:nvPr/>
        </p:nvSpPr>
        <p:spPr>
          <a:xfrm>
            <a:off x="9029471" y="2606040"/>
            <a:ext cx="2522144" cy="2514600"/>
          </a:xfrm>
          <a:prstGeom prst="roundRect">
            <a:avLst>
              <a:gd name="adj" fmla="val 2182"/>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8" name="Text 16"/>
          <p:cNvSpPr txBox="1"/>
          <p:nvPr/>
        </p:nvSpPr>
        <p:spPr>
          <a:xfrm>
            <a:off x="9285503" y="2816352"/>
            <a:ext cx="2010080" cy="777240"/>
          </a:xfrm>
          <a:prstGeom prst="rect">
            <a:avLst/>
          </a:prstGeom>
          <a:noFill/>
          <a:ln/>
        </p:spPr>
        <p:txBody>
          <a:bodyPr wrap="square" lIns="0" tIns="0" rIns="0" bIns="0" rtlCol="0" anchor="ctr"/>
          <a:lstStyle/>
          <a:p>
            <a:pPr indent="0" marL="0">
              <a:buNone/>
            </a:pPr>
            <a:r>
              <a:rPr lang="en-US" sz="4600" b="1" dirty="0">
                <a:solidFill>
                  <a:srgbClr val="F0D68A"/>
                </a:solidFill>
                <a:latin typeface="Cambria" pitchFamily="34" charset="0"/>
                <a:ea typeface="Cambria" pitchFamily="34" charset="-122"/>
                <a:cs typeface="Cambria" pitchFamily="34" charset="-120"/>
              </a:rPr>
              <a:t>1</a:t>
            </a:r>
            <a:endParaRPr lang="en-US" sz="4600" dirty="0"/>
          </a:p>
        </p:txBody>
      </p:sp>
      <p:sp>
        <p:nvSpPr>
          <p:cNvPr id="19" name="Text 17"/>
          <p:cNvSpPr txBox="1"/>
          <p:nvPr/>
        </p:nvSpPr>
        <p:spPr>
          <a:xfrm>
            <a:off x="9285503" y="3657600"/>
            <a:ext cx="2010080" cy="1325880"/>
          </a:xfrm>
          <a:prstGeom prst="rect">
            <a:avLst/>
          </a:prstGeom>
          <a:noFill/>
          <a:ln/>
        </p:spPr>
        <p:txBody>
          <a:bodyPr wrap="square" lIns="0" tIns="0" rIns="0" bIns="0" rtlCol="0" anchor="ctr"/>
          <a:lstStyle/>
          <a:p>
            <a:pPr indent="0" marL="0">
              <a:lnSpc>
                <a:spcPts val="1700"/>
              </a:lnSpc>
              <a:buNone/>
            </a:pPr>
            <a:r>
              <a:rPr lang="en-US" sz="1200" dirty="0">
                <a:solidFill>
                  <a:srgbClr val="F4F1E9"/>
                </a:solidFill>
                <a:latin typeface="Calibri" pitchFamily="34" charset="0"/>
                <a:ea typeface="Calibri" pitchFamily="34" charset="-122"/>
                <a:cs typeface="Calibri" pitchFamily="34" charset="-120"/>
              </a:rPr>
              <a:t>seule institution servie, et une réécriture complète du code exigée pour en accueillir une deuxième</a:t>
            </a:r>
            <a:endParaRPr lang="en-US" sz="1200" dirty="0"/>
          </a:p>
        </p:txBody>
      </p:sp>
      <p:sp>
        <p:nvSpPr>
          <p:cNvPr id="20" name="e_q"/>
          <p:cNvSpPr txBox="1"/>
          <p:nvPr/>
        </p:nvSpPr>
        <p:spPr>
          <a:xfrm>
            <a:off x="640080" y="5440680"/>
            <a:ext cx="10911535" cy="457200"/>
          </a:xfrm>
          <a:prstGeom prst="rect">
            <a:avLst/>
          </a:prstGeom>
          <a:noFill/>
          <a:ln/>
        </p:spPr>
        <p:txBody>
          <a:bodyPr wrap="square" lIns="0" tIns="0" rIns="0" bIns="0" rtlCol="0" anchor="ctr"/>
          <a:lstStyle/>
          <a:p>
            <a:pPr indent="0" marL="0">
              <a:buNone/>
            </a:pPr>
            <a:r>
              <a:rPr lang="en-US" sz="1500" i="1" dirty="0">
                <a:solidFill>
                  <a:srgbClr val="D4A62A"/>
                </a:solidFill>
                <a:latin typeface="Cambria" pitchFamily="34" charset="0"/>
                <a:ea typeface="Cambria" pitchFamily="34" charset="-122"/>
                <a:cs typeface="Cambria" pitchFamily="34" charset="-120"/>
              </a:rPr>
              <a:t>« Une limite qui n’est pas chiffrée ne permet pas, en fin de travail, de mesurer ce que la solution a changé. »</a:t>
            </a:r>
            <a:endParaRPr lang="en-US" sz="1500" dirty="0"/>
          </a:p>
        </p:txBody>
      </p:sp>
      <p:sp>
        <p:nvSpPr>
          <p:cNvPr id="21" name="Text 19"/>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2" name="Text 20"/>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4</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additive="base">
                                        <p:cTn id="8" dur="500" fill="hold"/>
                                        <p:tgtEl>
                                          <p:spTgt spid="6"/>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42" presetClass="entr" presetSubtype="8" fill="hold" grpId="0" nodeType="withEffect">
                                  <p:stCondLst>
                                    <p:cond delay="4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anim calcmode="lin" valueType="num">
                                      <p:cBhvr additive="base">
                                        <p:cTn id="15" dur="500" fill="hold"/>
                                        <p:tgtEl>
                                          <p:spTgt spid="8"/>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56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additive="base">
                                        <p:cTn id="19" dur="500" fill="hold"/>
                                        <p:tgtEl>
                                          <p:spTgt spid="11"/>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72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anim calcmode="lin" valueType="num">
                                      <p:cBhvr additive="base">
                                        <p:cTn id="23" dur="500" fill="hold"/>
                                        <p:tgtEl>
                                          <p:spTgt spid="14"/>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88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anim calcmode="lin" valueType="num">
                                      <p:cBhvr additive="base">
                                        <p:cTn id="27" dur="500" fill="hold"/>
                                        <p:tgtEl>
                                          <p:spTgt spid="17"/>
                                        </p:tgtEl>
                                        <p:attrNameLst>
                                          <p:attrName>ppt_y</p:attrName>
                                        </p:attrNameLst>
                                      </p:cBhvr>
                                      <p:tavLst>
                                        <p:tav tm="0">
                                          <p:val>
                                            <p:strVal val="#ppt_y+.035"/>
                                          </p:val>
                                        </p:tav>
                                        <p:tav tm="100000">
                                          <p:val>
                                            <p:strVal val="#ppt_y"/>
                                          </p:val>
                                        </p:tav>
                                      </p:tavLst>
                                    </p:anim>
                                  </p:childTnLst>
                                </p:cTn>
                              </p:par>
                              <p:par>
                                <p:cTn id="28" presetID="10" presetClass="entr" presetSubtype="0" fill="hold" grpId="0" nodeType="withEffect">
                                  <p:stCondLst>
                                    <p:cond delay="110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5">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1645920" y="-1371600"/>
            <a:ext cx="5486400" cy="5486400"/>
          </a:xfrm>
          <a:prstGeom prst="ellipse">
            <a:avLst/>
          </a:prstGeom>
          <a:solidFill>
            <a:srgbClr val="0E6B4F">
              <a:alpha val="8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LE SITE DE L’ÉTUDE</a:t>
            </a:r>
            <a:endParaRPr lang="en-US" sz="1100" dirty="0"/>
          </a:p>
        </p:txBody>
      </p:sp>
      <p:sp>
        <p:nvSpPr>
          <p:cNvPr id="4" name="s_t"/>
          <p:cNvSpPr txBox="1"/>
          <p:nvPr/>
        </p:nvSpPr>
        <p:spPr>
          <a:xfrm>
            <a:off x="640080" y="822960"/>
            <a:ext cx="10911535" cy="1005840"/>
          </a:xfrm>
          <a:prstGeom prst="rect">
            <a:avLst/>
          </a:prstGeom>
          <a:noFill/>
          <a:ln/>
        </p:spPr>
        <p:txBody>
          <a:bodyPr wrap="square" lIns="0" tIns="0" rIns="0" bIns="0" rtlCol="0" anchor="ctr"/>
          <a:lstStyle/>
          <a:p>
            <a:pPr indent="0" marL="0">
              <a:lnSpc>
                <a:spcPts val="3600"/>
              </a:lnSpc>
              <a:buNone/>
            </a:pPr>
            <a:r>
              <a:rPr lang="en-US" sz="3000" b="1" dirty="0">
                <a:solidFill>
                  <a:srgbClr val="F4F1E9"/>
                </a:solidFill>
                <a:latin typeface="Cambria" pitchFamily="34" charset="0"/>
                <a:ea typeface="Cambria" pitchFamily="34" charset="-122"/>
                <a:cs typeface="Cambria" pitchFamily="34" charset="-120"/>
              </a:rPr>
              <a:t>La Fondation Jean Félicien Gacha, et le Département qui a cadré le sujet</a:t>
            </a:r>
            <a:endParaRPr lang="en-US" sz="3000" dirty="0"/>
          </a:p>
        </p:txBody>
      </p:sp>
      <p:sp>
        <p:nvSpPr>
          <p:cNvPr id="5" name="s_c1"/>
          <p:cNvSpPr/>
          <p:nvPr/>
        </p:nvSpPr>
        <p:spPr>
          <a:xfrm>
            <a:off x="640080" y="2084832"/>
            <a:ext cx="5257800" cy="3840480"/>
          </a:xfrm>
          <a:prstGeom prst="roundRect">
            <a:avLst>
              <a:gd name="adj" fmla="val 1429"/>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6" name="Text 4"/>
          <p:cNvSpPr txBox="1"/>
          <p:nvPr/>
        </p:nvSpPr>
        <p:spPr>
          <a:xfrm>
            <a:off x="914400" y="2286000"/>
            <a:ext cx="4709160" cy="274320"/>
          </a:xfrm>
          <a:prstGeom prst="rect">
            <a:avLst/>
          </a:prstGeom>
          <a:noFill/>
          <a:ln/>
        </p:spPr>
        <p:txBody>
          <a:bodyPr wrap="square" lIns="0" tIns="0" rIns="0" bIns="0" rtlCol="0" anchor="ctr"/>
          <a:lstStyle/>
          <a:p>
            <a:pPr indent="0" marL="0">
              <a:buNone/>
            </a:pPr>
            <a:r>
              <a:rPr lang="en-US" sz="1000" b="1" spc="200" kern="0" dirty="0">
                <a:solidFill>
                  <a:srgbClr val="D4A62A"/>
                </a:solidFill>
                <a:latin typeface="Calibri" pitchFamily="34" charset="0"/>
                <a:ea typeface="Calibri" pitchFamily="34" charset="-122"/>
                <a:cs typeface="Calibri" pitchFamily="34" charset="-120"/>
              </a:rPr>
              <a:t>FICHE D’IDENTIFICATION</a:t>
            </a:r>
            <a:endParaRPr lang="en-US" sz="1000" dirty="0"/>
          </a:p>
        </p:txBody>
      </p:sp>
      <p:sp>
        <p:nvSpPr>
          <p:cNvPr id="7" name="Text 5"/>
          <p:cNvSpPr txBox="1"/>
          <p:nvPr/>
        </p:nvSpPr>
        <p:spPr>
          <a:xfrm>
            <a:off x="914400" y="2651760"/>
            <a:ext cx="1783080" cy="502920"/>
          </a:xfrm>
          <a:prstGeom prst="rect">
            <a:avLst/>
          </a:prstGeom>
          <a:noFill/>
          <a:ln/>
        </p:spPr>
        <p:txBody>
          <a:bodyPr wrap="square" lIns="0" tIns="0" rIns="0" bIns="0" rtlCol="0" anchor="ctr"/>
          <a:lstStyle/>
          <a:p>
            <a:pPr indent="0" marL="0">
              <a:lnSpc>
                <a:spcPts val="1300"/>
              </a:lnSpc>
              <a:buNone/>
            </a:pPr>
            <a:r>
              <a:rPr lang="en-US" sz="1050" b="1" dirty="0">
                <a:solidFill>
                  <a:srgbClr val="25B98C"/>
                </a:solidFill>
                <a:latin typeface="Calibri" pitchFamily="34" charset="0"/>
                <a:ea typeface="Calibri" pitchFamily="34" charset="-122"/>
                <a:cs typeface="Calibri" pitchFamily="34" charset="-120"/>
              </a:rPr>
              <a:t>Nature juridique</a:t>
            </a:r>
            <a:endParaRPr lang="en-US" sz="1050" dirty="0"/>
          </a:p>
        </p:txBody>
      </p:sp>
      <p:sp>
        <p:nvSpPr>
          <p:cNvPr id="8" name="Text 6"/>
          <p:cNvSpPr txBox="1"/>
          <p:nvPr/>
        </p:nvSpPr>
        <p:spPr>
          <a:xfrm>
            <a:off x="2761488" y="2651760"/>
            <a:ext cx="2880360" cy="502920"/>
          </a:xfrm>
          <a:prstGeom prst="rect">
            <a:avLst/>
          </a:prstGeom>
          <a:noFill/>
          <a:ln/>
        </p:spPr>
        <p:txBody>
          <a:bodyPr wrap="square" lIns="0" tIns="0" rIns="0" bIns="0" rtlCol="0" anchor="ctr"/>
          <a:lstStyle/>
          <a:p>
            <a:pPr indent="0" marL="0">
              <a:lnSpc>
                <a:spcPts val="1300"/>
              </a:lnSpc>
              <a:buNone/>
            </a:pPr>
            <a:r>
              <a:rPr lang="en-US" sz="1100" dirty="0">
                <a:solidFill>
                  <a:srgbClr val="F4F1E9"/>
                </a:solidFill>
                <a:latin typeface="Calibri" pitchFamily="34" charset="0"/>
                <a:ea typeface="Calibri" pitchFamily="34" charset="-122"/>
                <a:cs typeface="Calibri" pitchFamily="34" charset="-120"/>
              </a:rPr>
              <a:t>Fondation, organisation à but non lucratif</a:t>
            </a:r>
            <a:endParaRPr lang="en-US" sz="1100" dirty="0"/>
          </a:p>
        </p:txBody>
      </p:sp>
      <p:sp>
        <p:nvSpPr>
          <p:cNvPr id="9" name="Text 7"/>
          <p:cNvSpPr txBox="1"/>
          <p:nvPr/>
        </p:nvSpPr>
        <p:spPr>
          <a:xfrm>
            <a:off x="914400" y="3200400"/>
            <a:ext cx="1783080" cy="502920"/>
          </a:xfrm>
          <a:prstGeom prst="rect">
            <a:avLst/>
          </a:prstGeom>
          <a:noFill/>
          <a:ln/>
        </p:spPr>
        <p:txBody>
          <a:bodyPr wrap="square" lIns="0" tIns="0" rIns="0" bIns="0" rtlCol="0" anchor="ctr"/>
          <a:lstStyle/>
          <a:p>
            <a:pPr indent="0" marL="0">
              <a:lnSpc>
                <a:spcPts val="1300"/>
              </a:lnSpc>
              <a:buNone/>
            </a:pPr>
            <a:r>
              <a:rPr lang="en-US" sz="1050" b="1" dirty="0">
                <a:solidFill>
                  <a:srgbClr val="25B98C"/>
                </a:solidFill>
                <a:latin typeface="Calibri" pitchFamily="34" charset="0"/>
                <a:ea typeface="Calibri" pitchFamily="34" charset="-122"/>
                <a:cs typeface="Calibri" pitchFamily="34" charset="-120"/>
              </a:rPr>
              <a:t>Secteur</a:t>
            </a:r>
            <a:endParaRPr lang="en-US" sz="1050" dirty="0"/>
          </a:p>
        </p:txBody>
      </p:sp>
      <p:sp>
        <p:nvSpPr>
          <p:cNvPr id="10" name="Text 8"/>
          <p:cNvSpPr txBox="1"/>
          <p:nvPr/>
        </p:nvSpPr>
        <p:spPr>
          <a:xfrm>
            <a:off x="2761488" y="3200400"/>
            <a:ext cx="2880360" cy="502920"/>
          </a:xfrm>
          <a:prstGeom prst="rect">
            <a:avLst/>
          </a:prstGeom>
          <a:noFill/>
          <a:ln/>
        </p:spPr>
        <p:txBody>
          <a:bodyPr wrap="square" lIns="0" tIns="0" rIns="0" bIns="0" rtlCol="0" anchor="ctr"/>
          <a:lstStyle/>
          <a:p>
            <a:pPr indent="0" marL="0">
              <a:lnSpc>
                <a:spcPts val="1300"/>
              </a:lnSpc>
              <a:buNone/>
            </a:pPr>
            <a:r>
              <a:rPr lang="en-US" sz="1100" dirty="0">
                <a:solidFill>
                  <a:srgbClr val="F4F1E9"/>
                </a:solidFill>
                <a:latin typeface="Calibri" pitchFamily="34" charset="0"/>
                <a:ea typeface="Calibri" pitchFamily="34" charset="-122"/>
                <a:cs typeface="Calibri" pitchFamily="34" charset="-120"/>
              </a:rPr>
              <a:t>Culture, art, artisanat, éducation, développement communautaire</a:t>
            </a:r>
            <a:endParaRPr lang="en-US" sz="1100" dirty="0"/>
          </a:p>
        </p:txBody>
      </p:sp>
      <p:sp>
        <p:nvSpPr>
          <p:cNvPr id="11" name="Text 9"/>
          <p:cNvSpPr txBox="1"/>
          <p:nvPr/>
        </p:nvSpPr>
        <p:spPr>
          <a:xfrm>
            <a:off x="914400" y="3749040"/>
            <a:ext cx="1783080" cy="502920"/>
          </a:xfrm>
          <a:prstGeom prst="rect">
            <a:avLst/>
          </a:prstGeom>
          <a:noFill/>
          <a:ln/>
        </p:spPr>
        <p:txBody>
          <a:bodyPr wrap="square" lIns="0" tIns="0" rIns="0" bIns="0" rtlCol="0" anchor="ctr"/>
          <a:lstStyle/>
          <a:p>
            <a:pPr indent="0" marL="0">
              <a:lnSpc>
                <a:spcPts val="1300"/>
              </a:lnSpc>
              <a:buNone/>
            </a:pPr>
            <a:r>
              <a:rPr lang="en-US" sz="1050" b="1" dirty="0">
                <a:solidFill>
                  <a:srgbClr val="25B98C"/>
                </a:solidFill>
                <a:latin typeface="Calibri" pitchFamily="34" charset="0"/>
                <a:ea typeface="Calibri" pitchFamily="34" charset="-122"/>
                <a:cs typeface="Calibri" pitchFamily="34" charset="-120"/>
              </a:rPr>
              <a:t>Siège</a:t>
            </a:r>
            <a:endParaRPr lang="en-US" sz="1050" dirty="0"/>
          </a:p>
        </p:txBody>
      </p:sp>
      <p:sp>
        <p:nvSpPr>
          <p:cNvPr id="12" name="Text 10"/>
          <p:cNvSpPr txBox="1"/>
          <p:nvPr/>
        </p:nvSpPr>
        <p:spPr>
          <a:xfrm>
            <a:off x="2761488" y="3749040"/>
            <a:ext cx="2880360" cy="502920"/>
          </a:xfrm>
          <a:prstGeom prst="rect">
            <a:avLst/>
          </a:prstGeom>
          <a:noFill/>
          <a:ln/>
        </p:spPr>
        <p:txBody>
          <a:bodyPr wrap="square" lIns="0" tIns="0" rIns="0" bIns="0" rtlCol="0" anchor="ctr"/>
          <a:lstStyle/>
          <a:p>
            <a:pPr indent="0" marL="0">
              <a:lnSpc>
                <a:spcPts val="1300"/>
              </a:lnSpc>
              <a:buNone/>
            </a:pPr>
            <a:r>
              <a:rPr lang="en-US" sz="1100" dirty="0">
                <a:solidFill>
                  <a:srgbClr val="F4F1E9"/>
                </a:solidFill>
                <a:latin typeface="Calibri" pitchFamily="34" charset="0"/>
                <a:ea typeface="Calibri" pitchFamily="34" charset="-122"/>
                <a:cs typeface="Calibri" pitchFamily="34" charset="-120"/>
              </a:rPr>
              <a:t>Bangoulap, Bangangté, département du Ndé, Ouest — Cameroun</a:t>
            </a:r>
            <a:endParaRPr lang="en-US" sz="1100" dirty="0"/>
          </a:p>
        </p:txBody>
      </p:sp>
      <p:sp>
        <p:nvSpPr>
          <p:cNvPr id="13" name="Text 11"/>
          <p:cNvSpPr txBox="1"/>
          <p:nvPr/>
        </p:nvSpPr>
        <p:spPr>
          <a:xfrm>
            <a:off x="914400" y="4297680"/>
            <a:ext cx="1783080" cy="502920"/>
          </a:xfrm>
          <a:prstGeom prst="rect">
            <a:avLst/>
          </a:prstGeom>
          <a:noFill/>
          <a:ln/>
        </p:spPr>
        <p:txBody>
          <a:bodyPr wrap="square" lIns="0" tIns="0" rIns="0" bIns="0" rtlCol="0" anchor="ctr"/>
          <a:lstStyle/>
          <a:p>
            <a:pPr indent="0" marL="0">
              <a:lnSpc>
                <a:spcPts val="1300"/>
              </a:lnSpc>
              <a:buNone/>
            </a:pPr>
            <a:r>
              <a:rPr lang="en-US" sz="1050" b="1" dirty="0">
                <a:solidFill>
                  <a:srgbClr val="25B98C"/>
                </a:solidFill>
                <a:latin typeface="Calibri" pitchFamily="34" charset="0"/>
                <a:ea typeface="Calibri" pitchFamily="34" charset="-122"/>
                <a:cs typeface="Calibri" pitchFamily="34" charset="-120"/>
              </a:rPr>
              <a:t>Entité d’accueil</a:t>
            </a:r>
            <a:endParaRPr lang="en-US" sz="1050" dirty="0"/>
          </a:p>
        </p:txBody>
      </p:sp>
      <p:sp>
        <p:nvSpPr>
          <p:cNvPr id="14" name="Text 12"/>
          <p:cNvSpPr txBox="1"/>
          <p:nvPr/>
        </p:nvSpPr>
        <p:spPr>
          <a:xfrm>
            <a:off x="2761488" y="4297680"/>
            <a:ext cx="2880360" cy="502920"/>
          </a:xfrm>
          <a:prstGeom prst="rect">
            <a:avLst/>
          </a:prstGeom>
          <a:noFill/>
          <a:ln/>
        </p:spPr>
        <p:txBody>
          <a:bodyPr wrap="square" lIns="0" tIns="0" rIns="0" bIns="0" rtlCol="0" anchor="ctr"/>
          <a:lstStyle/>
          <a:p>
            <a:pPr indent="0" marL="0">
              <a:lnSpc>
                <a:spcPts val="1300"/>
              </a:lnSpc>
              <a:buNone/>
            </a:pPr>
            <a:r>
              <a:rPr lang="en-US" sz="1100" dirty="0">
                <a:solidFill>
                  <a:srgbClr val="F4F1E9"/>
                </a:solidFill>
                <a:latin typeface="Calibri" pitchFamily="34" charset="0"/>
                <a:ea typeface="Calibri" pitchFamily="34" charset="-122"/>
                <a:cs typeface="Calibri" pitchFamily="34" charset="-120"/>
              </a:rPr>
              <a:t>Département Think Tank Fou’ndjem</a:t>
            </a:r>
            <a:endParaRPr lang="en-US" sz="1100" dirty="0"/>
          </a:p>
        </p:txBody>
      </p:sp>
      <p:sp>
        <p:nvSpPr>
          <p:cNvPr id="15" name="Text 13"/>
          <p:cNvSpPr txBox="1"/>
          <p:nvPr/>
        </p:nvSpPr>
        <p:spPr>
          <a:xfrm>
            <a:off x="914400" y="4846320"/>
            <a:ext cx="1783080" cy="502920"/>
          </a:xfrm>
          <a:prstGeom prst="rect">
            <a:avLst/>
          </a:prstGeom>
          <a:noFill/>
          <a:ln/>
        </p:spPr>
        <p:txBody>
          <a:bodyPr wrap="square" lIns="0" tIns="0" rIns="0" bIns="0" rtlCol="0" anchor="ctr"/>
          <a:lstStyle/>
          <a:p>
            <a:pPr indent="0" marL="0">
              <a:lnSpc>
                <a:spcPts val="1300"/>
              </a:lnSpc>
              <a:buNone/>
            </a:pPr>
            <a:r>
              <a:rPr lang="en-US" sz="1050" b="1" dirty="0">
                <a:solidFill>
                  <a:srgbClr val="25B98C"/>
                </a:solidFill>
                <a:latin typeface="Calibri" pitchFamily="34" charset="0"/>
                <a:ea typeface="Calibri" pitchFamily="34" charset="-122"/>
                <a:cs typeface="Calibri" pitchFamily="34" charset="-120"/>
              </a:rPr>
              <a:t>Période du stage</a:t>
            </a:r>
            <a:endParaRPr lang="en-US" sz="1050" dirty="0"/>
          </a:p>
        </p:txBody>
      </p:sp>
      <p:sp>
        <p:nvSpPr>
          <p:cNvPr id="16" name="Text 14"/>
          <p:cNvSpPr txBox="1"/>
          <p:nvPr/>
        </p:nvSpPr>
        <p:spPr>
          <a:xfrm>
            <a:off x="2761488" y="4846320"/>
            <a:ext cx="2880360" cy="502920"/>
          </a:xfrm>
          <a:prstGeom prst="rect">
            <a:avLst/>
          </a:prstGeom>
          <a:noFill/>
          <a:ln/>
        </p:spPr>
        <p:txBody>
          <a:bodyPr wrap="square" lIns="0" tIns="0" rIns="0" bIns="0" rtlCol="0" anchor="ctr"/>
          <a:lstStyle/>
          <a:p>
            <a:pPr indent="0" marL="0">
              <a:lnSpc>
                <a:spcPts val="1300"/>
              </a:lnSpc>
              <a:buNone/>
            </a:pPr>
            <a:r>
              <a:rPr lang="en-US" sz="1100" dirty="0">
                <a:solidFill>
                  <a:srgbClr val="F4F1E9"/>
                </a:solidFill>
                <a:latin typeface="Calibri" pitchFamily="34" charset="0"/>
                <a:ea typeface="Calibri" pitchFamily="34" charset="-122"/>
                <a:cs typeface="Calibri" pitchFamily="34" charset="-120"/>
              </a:rPr>
              <a:t>Du 20 juin au 20 août 2026</a:t>
            </a:r>
            <a:endParaRPr lang="en-US" sz="1100" dirty="0"/>
          </a:p>
        </p:txBody>
      </p:sp>
      <p:sp>
        <p:nvSpPr>
          <p:cNvPr id="17" name="Text 15"/>
          <p:cNvSpPr txBox="1"/>
          <p:nvPr/>
        </p:nvSpPr>
        <p:spPr>
          <a:xfrm>
            <a:off x="914400" y="5394960"/>
            <a:ext cx="1783080" cy="502920"/>
          </a:xfrm>
          <a:prstGeom prst="rect">
            <a:avLst/>
          </a:prstGeom>
          <a:noFill/>
          <a:ln/>
        </p:spPr>
        <p:txBody>
          <a:bodyPr wrap="square" lIns="0" tIns="0" rIns="0" bIns="0" rtlCol="0" anchor="ctr"/>
          <a:lstStyle/>
          <a:p>
            <a:pPr indent="0" marL="0">
              <a:lnSpc>
                <a:spcPts val="1300"/>
              </a:lnSpc>
              <a:buNone/>
            </a:pPr>
            <a:r>
              <a:rPr lang="en-US" sz="1050" b="1" dirty="0">
                <a:solidFill>
                  <a:srgbClr val="25B98C"/>
                </a:solidFill>
                <a:latin typeface="Calibri" pitchFamily="34" charset="0"/>
                <a:ea typeface="Calibri" pitchFamily="34" charset="-122"/>
                <a:cs typeface="Calibri" pitchFamily="34" charset="-120"/>
              </a:rPr>
              <a:t>Encadreur professionnel</a:t>
            </a:r>
            <a:endParaRPr lang="en-US" sz="1050" dirty="0"/>
          </a:p>
        </p:txBody>
      </p:sp>
      <p:sp>
        <p:nvSpPr>
          <p:cNvPr id="18" name="Text 16"/>
          <p:cNvSpPr txBox="1"/>
          <p:nvPr/>
        </p:nvSpPr>
        <p:spPr>
          <a:xfrm>
            <a:off x="2761488" y="5394960"/>
            <a:ext cx="2880360" cy="502920"/>
          </a:xfrm>
          <a:prstGeom prst="rect">
            <a:avLst/>
          </a:prstGeom>
          <a:noFill/>
          <a:ln/>
        </p:spPr>
        <p:txBody>
          <a:bodyPr wrap="square" lIns="0" tIns="0" rIns="0" bIns="0" rtlCol="0" anchor="ctr"/>
          <a:lstStyle/>
          <a:p>
            <a:pPr indent="0" marL="0">
              <a:lnSpc>
                <a:spcPts val="1300"/>
              </a:lnSpc>
              <a:buNone/>
            </a:pPr>
            <a:r>
              <a:rPr lang="en-US" sz="1100" dirty="0">
                <a:solidFill>
                  <a:srgbClr val="F4F1E9"/>
                </a:solidFill>
                <a:latin typeface="Calibri" pitchFamily="34" charset="0"/>
                <a:ea typeface="Calibri" pitchFamily="34" charset="-122"/>
                <a:cs typeface="Calibri" pitchFamily="34" charset="-120"/>
              </a:rPr>
              <a:t>M. Adrien GHOMSI</a:t>
            </a:r>
            <a:endParaRPr lang="en-US" sz="1100" dirty="0"/>
          </a:p>
        </p:txBody>
      </p:sp>
      <p:sp>
        <p:nvSpPr>
          <p:cNvPr id="19" name="s_c2"/>
          <p:cNvSpPr/>
          <p:nvPr/>
        </p:nvSpPr>
        <p:spPr>
          <a:xfrm>
            <a:off x="6263640" y="2084832"/>
            <a:ext cx="5285232" cy="1783080"/>
          </a:xfrm>
          <a:prstGeom prst="roundRect">
            <a:avLst>
              <a:gd name="adj" fmla="val 307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0" name="Text 18"/>
          <p:cNvSpPr txBox="1"/>
          <p:nvPr/>
        </p:nvSpPr>
        <p:spPr>
          <a:xfrm>
            <a:off x="6537960" y="2249424"/>
            <a:ext cx="4754880" cy="274320"/>
          </a:xfrm>
          <a:prstGeom prst="rect">
            <a:avLst/>
          </a:prstGeom>
          <a:noFill/>
          <a:ln/>
        </p:spPr>
        <p:txBody>
          <a:bodyPr wrap="square" lIns="0" tIns="0" rIns="0" bIns="0" rtlCol="0" anchor="ctr"/>
          <a:lstStyle/>
          <a:p>
            <a:pPr indent="0" marL="0">
              <a:buNone/>
            </a:pPr>
            <a:r>
              <a:rPr lang="en-US" sz="1000" b="1" spc="200" kern="0" dirty="0">
                <a:solidFill>
                  <a:srgbClr val="D4A62A"/>
                </a:solidFill>
                <a:latin typeface="Calibri" pitchFamily="34" charset="0"/>
                <a:ea typeface="Calibri" pitchFamily="34" charset="-122"/>
                <a:cs typeface="Calibri" pitchFamily="34" charset="-120"/>
              </a:rPr>
              <a:t>LE RÔLE EXACT DU THINK TANK</a:t>
            </a:r>
            <a:endParaRPr lang="en-US" sz="1000" dirty="0"/>
          </a:p>
        </p:txBody>
      </p:sp>
      <p:sp>
        <p:nvSpPr>
          <p:cNvPr id="21" name="Text 19"/>
          <p:cNvSpPr txBox="1"/>
          <p:nvPr/>
        </p:nvSpPr>
        <p:spPr>
          <a:xfrm>
            <a:off x="6537960" y="2578608"/>
            <a:ext cx="4754880" cy="1188720"/>
          </a:xfrm>
          <a:prstGeom prst="rect">
            <a:avLst/>
          </a:prstGeom>
          <a:noFill/>
          <a:ln/>
        </p:spPr>
        <p:txBody>
          <a:bodyPr wrap="square" lIns="0" tIns="0" rIns="0" bIns="0" rtlCol="0" anchor="ctr"/>
          <a:lstStyle/>
          <a:p>
            <a:pPr indent="0" marL="0">
              <a:lnSpc>
                <a:spcPts val="1700"/>
              </a:lnSpc>
              <a:buNone/>
            </a:pPr>
            <a:r>
              <a:rPr lang="en-US" sz="1200" dirty="0">
                <a:solidFill>
                  <a:srgbClr val="F4F1E9"/>
                </a:solidFill>
                <a:latin typeface="Calibri" pitchFamily="34" charset="0"/>
                <a:ea typeface="Calibri" pitchFamily="34" charset="-122"/>
                <a:cs typeface="Calibri" pitchFamily="34" charset="-120"/>
              </a:rPr>
              <a:t>Structure de réflexion et de recherche, il n’administre pas les collections et ne reçoit pas le public : il a cadré et validé la question, en laissant la liberté méthodologique de la traiter. Les utilisateurs finaux sont les pôles Conservation, Accueil et Communication.</a:t>
            </a:r>
            <a:endParaRPr lang="en-US" sz="1200" dirty="0"/>
          </a:p>
        </p:txBody>
      </p:sp>
      <p:sp>
        <p:nvSpPr>
          <p:cNvPr id="22" name="s_c3"/>
          <p:cNvSpPr/>
          <p:nvPr/>
        </p:nvSpPr>
        <p:spPr>
          <a:xfrm>
            <a:off x="6263640" y="4023360"/>
            <a:ext cx="5285232" cy="1901952"/>
          </a:xfrm>
          <a:prstGeom prst="roundRect">
            <a:avLst>
              <a:gd name="adj" fmla="val 288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3" name="Text 21"/>
          <p:cNvSpPr txBox="1"/>
          <p:nvPr/>
        </p:nvSpPr>
        <p:spPr>
          <a:xfrm>
            <a:off x="6537960" y="4206240"/>
            <a:ext cx="4754880" cy="274320"/>
          </a:xfrm>
          <a:prstGeom prst="rect">
            <a:avLst/>
          </a:prstGeom>
          <a:noFill/>
          <a:ln/>
        </p:spPr>
        <p:txBody>
          <a:bodyPr wrap="square" lIns="0" tIns="0" rIns="0" bIns="0" rtlCol="0" anchor="ctr"/>
          <a:lstStyle/>
          <a:p>
            <a:pPr indent="0" marL="0">
              <a:buNone/>
            </a:pPr>
            <a:r>
              <a:rPr lang="en-US" sz="1000" b="1" spc="160" kern="0" dirty="0">
                <a:solidFill>
                  <a:srgbClr val="D4A62A"/>
                </a:solidFill>
                <a:latin typeface="Calibri" pitchFamily="34" charset="0"/>
                <a:ea typeface="Calibri" pitchFamily="34" charset="-122"/>
                <a:cs typeface="Calibri" pitchFamily="34" charset="-120"/>
              </a:rPr>
              <a:t>TROIS CONTRAINTES QUI ONT COMMANDÉ LA CONCEPTION</a:t>
            </a:r>
            <a:endParaRPr lang="en-US" sz="1000" dirty="0"/>
          </a:p>
        </p:txBody>
      </p:sp>
      <p:sp>
        <p:nvSpPr>
          <p:cNvPr id="24" name="Text 22"/>
          <p:cNvSpPr txBox="1"/>
          <p:nvPr/>
        </p:nvSpPr>
        <p:spPr>
          <a:xfrm>
            <a:off x="6537960" y="4572000"/>
            <a:ext cx="4754880" cy="365760"/>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Connectivité mobile instable  </a:t>
            </a:r>
            <a:pPr indent="0" marL="0">
              <a:buNone/>
            </a:pPr>
            <a:r>
              <a:rPr lang="en-US" sz="1150" dirty="0">
                <a:solidFill>
                  <a:srgbClr val="9CB6A9"/>
                </a:solidFill>
                <a:latin typeface="Calibri" pitchFamily="34" charset="0"/>
                <a:ea typeface="Calibri" pitchFamily="34" charset="-122"/>
                <a:cs typeface="Calibri" pitchFamily="34" charset="-120"/>
              </a:rPr>
              <a:t>→ priorité donnée au téléphone</a:t>
            </a:r>
            <a:endParaRPr lang="en-US" sz="1150" dirty="0"/>
          </a:p>
        </p:txBody>
      </p:sp>
      <p:sp>
        <p:nvSpPr>
          <p:cNvPr id="25" name="Text 23"/>
          <p:cNvSpPr txBox="1"/>
          <p:nvPr/>
        </p:nvSpPr>
        <p:spPr>
          <a:xfrm>
            <a:off x="6537960" y="4992624"/>
            <a:ext cx="4754880" cy="365760"/>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Coût des données  </a:t>
            </a:r>
            <a:pPr indent="0" marL="0">
              <a:buNone/>
            </a:pPr>
            <a:r>
              <a:rPr lang="en-US" sz="1150" dirty="0">
                <a:solidFill>
                  <a:srgbClr val="9CB6A9"/>
                </a:solidFill>
                <a:latin typeface="Calibri" pitchFamily="34" charset="0"/>
                <a:ea typeface="Calibri" pitchFamily="34" charset="-122"/>
                <a:cs typeface="Calibri" pitchFamily="34" charset="-120"/>
              </a:rPr>
              <a:t>→ sobriété des médias transportés</a:t>
            </a:r>
            <a:endParaRPr lang="en-US" sz="1150" dirty="0"/>
          </a:p>
        </p:txBody>
      </p:sp>
      <p:sp>
        <p:nvSpPr>
          <p:cNvPr id="26" name="Text 24"/>
          <p:cNvSpPr txBox="1"/>
          <p:nvPr/>
        </p:nvSpPr>
        <p:spPr>
          <a:xfrm>
            <a:off x="6537960" y="5413248"/>
            <a:ext cx="4754880" cy="365760"/>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Environnement multi-institutions  </a:t>
            </a:r>
            <a:pPr indent="0" marL="0">
              <a:buNone/>
            </a:pPr>
            <a:r>
              <a:rPr lang="en-US" sz="1150" dirty="0">
                <a:solidFill>
                  <a:srgbClr val="9CB6A9"/>
                </a:solidFill>
                <a:latin typeface="Calibri" pitchFamily="34" charset="0"/>
                <a:ea typeface="Calibri" pitchFamily="34" charset="-122"/>
                <a:cs typeface="Calibri" pitchFamily="34" charset="-120"/>
              </a:rPr>
              <a:t>→ cloisonnement dès la base</a:t>
            </a:r>
            <a:endParaRPr lang="en-US" sz="1150" dirty="0"/>
          </a:p>
        </p:txBody>
      </p:sp>
      <p:sp>
        <p:nvSpPr>
          <p:cNvPr id="27" name="Text 25"/>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8" name="Text 26"/>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5</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2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48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anim calcmode="lin" valueType="num">
                                      <p:cBhvr additive="base">
                                        <p:cTn id="16" dur="500" fill="hold"/>
                                        <p:tgtEl>
                                          <p:spTgt spid="19"/>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4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anim calcmode="lin" valueType="num">
                                      <p:cBhvr additive="base">
                                        <p:cTn id="20" dur="500" fill="hold"/>
                                        <p:tgtEl>
                                          <p:spTgt spid="22"/>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6">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10241280" y="4572000"/>
            <a:ext cx="4389120" cy="4389120"/>
          </a:xfrm>
          <a:prstGeom prst="ellipse">
            <a:avLst/>
          </a:prstGeom>
          <a:solidFill>
            <a:srgbClr val="D4A62A">
              <a:alpha val="6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DONNÉES RECUEILLIES · JUILLET 2026</a:t>
            </a:r>
            <a:endParaRPr lang="en-US" sz="1100" dirty="0"/>
          </a:p>
        </p:txBody>
      </p:sp>
      <p:sp>
        <p:nvSpPr>
          <p:cNvPr id="4" name="v_t"/>
          <p:cNvSpPr txBox="1"/>
          <p:nvPr/>
        </p:nvSpPr>
        <p:spPr>
          <a:xfrm>
            <a:off x="640080" y="822960"/>
            <a:ext cx="10911535" cy="1005840"/>
          </a:xfrm>
          <a:prstGeom prst="rect">
            <a:avLst/>
          </a:prstGeom>
          <a:noFill/>
          <a:ln/>
        </p:spPr>
        <p:txBody>
          <a:bodyPr wrap="square" lIns="0" tIns="0" rIns="0" bIns="0" rtlCol="0" anchor="ctr"/>
          <a:lstStyle/>
          <a:p>
            <a:pPr indent="0" marL="0">
              <a:lnSpc>
                <a:spcPts val="3600"/>
              </a:lnSpc>
              <a:buNone/>
            </a:pPr>
            <a:r>
              <a:rPr lang="en-US" sz="2900" b="1" dirty="0">
                <a:solidFill>
                  <a:srgbClr val="F4F1E9"/>
                </a:solidFill>
                <a:latin typeface="Cambria" pitchFamily="34" charset="0"/>
                <a:ea typeface="Cambria" pitchFamily="34" charset="-122"/>
                <a:cs typeface="Cambria" pitchFamily="34" charset="-120"/>
              </a:rPr>
              <a:t>Ce que les visiteurs demandent, avant qu’on ne leur propose quoi que ce soit</a:t>
            </a:r>
            <a:endParaRPr lang="en-US" sz="2900" dirty="0"/>
          </a:p>
        </p:txBody>
      </p:sp>
      <p:sp>
        <p:nvSpPr>
          <p:cNvPr id="5" name="v_s0"/>
          <p:cNvSpPr/>
          <p:nvPr/>
        </p:nvSpPr>
        <p:spPr>
          <a:xfrm>
            <a:off x="640080" y="2121408"/>
            <a:ext cx="4160520" cy="1188720"/>
          </a:xfrm>
          <a:prstGeom prst="roundRect">
            <a:avLst>
              <a:gd name="adj" fmla="val 461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6" name="Text 4"/>
          <p:cNvSpPr txBox="1"/>
          <p:nvPr/>
        </p:nvSpPr>
        <p:spPr>
          <a:xfrm>
            <a:off x="896112" y="2267712"/>
            <a:ext cx="1417320" cy="548640"/>
          </a:xfrm>
          <a:prstGeom prst="rect">
            <a:avLst/>
          </a:prstGeom>
          <a:noFill/>
          <a:ln/>
        </p:spPr>
        <p:txBody>
          <a:bodyPr wrap="square" lIns="0" tIns="0" rIns="0" bIns="0" rtlCol="0" anchor="ctr"/>
          <a:lstStyle/>
          <a:p>
            <a:pPr indent="0" marL="0">
              <a:buNone/>
            </a:pPr>
            <a:r>
              <a:rPr lang="en-US" sz="2600" b="1" dirty="0">
                <a:solidFill>
                  <a:srgbClr val="F0D68A"/>
                </a:solidFill>
                <a:latin typeface="Cambria" pitchFamily="34" charset="0"/>
                <a:ea typeface="Cambria" pitchFamily="34" charset="-122"/>
                <a:cs typeface="Cambria" pitchFamily="34" charset="-120"/>
              </a:rPr>
              <a:t>48</a:t>
            </a:r>
            <a:endParaRPr lang="en-US" sz="2600" dirty="0"/>
          </a:p>
        </p:txBody>
      </p:sp>
      <p:sp>
        <p:nvSpPr>
          <p:cNvPr id="7" name="Text 5"/>
          <p:cNvSpPr txBox="1"/>
          <p:nvPr/>
        </p:nvSpPr>
        <p:spPr>
          <a:xfrm>
            <a:off x="2331720" y="2267712"/>
            <a:ext cx="233172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personnes enquêtées : 42 visiteurs par questionnaire, 6 membres du personnel en entretien semi-directif</a:t>
            </a:r>
            <a:endParaRPr lang="en-US" sz="1050" dirty="0"/>
          </a:p>
        </p:txBody>
      </p:sp>
      <p:sp>
        <p:nvSpPr>
          <p:cNvPr id="8" name="v_s1"/>
          <p:cNvSpPr/>
          <p:nvPr/>
        </p:nvSpPr>
        <p:spPr>
          <a:xfrm>
            <a:off x="640080" y="3438144"/>
            <a:ext cx="4160520" cy="1188720"/>
          </a:xfrm>
          <a:prstGeom prst="roundRect">
            <a:avLst>
              <a:gd name="adj" fmla="val 461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9" name="Text 7"/>
          <p:cNvSpPr txBox="1"/>
          <p:nvPr/>
        </p:nvSpPr>
        <p:spPr>
          <a:xfrm>
            <a:off x="896112" y="3584448"/>
            <a:ext cx="1417320" cy="548640"/>
          </a:xfrm>
          <a:prstGeom prst="rect">
            <a:avLst/>
          </a:prstGeom>
          <a:noFill/>
          <a:ln/>
        </p:spPr>
        <p:txBody>
          <a:bodyPr wrap="square" lIns="0" tIns="0" rIns="0" bIns="0" rtlCol="0" anchor="ctr"/>
          <a:lstStyle/>
          <a:p>
            <a:pPr indent="0" marL="0">
              <a:buNone/>
            </a:pPr>
            <a:r>
              <a:rPr lang="en-US" sz="2600" b="1" dirty="0">
                <a:solidFill>
                  <a:srgbClr val="F0D68A"/>
                </a:solidFill>
                <a:latin typeface="Cambria" pitchFamily="34" charset="0"/>
                <a:ea typeface="Cambria" pitchFamily="34" charset="-122"/>
                <a:cs typeface="Cambria" pitchFamily="34" charset="-120"/>
              </a:rPr>
              <a:t>85,7 %</a:t>
            </a:r>
            <a:endParaRPr lang="en-US" sz="2600" dirty="0"/>
          </a:p>
        </p:txBody>
      </p:sp>
      <p:sp>
        <p:nvSpPr>
          <p:cNvPr id="10" name="Text 8"/>
          <p:cNvSpPr txBox="1"/>
          <p:nvPr/>
        </p:nvSpPr>
        <p:spPr>
          <a:xfrm>
            <a:off x="2331720" y="3584448"/>
            <a:ext cx="233172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accèdent au numérique par un téléphone mobile — la conception part du téléphone, pas de l’ordinateur</a:t>
            </a:r>
            <a:endParaRPr lang="en-US" sz="1050" dirty="0"/>
          </a:p>
        </p:txBody>
      </p:sp>
      <p:sp>
        <p:nvSpPr>
          <p:cNvPr id="11" name="v_s2"/>
          <p:cNvSpPr/>
          <p:nvPr/>
        </p:nvSpPr>
        <p:spPr>
          <a:xfrm>
            <a:off x="640080" y="4754880"/>
            <a:ext cx="4160520" cy="1188720"/>
          </a:xfrm>
          <a:prstGeom prst="roundRect">
            <a:avLst>
              <a:gd name="adj" fmla="val 461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Text 10"/>
          <p:cNvSpPr txBox="1"/>
          <p:nvPr/>
        </p:nvSpPr>
        <p:spPr>
          <a:xfrm>
            <a:off x="896112" y="4901184"/>
            <a:ext cx="1417320" cy="548640"/>
          </a:xfrm>
          <a:prstGeom prst="rect">
            <a:avLst/>
          </a:prstGeom>
          <a:noFill/>
          <a:ln/>
        </p:spPr>
        <p:txBody>
          <a:bodyPr wrap="square" lIns="0" tIns="0" rIns="0" bIns="0" rtlCol="0" anchor="ctr"/>
          <a:lstStyle/>
          <a:p>
            <a:pPr indent="0" marL="0">
              <a:buNone/>
            </a:pPr>
            <a:r>
              <a:rPr lang="en-US" sz="2600" b="1" dirty="0">
                <a:solidFill>
                  <a:srgbClr val="F0D68A"/>
                </a:solidFill>
                <a:latin typeface="Cambria" pitchFamily="34" charset="0"/>
                <a:ea typeface="Cambria" pitchFamily="34" charset="-122"/>
                <a:cs typeface="Cambria" pitchFamily="34" charset="-120"/>
              </a:rPr>
              <a:t>50 %</a:t>
            </a:r>
            <a:endParaRPr lang="en-US" sz="2600" dirty="0"/>
          </a:p>
        </p:txBody>
      </p:sp>
      <p:sp>
        <p:nvSpPr>
          <p:cNvPr id="13" name="Text 11"/>
          <p:cNvSpPr txBox="1"/>
          <p:nvPr/>
        </p:nvSpPr>
        <p:spPr>
          <a:xfrm>
            <a:off x="2331720" y="4901184"/>
            <a:ext cx="233172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des visiteurs viennent déjà de l’extérieur de la région : le public distant existe avant l’outil</a:t>
            </a:r>
            <a:endParaRPr lang="en-US" sz="1050" dirty="0"/>
          </a:p>
        </p:txBody>
      </p:sp>
      <p:sp>
        <p:nvSpPr>
          <p:cNvPr id="14" name="v_ch"/>
          <p:cNvSpPr/>
          <p:nvPr/>
        </p:nvSpPr>
        <p:spPr>
          <a:xfrm>
            <a:off x="5166360" y="2121408"/>
            <a:ext cx="6382512" cy="3822192"/>
          </a:xfrm>
          <a:prstGeom prst="roundRect">
            <a:avLst>
              <a:gd name="adj" fmla="val 143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5" name="Text 13"/>
          <p:cNvSpPr txBox="1"/>
          <p:nvPr/>
        </p:nvSpPr>
        <p:spPr>
          <a:xfrm>
            <a:off x="5440680" y="2286000"/>
            <a:ext cx="5852160" cy="274320"/>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ATTENTES EXPRIMÉES À L’ÉGARD D’UNE VISITE À DISTANCE  (n = 42, réponses multiples)</a:t>
            </a:r>
            <a:endParaRPr lang="en-US" sz="950" dirty="0"/>
          </a:p>
        </p:txBody>
      </p:sp>
      <p:graphicFrame>
        <p:nvGraphicFramePr>
          <p:cNvPr id="16" name="Chart 0" descr=""/>
          <p:cNvGraphicFramePr/>
          <p:nvPr/>
        </p:nvGraphicFramePr>
        <p:xfrm>
          <a:off x="5303520" y="2578608"/>
          <a:ext cx="6126480" cy="329184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18" name="Text 15"/>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6</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2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anim calcmode="lin" valueType="num">
                                      <p:cBhvr additive="base">
                                        <p:cTn id="16" dur="500" fill="hold"/>
                                        <p:tgtEl>
                                          <p:spTgt spid="8"/>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9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additive="base">
                                        <p:cTn id="20" dur="500" fill="hold"/>
                                        <p:tgtEl>
                                          <p:spTgt spid="11"/>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withEffect">
                                  <p:stCondLst>
                                    <p:cond delay="7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7">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1828800" y="3291840"/>
            <a:ext cx="5852160" cy="5852160"/>
          </a:xfrm>
          <a:prstGeom prst="ellipse">
            <a:avLst/>
          </a:prstGeom>
          <a:solidFill>
            <a:srgbClr val="0E6B4F">
              <a:alpha val="10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PROBLÉMATIQUE</a:t>
            </a:r>
            <a:endParaRPr lang="en-US" sz="1100" dirty="0"/>
          </a:p>
        </p:txBody>
      </p:sp>
      <p:sp>
        <p:nvSpPr>
          <p:cNvPr id="4" name="p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La question posée</a:t>
            </a:r>
            <a:endParaRPr lang="en-US" sz="3300" dirty="0"/>
          </a:p>
        </p:txBody>
      </p:sp>
      <p:sp>
        <p:nvSpPr>
          <p:cNvPr id="5" name="p_q"/>
          <p:cNvSpPr/>
          <p:nvPr/>
        </p:nvSpPr>
        <p:spPr>
          <a:xfrm>
            <a:off x="640080" y="1627632"/>
            <a:ext cx="10911535" cy="1572768"/>
          </a:xfrm>
          <a:prstGeom prst="roundRect">
            <a:avLst>
              <a:gd name="adj" fmla="val 3488"/>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6" name="Text 4"/>
          <p:cNvSpPr txBox="1"/>
          <p:nvPr/>
        </p:nvSpPr>
        <p:spPr>
          <a:xfrm>
            <a:off x="777240" y="1664208"/>
            <a:ext cx="548640" cy="640080"/>
          </a:xfrm>
          <a:prstGeom prst="rect">
            <a:avLst/>
          </a:prstGeom>
          <a:noFill/>
          <a:ln/>
        </p:spPr>
        <p:txBody>
          <a:bodyPr wrap="square" lIns="0" tIns="0" rIns="0" bIns="0" rtlCol="0" anchor="ctr"/>
          <a:lstStyle/>
          <a:p>
            <a:pPr indent="0" marL="0">
              <a:buNone/>
            </a:pPr>
            <a:r>
              <a:rPr lang="en-US" sz="4400" dirty="0">
                <a:solidFill>
                  <a:srgbClr val="D4A62A">
                    <a:alpha val="60000"/>
                  </a:srgbClr>
                </a:solidFill>
                <a:latin typeface="Cambria" pitchFamily="34" charset="0"/>
                <a:ea typeface="Cambria" pitchFamily="34" charset="-122"/>
                <a:cs typeface="Cambria" pitchFamily="34" charset="-120"/>
              </a:rPr>
              <a:t>«</a:t>
            </a:r>
            <a:endParaRPr lang="en-US" sz="4400" dirty="0"/>
          </a:p>
        </p:txBody>
      </p:sp>
      <p:sp>
        <p:nvSpPr>
          <p:cNvPr id="7" name="Text 5"/>
          <p:cNvSpPr txBox="1"/>
          <p:nvPr/>
        </p:nvSpPr>
        <p:spPr>
          <a:xfrm>
            <a:off x="1325880" y="1828800"/>
            <a:ext cx="9722815" cy="1188720"/>
          </a:xfrm>
          <a:prstGeom prst="rect">
            <a:avLst/>
          </a:prstGeom>
          <a:noFill/>
          <a:ln/>
        </p:spPr>
        <p:txBody>
          <a:bodyPr wrap="square" lIns="0" tIns="0" rIns="0" bIns="0" rtlCol="0" anchor="ctr"/>
          <a:lstStyle/>
          <a:p>
            <a:pPr indent="0" marL="0">
              <a:lnSpc>
                <a:spcPts val="2500"/>
              </a:lnSpc>
              <a:buNone/>
            </a:pPr>
            <a:r>
              <a:rPr lang="en-US" sz="1700" i="1" dirty="0">
                <a:solidFill>
                  <a:srgbClr val="F4F1E9"/>
                </a:solidFill>
                <a:latin typeface="Cambria" pitchFamily="34" charset="0"/>
                <a:ea typeface="Cambria" pitchFamily="34" charset="-122"/>
                <a:cs typeface="Cambria" pitchFamily="34" charset="-120"/>
              </a:rPr>
              <a:t>Comment concevoir et réaliser une plateforme numérique unifiée capable d’offrir une visite virtuelle en trois dimensions, de mettre en relation un réseau d’institutions pour retrouver les œuvres apparentées, et d’assurer une assistance conversationnelle fiable fondée sur les données réelles de la Fondation Jean Félicien Gacha ?</a:t>
            </a:r>
            <a:endParaRPr lang="en-US" sz="1700" dirty="0"/>
          </a:p>
        </p:txBody>
      </p:sp>
      <p:sp>
        <p:nvSpPr>
          <p:cNvPr id="8" name="p_c0"/>
          <p:cNvSpPr/>
          <p:nvPr/>
        </p:nvSpPr>
        <p:spPr>
          <a:xfrm>
            <a:off x="640080" y="3429000"/>
            <a:ext cx="2522144" cy="2423160"/>
          </a:xfrm>
          <a:prstGeom prst="roundRect">
            <a:avLst>
              <a:gd name="adj" fmla="val 226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9" name="Shape 7"/>
          <p:cNvSpPr/>
          <p:nvPr/>
        </p:nvSpPr>
        <p:spPr>
          <a:xfrm>
            <a:off x="896112" y="3639312"/>
            <a:ext cx="475488" cy="475488"/>
          </a:xfrm>
          <a:prstGeom prst="roundRect">
            <a:avLst>
              <a:gd name="adj" fmla="val 67308"/>
            </a:avLst>
          </a:prstGeom>
          <a:solidFill>
            <a:srgbClr val="0E6B4F"/>
          </a:solidFill>
          <a:ln w="12700">
            <a:solidFill>
              <a:srgbClr val="25B98C"/>
            </a:solidFill>
            <a:prstDash val="solid"/>
          </a:ln>
        </p:spPr>
      </p:sp>
      <p:sp>
        <p:nvSpPr>
          <p:cNvPr id="10" name="Text 8"/>
          <p:cNvSpPr txBox="1"/>
          <p:nvPr/>
        </p:nvSpPr>
        <p:spPr>
          <a:xfrm>
            <a:off x="896112" y="3639312"/>
            <a:ext cx="475488" cy="475488"/>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Q1</a:t>
            </a:r>
            <a:endParaRPr lang="en-US" sz="1200" dirty="0"/>
          </a:p>
        </p:txBody>
      </p:sp>
      <p:sp>
        <p:nvSpPr>
          <p:cNvPr id="11" name="Text 9"/>
          <p:cNvSpPr txBox="1"/>
          <p:nvPr/>
        </p:nvSpPr>
        <p:spPr>
          <a:xfrm>
            <a:off x="1481328" y="3657600"/>
            <a:ext cx="1424864" cy="411480"/>
          </a:xfrm>
          <a:prstGeom prst="rect">
            <a:avLst/>
          </a:prstGeom>
          <a:noFill/>
          <a:ln/>
        </p:spPr>
        <p:txBody>
          <a:bodyPr wrap="square" lIns="0" tIns="0" rIns="0" bIns="0" rtlCol="0" anchor="ctr"/>
          <a:lstStyle/>
          <a:p>
            <a:pPr indent="0" marL="0">
              <a:buNone/>
            </a:pPr>
            <a:r>
              <a:rPr lang="en-US" sz="1200" b="1" spc="160" kern="0" dirty="0">
                <a:solidFill>
                  <a:srgbClr val="D4A62A"/>
                </a:solidFill>
                <a:latin typeface="Calibri" pitchFamily="34" charset="0"/>
                <a:ea typeface="Calibri" pitchFamily="34" charset="-122"/>
                <a:cs typeface="Calibri" pitchFamily="34" charset="-120"/>
              </a:rPr>
              <a:t>REPRÉSENTER</a:t>
            </a:r>
            <a:endParaRPr lang="en-US" sz="1200" dirty="0"/>
          </a:p>
        </p:txBody>
      </p:sp>
      <p:sp>
        <p:nvSpPr>
          <p:cNvPr id="12" name="Text 10"/>
          <p:cNvSpPr txBox="1"/>
          <p:nvPr/>
        </p:nvSpPr>
        <p:spPr>
          <a:xfrm>
            <a:off x="896112" y="4279392"/>
            <a:ext cx="2010080" cy="1371600"/>
          </a:xfrm>
          <a:prstGeom prst="rect">
            <a:avLst/>
          </a:prstGeom>
          <a:noFill/>
          <a:ln/>
        </p:spPr>
        <p:txBody>
          <a:bodyPr wrap="square" lIns="0" tIns="0" rIns="0" bIns="0" rtlCol="0" anchor="ctr"/>
          <a:lstStyle/>
          <a:p>
            <a:pPr indent="0" marL="0">
              <a:lnSpc>
                <a:spcPts val="1600"/>
              </a:lnSpc>
              <a:buNone/>
            </a:pPr>
            <a:r>
              <a:rPr lang="en-US" sz="1150" dirty="0">
                <a:solidFill>
                  <a:srgbClr val="F4F1E9"/>
                </a:solidFill>
                <a:latin typeface="Calibri" pitchFamily="34" charset="0"/>
                <a:ea typeface="Calibri" pitchFamily="34" charset="-122"/>
                <a:cs typeface="Calibri" pitchFamily="34" charset="-120"/>
              </a:rPr>
              <a:t>Comment remplacer les photographies par une exploration en trois dimensions fluide et interactive ?</a:t>
            </a:r>
            <a:endParaRPr lang="en-US" sz="1150" dirty="0"/>
          </a:p>
        </p:txBody>
      </p:sp>
      <p:sp>
        <p:nvSpPr>
          <p:cNvPr id="13" name="p_c1"/>
          <p:cNvSpPr/>
          <p:nvPr/>
        </p:nvSpPr>
        <p:spPr>
          <a:xfrm>
            <a:off x="3436544" y="3429000"/>
            <a:ext cx="2522144" cy="2423160"/>
          </a:xfrm>
          <a:prstGeom prst="roundRect">
            <a:avLst>
              <a:gd name="adj" fmla="val 226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4" name="Shape 12"/>
          <p:cNvSpPr/>
          <p:nvPr/>
        </p:nvSpPr>
        <p:spPr>
          <a:xfrm>
            <a:off x="3692576" y="3639312"/>
            <a:ext cx="475488" cy="475488"/>
          </a:xfrm>
          <a:prstGeom prst="roundRect">
            <a:avLst>
              <a:gd name="adj" fmla="val 67308"/>
            </a:avLst>
          </a:prstGeom>
          <a:solidFill>
            <a:srgbClr val="0E6B4F"/>
          </a:solidFill>
          <a:ln w="12700">
            <a:solidFill>
              <a:srgbClr val="25B98C"/>
            </a:solidFill>
            <a:prstDash val="solid"/>
          </a:ln>
        </p:spPr>
      </p:sp>
      <p:sp>
        <p:nvSpPr>
          <p:cNvPr id="15" name="Text 13"/>
          <p:cNvSpPr txBox="1"/>
          <p:nvPr/>
        </p:nvSpPr>
        <p:spPr>
          <a:xfrm>
            <a:off x="3692576" y="3639312"/>
            <a:ext cx="475488" cy="475488"/>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Q2</a:t>
            </a:r>
            <a:endParaRPr lang="en-US" sz="1200" dirty="0"/>
          </a:p>
        </p:txBody>
      </p:sp>
      <p:sp>
        <p:nvSpPr>
          <p:cNvPr id="16" name="Text 14"/>
          <p:cNvSpPr txBox="1"/>
          <p:nvPr/>
        </p:nvSpPr>
        <p:spPr>
          <a:xfrm>
            <a:off x="4277792" y="3657600"/>
            <a:ext cx="1424864" cy="411480"/>
          </a:xfrm>
          <a:prstGeom prst="rect">
            <a:avLst/>
          </a:prstGeom>
          <a:noFill/>
          <a:ln/>
        </p:spPr>
        <p:txBody>
          <a:bodyPr wrap="square" lIns="0" tIns="0" rIns="0" bIns="0" rtlCol="0" anchor="ctr"/>
          <a:lstStyle/>
          <a:p>
            <a:pPr indent="0" marL="0">
              <a:buNone/>
            </a:pPr>
            <a:r>
              <a:rPr lang="en-US" sz="1200" b="1" spc="160" kern="0" dirty="0">
                <a:solidFill>
                  <a:srgbClr val="D4A62A"/>
                </a:solidFill>
                <a:latin typeface="Calibri" pitchFamily="34" charset="0"/>
                <a:ea typeface="Calibri" pitchFamily="34" charset="-122"/>
                <a:cs typeface="Calibri" pitchFamily="34" charset="-120"/>
              </a:rPr>
              <a:t>RELIER</a:t>
            </a:r>
            <a:endParaRPr lang="en-US" sz="1200" dirty="0"/>
          </a:p>
        </p:txBody>
      </p:sp>
      <p:sp>
        <p:nvSpPr>
          <p:cNvPr id="17" name="Text 15"/>
          <p:cNvSpPr txBox="1"/>
          <p:nvPr/>
        </p:nvSpPr>
        <p:spPr>
          <a:xfrm>
            <a:off x="3692576" y="4279392"/>
            <a:ext cx="2010080" cy="1371600"/>
          </a:xfrm>
          <a:prstGeom prst="rect">
            <a:avLst/>
          </a:prstGeom>
          <a:noFill/>
          <a:ln/>
        </p:spPr>
        <p:txBody>
          <a:bodyPr wrap="square" lIns="0" tIns="0" rIns="0" bIns="0" rtlCol="0" anchor="ctr"/>
          <a:lstStyle/>
          <a:p>
            <a:pPr indent="0" marL="0">
              <a:lnSpc>
                <a:spcPts val="1600"/>
              </a:lnSpc>
              <a:buNone/>
            </a:pPr>
            <a:r>
              <a:rPr lang="en-US" sz="1150" dirty="0">
                <a:solidFill>
                  <a:srgbClr val="F4F1E9"/>
                </a:solidFill>
                <a:latin typeface="Calibri" pitchFamily="34" charset="0"/>
                <a:ea typeface="Calibri" pitchFamily="34" charset="-122"/>
                <a:cs typeface="Calibri" pitchFamily="34" charset="-120"/>
              </a:rPr>
              <a:t>Comment rapprocher les inventaires de la Fondation de ceux d’autres institutions pour identifier les pièces de même origine ?</a:t>
            </a:r>
            <a:endParaRPr lang="en-US" sz="1150" dirty="0"/>
          </a:p>
        </p:txBody>
      </p:sp>
      <p:sp>
        <p:nvSpPr>
          <p:cNvPr id="18" name="p_c2"/>
          <p:cNvSpPr/>
          <p:nvPr/>
        </p:nvSpPr>
        <p:spPr>
          <a:xfrm>
            <a:off x="6233008" y="3429000"/>
            <a:ext cx="2522144" cy="2423160"/>
          </a:xfrm>
          <a:prstGeom prst="roundRect">
            <a:avLst>
              <a:gd name="adj" fmla="val 226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9" name="Shape 17"/>
          <p:cNvSpPr/>
          <p:nvPr/>
        </p:nvSpPr>
        <p:spPr>
          <a:xfrm>
            <a:off x="6489040" y="3639312"/>
            <a:ext cx="475488" cy="475488"/>
          </a:xfrm>
          <a:prstGeom prst="roundRect">
            <a:avLst>
              <a:gd name="adj" fmla="val 67308"/>
            </a:avLst>
          </a:prstGeom>
          <a:solidFill>
            <a:srgbClr val="0E6B4F"/>
          </a:solidFill>
          <a:ln w="12700">
            <a:solidFill>
              <a:srgbClr val="25B98C"/>
            </a:solidFill>
            <a:prstDash val="solid"/>
          </a:ln>
        </p:spPr>
      </p:sp>
      <p:sp>
        <p:nvSpPr>
          <p:cNvPr id="20" name="Text 18"/>
          <p:cNvSpPr txBox="1"/>
          <p:nvPr/>
        </p:nvSpPr>
        <p:spPr>
          <a:xfrm>
            <a:off x="6489040" y="3639312"/>
            <a:ext cx="475488" cy="475488"/>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Q3</a:t>
            </a:r>
            <a:endParaRPr lang="en-US" sz="1200" dirty="0"/>
          </a:p>
        </p:txBody>
      </p:sp>
      <p:sp>
        <p:nvSpPr>
          <p:cNvPr id="21" name="Text 19"/>
          <p:cNvSpPr txBox="1"/>
          <p:nvPr/>
        </p:nvSpPr>
        <p:spPr>
          <a:xfrm>
            <a:off x="7074256" y="3657600"/>
            <a:ext cx="1424864" cy="411480"/>
          </a:xfrm>
          <a:prstGeom prst="rect">
            <a:avLst/>
          </a:prstGeom>
          <a:noFill/>
          <a:ln/>
        </p:spPr>
        <p:txBody>
          <a:bodyPr wrap="square" lIns="0" tIns="0" rIns="0" bIns="0" rtlCol="0" anchor="ctr"/>
          <a:lstStyle/>
          <a:p>
            <a:pPr indent="0" marL="0">
              <a:buNone/>
            </a:pPr>
            <a:r>
              <a:rPr lang="en-US" sz="1200" b="1" spc="160" kern="0" dirty="0">
                <a:solidFill>
                  <a:srgbClr val="D4A62A"/>
                </a:solidFill>
                <a:latin typeface="Calibri" pitchFamily="34" charset="0"/>
                <a:ea typeface="Calibri" pitchFamily="34" charset="-122"/>
                <a:cs typeface="Calibri" pitchFamily="34" charset="-120"/>
              </a:rPr>
              <a:t>RÉPONDRE</a:t>
            </a:r>
            <a:endParaRPr lang="en-US" sz="1200" dirty="0"/>
          </a:p>
        </p:txBody>
      </p:sp>
      <p:sp>
        <p:nvSpPr>
          <p:cNvPr id="22" name="Text 20"/>
          <p:cNvSpPr txBox="1"/>
          <p:nvPr/>
        </p:nvSpPr>
        <p:spPr>
          <a:xfrm>
            <a:off x="6489040" y="4279392"/>
            <a:ext cx="2010080" cy="1371600"/>
          </a:xfrm>
          <a:prstGeom prst="rect">
            <a:avLst/>
          </a:prstGeom>
          <a:noFill/>
          <a:ln/>
        </p:spPr>
        <p:txBody>
          <a:bodyPr wrap="square" lIns="0" tIns="0" rIns="0" bIns="0" rtlCol="0" anchor="ctr"/>
          <a:lstStyle/>
          <a:p>
            <a:pPr indent="0" marL="0">
              <a:lnSpc>
                <a:spcPts val="1600"/>
              </a:lnSpc>
              <a:buNone/>
            </a:pPr>
            <a:r>
              <a:rPr lang="en-US" sz="1150" dirty="0">
                <a:solidFill>
                  <a:srgbClr val="F4F1E9"/>
                </a:solidFill>
                <a:latin typeface="Calibri" pitchFamily="34" charset="0"/>
                <a:ea typeface="Calibri" pitchFamily="34" charset="-122"/>
                <a:cs typeface="Calibri" pitchFamily="34" charset="-120"/>
              </a:rPr>
              <a:t>Comment répondre exactement aux questions, en se fondant uniquement sur la documentation validée par la Fondation ?</a:t>
            </a:r>
            <a:endParaRPr lang="en-US" sz="1150" dirty="0"/>
          </a:p>
        </p:txBody>
      </p:sp>
      <p:sp>
        <p:nvSpPr>
          <p:cNvPr id="23" name="p_c3"/>
          <p:cNvSpPr/>
          <p:nvPr/>
        </p:nvSpPr>
        <p:spPr>
          <a:xfrm>
            <a:off x="9029471" y="3429000"/>
            <a:ext cx="2522144" cy="2423160"/>
          </a:xfrm>
          <a:prstGeom prst="roundRect">
            <a:avLst>
              <a:gd name="adj" fmla="val 226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4" name="Shape 22"/>
          <p:cNvSpPr/>
          <p:nvPr/>
        </p:nvSpPr>
        <p:spPr>
          <a:xfrm>
            <a:off x="9285503" y="3639312"/>
            <a:ext cx="475488" cy="475488"/>
          </a:xfrm>
          <a:prstGeom prst="roundRect">
            <a:avLst>
              <a:gd name="adj" fmla="val 67308"/>
            </a:avLst>
          </a:prstGeom>
          <a:solidFill>
            <a:srgbClr val="0E6B4F"/>
          </a:solidFill>
          <a:ln w="12700">
            <a:solidFill>
              <a:srgbClr val="25B98C"/>
            </a:solidFill>
            <a:prstDash val="solid"/>
          </a:ln>
        </p:spPr>
      </p:sp>
      <p:sp>
        <p:nvSpPr>
          <p:cNvPr id="25" name="Text 23"/>
          <p:cNvSpPr txBox="1"/>
          <p:nvPr/>
        </p:nvSpPr>
        <p:spPr>
          <a:xfrm>
            <a:off x="9285503" y="3639312"/>
            <a:ext cx="475488" cy="475488"/>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Q4</a:t>
            </a:r>
            <a:endParaRPr lang="en-US" sz="1200" dirty="0"/>
          </a:p>
        </p:txBody>
      </p:sp>
      <p:sp>
        <p:nvSpPr>
          <p:cNvPr id="26" name="Text 24"/>
          <p:cNvSpPr txBox="1"/>
          <p:nvPr/>
        </p:nvSpPr>
        <p:spPr>
          <a:xfrm>
            <a:off x="9870719" y="3657600"/>
            <a:ext cx="1424864" cy="411480"/>
          </a:xfrm>
          <a:prstGeom prst="rect">
            <a:avLst/>
          </a:prstGeom>
          <a:noFill/>
          <a:ln/>
        </p:spPr>
        <p:txBody>
          <a:bodyPr wrap="square" lIns="0" tIns="0" rIns="0" bIns="0" rtlCol="0" anchor="ctr"/>
          <a:lstStyle/>
          <a:p>
            <a:pPr indent="0" marL="0">
              <a:buNone/>
            </a:pPr>
            <a:r>
              <a:rPr lang="en-US" sz="1200" b="1" spc="160" kern="0" dirty="0">
                <a:solidFill>
                  <a:srgbClr val="D4A62A"/>
                </a:solidFill>
                <a:latin typeface="Calibri" pitchFamily="34" charset="0"/>
                <a:ea typeface="Calibri" pitchFamily="34" charset="-122"/>
                <a:cs typeface="Calibri" pitchFamily="34" charset="-120"/>
              </a:rPr>
              <a:t>ACCUEILLIR</a:t>
            </a:r>
            <a:endParaRPr lang="en-US" sz="1200" dirty="0"/>
          </a:p>
        </p:txBody>
      </p:sp>
      <p:sp>
        <p:nvSpPr>
          <p:cNvPr id="27" name="Text 25"/>
          <p:cNvSpPr txBox="1"/>
          <p:nvPr/>
        </p:nvSpPr>
        <p:spPr>
          <a:xfrm>
            <a:off x="9285503" y="4279392"/>
            <a:ext cx="2010080" cy="1371600"/>
          </a:xfrm>
          <a:prstGeom prst="rect">
            <a:avLst/>
          </a:prstGeom>
          <a:noFill/>
          <a:ln/>
        </p:spPr>
        <p:txBody>
          <a:bodyPr wrap="square" lIns="0" tIns="0" rIns="0" bIns="0" rtlCol="0" anchor="ctr"/>
          <a:lstStyle/>
          <a:p>
            <a:pPr indent="0" marL="0">
              <a:lnSpc>
                <a:spcPts val="1600"/>
              </a:lnSpc>
              <a:buNone/>
            </a:pPr>
            <a:r>
              <a:rPr lang="en-US" sz="1150" dirty="0">
                <a:solidFill>
                  <a:srgbClr val="F4F1E9"/>
                </a:solidFill>
                <a:latin typeface="Calibri" pitchFamily="34" charset="0"/>
                <a:ea typeface="Calibri" pitchFamily="34" charset="-122"/>
                <a:cs typeface="Calibri" pitchFamily="34" charset="-120"/>
              </a:rPr>
              <a:t>Comment construire l’architecture pour accueillir de nouvelles institutions sans tout reconstruire ?</a:t>
            </a:r>
            <a:endParaRPr lang="en-US" sz="1150" dirty="0"/>
          </a:p>
        </p:txBody>
      </p:sp>
      <p:sp>
        <p:nvSpPr>
          <p:cNvPr id="28" name="Text 2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9" name="Text 2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7</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28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anim calcmode="lin" valueType="num">
                                      <p:cBhvr additive="base">
                                        <p:cTn id="16" dur="500" fill="hold"/>
                                        <p:tgtEl>
                                          <p:spTgt spid="8"/>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7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anim calcmode="lin" valueType="num">
                                      <p:cBhvr additive="base">
                                        <p:cTn id="20" dur="500" fill="hold"/>
                                        <p:tgtEl>
                                          <p:spTgt spid="13"/>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85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anim calcmode="lin" valueType="num">
                                      <p:cBhvr additive="base">
                                        <p:cTn id="24" dur="500" fill="hold"/>
                                        <p:tgtEl>
                                          <p:spTgt spid="18"/>
                                        </p:tgtEl>
                                        <p:attrNameLst>
                                          <p:attrName>ppt_y</p:attrName>
                                        </p:attrNameLst>
                                      </p:cBhvr>
                                      <p:tavLst>
                                        <p:tav tm="0">
                                          <p:val>
                                            <p:strVal val="#ppt_y+.035"/>
                                          </p:val>
                                        </p:tav>
                                        <p:tav tm="100000">
                                          <p:val>
                                            <p:strVal val="#ppt_y"/>
                                          </p:val>
                                        </p:tav>
                                      </p:tavLst>
                                    </p:anim>
                                  </p:childTnLst>
                                </p:cTn>
                              </p:par>
                              <p:par>
                                <p:cTn id="25" presetID="42" presetClass="entr" presetSubtype="8" fill="hold" grpId="0" nodeType="withEffect">
                                  <p:stCondLst>
                                    <p:cond delay="100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anim calcmode="lin" valueType="num">
                                      <p:cBhvr additive="base">
                                        <p:cTn id="28" dur="500" fill="hold"/>
                                        <p:tgtEl>
                                          <p:spTgt spid="2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8">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HYPOTHÈSES ET OBJECTIFS</a:t>
            </a:r>
            <a:endParaRPr lang="en-US" sz="1100" dirty="0"/>
          </a:p>
        </p:txBody>
      </p:sp>
      <p:sp>
        <p:nvSpPr>
          <p:cNvPr id="3" name="h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100" b="1" dirty="0">
                <a:solidFill>
                  <a:srgbClr val="F4F1E9"/>
                </a:solidFill>
                <a:latin typeface="Cambria" pitchFamily="34" charset="0"/>
                <a:ea typeface="Cambria" pitchFamily="34" charset="-122"/>
                <a:cs typeface="Cambria" pitchFamily="34" charset="-120"/>
              </a:rPr>
              <a:t>Quatre questions, quatre hypothèses, quatre objectifs</a:t>
            </a:r>
            <a:endParaRPr lang="en-US" sz="3100" dirty="0"/>
          </a:p>
        </p:txBody>
      </p:sp>
      <p:sp>
        <p:nvSpPr>
          <p:cNvPr id="4" name="h_g"/>
          <p:cNvSpPr/>
          <p:nvPr/>
        </p:nvSpPr>
        <p:spPr>
          <a:xfrm>
            <a:off x="640080" y="1645920"/>
            <a:ext cx="10911535" cy="868680"/>
          </a:xfrm>
          <a:prstGeom prst="roundRect">
            <a:avLst>
              <a:gd name="adj" fmla="val 6316"/>
            </a:avLst>
          </a:prstGeom>
          <a:solidFill>
            <a:srgbClr val="0D231C"/>
          </a:solidFill>
          <a:ln w="12700">
            <a:solidFill>
              <a:srgbClr val="0E6B4F"/>
            </a:solidFill>
            <a:prstDash val="solid"/>
          </a:ln>
          <a:effectLst>
            <a:outerShdw sx="100000" sy="100000" kx="0" ky="0" algn="bl" rotWithShape="0" blurRad="203200" dist="63500" dir="5400000">
              <a:srgbClr val="000000">
                <a:alpha val="40000"/>
              </a:srgbClr>
            </a:outerShdw>
          </a:effectLst>
        </p:spPr>
      </p:sp>
      <p:sp>
        <p:nvSpPr>
          <p:cNvPr id="5" name="Text 3"/>
          <p:cNvSpPr txBox="1"/>
          <p:nvPr/>
        </p:nvSpPr>
        <p:spPr>
          <a:xfrm>
            <a:off x="914400" y="1801368"/>
            <a:ext cx="10362895" cy="566928"/>
          </a:xfrm>
          <a:prstGeom prst="rect">
            <a:avLst/>
          </a:prstGeom>
          <a:noFill/>
          <a:ln/>
        </p:spPr>
        <p:txBody>
          <a:bodyPr wrap="square" lIns="0" tIns="0" rIns="0" bIns="0" rtlCol="0" anchor="ctr"/>
          <a:lstStyle/>
          <a:p>
            <a:pPr indent="0" marL="0">
              <a:lnSpc>
                <a:spcPts val="1700"/>
              </a:lnSpc>
              <a:buNone/>
            </a:pPr>
            <a:r>
              <a:rPr lang="en-US" sz="1050" b="1" spc="160" kern="0" dirty="0">
                <a:solidFill>
                  <a:srgbClr val="D4A62A"/>
                </a:solidFill>
                <a:latin typeface="Calibri" pitchFamily="34" charset="0"/>
                <a:ea typeface="Calibri" pitchFamily="34" charset="-122"/>
                <a:cs typeface="Calibri" pitchFamily="34" charset="-120"/>
              </a:rPr>
              <a:t>HYPOTHÈSE GÉNÉRALE   </a:t>
            </a:r>
            <a:pPr indent="0" marL="0">
              <a:lnSpc>
                <a:spcPts val="1700"/>
              </a:lnSpc>
              <a:buNone/>
            </a:pPr>
            <a:r>
              <a:rPr lang="en-US" sz="1250" dirty="0">
                <a:solidFill>
                  <a:srgbClr val="F4F1E9"/>
                </a:solidFill>
                <a:latin typeface="Calibri" pitchFamily="34" charset="0"/>
                <a:ea typeface="Calibri" pitchFamily="34" charset="-122"/>
                <a:cs typeface="Calibri" pitchFamily="34" charset="-120"/>
              </a:rPr>
              <a:t>Une plateforme unifiée réunissant la restitution en 3D, le rapprochement avec les collections ouvertes, un assistant ancré sur la documentation et une architecture isolant les données de chaque organisation permet de restituer à distance l’essentiel de l’expérience de visite.</a:t>
            </a:r>
            <a:endParaRPr lang="en-US" sz="1050" dirty="0"/>
          </a:p>
        </p:txBody>
      </p:sp>
      <p:graphicFrame>
        <p:nvGraphicFramePr>
          <p:cNvPr id="6" name="h_tab"/>
          <p:cNvGraphicFramePr>
            <a:graphicFrameLocks noGrp="1"/>
          </p:cNvGraphicFramePr>
          <p:nvPr>
            <p:extLst>
              <p:ext uri="{D42A27DB-BD31-4B8C-83A1-F6EECF244321}">
                <p14:modId xmlns:p14="http://schemas.microsoft.com/office/powerpoint/2010/main" val="1579011935"/>
              </p:ext>
            </p:extLst>
          </p:nvPr>
        </p:nvGraphicFramePr>
        <p:xfrm>
          <a:off x="640080" y="2697480"/>
          <a:ext cx="10911535" cy="914400"/>
        </p:xfrm>
        <a:graphic>
          <a:graphicData uri="http://schemas.openxmlformats.org/drawingml/2006/table">
            <a:tbl>
              <a:tblPr/>
              <a:tblGrid>
                <a:gridCol w="3108960"/>
                <a:gridCol w="4023360"/>
                <a:gridCol w="3779215"/>
              </a:tblGrid>
              <a:tr h="310896">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Question spécifique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Hypothèse spécifique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Objectif spécifique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r>
              <a:tr h="731520">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1. Représenter les espaces et les œuvres autrement que par la photographie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Les panoramas 360° reliés, la 3D et la réalité augmentée procurent une perception des volumes et des dimensions que la photographie plate ne permet pas</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Reproduire les espaces en vues 360° reliées et présenter les œuvres en volume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731520">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2. Relier les inventaires à ceux d’autres institutions</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Le rapprochement automatique des notices avec les collections ouvertes identifie des œuvres apparentées et enrichit la valeur documentaire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Rechercher les objets proches dans les catalogues ouverts et les faire valider par le conservateur</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731520">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3. Répondre exactement, sur la seule documentation validée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Un assistant construit sur les seuls documents validés répond plus exactement et réduit le risque d’affirmations inventées</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Concevoir un assistant qui cite ses sources et reconnaît son ignorance plutôt que d’inventer</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731520">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4. Accueillir d’autres institutions sans tout reconstruire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Une architecture qui isole les données dès la base accueille une organisation sans modifier le code ni compromettre la confidentialité</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050" dirty="0">
                          <a:solidFill>
                            <a:srgbClr val="F4F1E9"/>
                          </a:solidFill>
                          <a:latin typeface="Calibri" pitchFamily="34" charset="0"/>
                          <a:ea typeface="Calibri" pitchFamily="34" charset="-122"/>
                          <a:cs typeface="Calibri" pitchFamily="34" charset="-120"/>
                        </a:rPr>
                        <a:t>Permettre à une institution de s’inscrire, d’obtenir son espace et de gérer ses collections sans voir celles des autres</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bl>
          </a:graphicData>
        </a:graphic>
      </p:graphicFrame>
      <p:sp>
        <p:nvSpPr>
          <p:cNvPr id="7" name="Text 4"/>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8" name="Text 5"/>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8</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26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anim calcmode="lin" valueType="num">
                                      <p:cBhvr additive="base">
                                        <p:cTn id="12" dur="500" fill="hold"/>
                                        <p:tgtEl>
                                          <p:spTgt spid="4"/>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42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anim calcmode="lin" valueType="num">
                                      <p:cBhvr additive="base">
                                        <p:cTn id="16" dur="600" fill="hold"/>
                                        <p:tgtEl>
                                          <p:spTgt spid="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9">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9875520" y="-1463040"/>
            <a:ext cx="5120640" cy="5120640"/>
          </a:xfrm>
          <a:prstGeom prst="ellipse">
            <a:avLst/>
          </a:prstGeom>
          <a:solidFill>
            <a:srgbClr val="0E6B4F">
              <a:alpha val="8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MÉTHODOLOGIE DE L’ÉTUDE</a:t>
            </a:r>
            <a:endParaRPr lang="en-US" sz="1100" dirty="0"/>
          </a:p>
        </p:txBody>
      </p:sp>
      <p:sp>
        <p:nvSpPr>
          <p:cNvPr id="4" name="m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200" b="1" dirty="0">
                <a:solidFill>
                  <a:srgbClr val="F4F1E9"/>
                </a:solidFill>
                <a:latin typeface="Cambria" pitchFamily="34" charset="0"/>
                <a:ea typeface="Cambria" pitchFamily="34" charset="-122"/>
                <a:cs typeface="Cambria" pitchFamily="34" charset="-120"/>
              </a:rPr>
              <a:t>Une recherche interactive, de niveau intégrateur</a:t>
            </a:r>
            <a:endParaRPr lang="en-US" sz="3200" dirty="0"/>
          </a:p>
        </p:txBody>
      </p:sp>
      <p:sp>
        <p:nvSpPr>
          <p:cNvPr id="5" name="m_k"/>
          <p:cNvSpPr txBox="1"/>
          <p:nvPr/>
        </p:nvSpPr>
        <p:spPr>
          <a:xfrm>
            <a:off x="640080" y="1627632"/>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La Fondation n’attendait pas un diagnostic : elle attendait un outil. Le niveau de recherche découle de la commande.</a:t>
            </a:r>
            <a:endParaRPr lang="en-US" sz="1450" dirty="0"/>
          </a:p>
        </p:txBody>
      </p:sp>
      <p:sp>
        <p:nvSpPr>
          <p:cNvPr id="6" name="m_c0"/>
          <p:cNvSpPr/>
          <p:nvPr/>
        </p:nvSpPr>
        <p:spPr>
          <a:xfrm>
            <a:off x="640080" y="2286000"/>
            <a:ext cx="2522144" cy="361188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7" name="Shape 5"/>
          <p:cNvSpPr/>
          <p:nvPr/>
        </p:nvSpPr>
        <p:spPr>
          <a:xfrm>
            <a:off x="896112" y="2505456"/>
            <a:ext cx="457200" cy="457200"/>
          </a:xfrm>
          <a:prstGeom prst="roundRect">
            <a:avLst>
              <a:gd name="adj" fmla="val 70000"/>
            </a:avLst>
          </a:prstGeom>
          <a:solidFill>
            <a:srgbClr val="0E6B4F"/>
          </a:solidFill>
          <a:ln w="12700">
            <a:solidFill>
              <a:srgbClr val="25B98C"/>
            </a:solidFill>
            <a:prstDash val="solid"/>
          </a:ln>
        </p:spPr>
      </p:sp>
      <p:sp>
        <p:nvSpPr>
          <p:cNvPr id="8" name="Text 6"/>
          <p:cNvSpPr txBox="1"/>
          <p:nvPr/>
        </p:nvSpPr>
        <p:spPr>
          <a:xfrm>
            <a:off x="896112" y="250545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1</a:t>
            </a:r>
            <a:endParaRPr lang="en-US" sz="1300" dirty="0"/>
          </a:p>
        </p:txBody>
      </p:sp>
      <p:sp>
        <p:nvSpPr>
          <p:cNvPr id="9" name="Text 7"/>
          <p:cNvSpPr txBox="1"/>
          <p:nvPr/>
        </p:nvSpPr>
        <p:spPr>
          <a:xfrm>
            <a:off x="1463040" y="2523744"/>
            <a:ext cx="1516304" cy="411480"/>
          </a:xfrm>
          <a:prstGeom prst="rect">
            <a:avLst/>
          </a:prstGeom>
          <a:noFill/>
          <a:ln/>
        </p:spPr>
        <p:txBody>
          <a:bodyPr wrap="square" lIns="0" tIns="0" rIns="0" bIns="0" rtlCol="0" anchor="ctr"/>
          <a:lstStyle/>
          <a:p>
            <a:pPr indent="0" marL="0">
              <a:buNone/>
            </a:pPr>
            <a:r>
              <a:rPr lang="en-US" sz="1150" b="1" spc="160" kern="0" dirty="0">
                <a:solidFill>
                  <a:srgbClr val="D4A62A"/>
                </a:solidFill>
                <a:latin typeface="Calibri" pitchFamily="34" charset="0"/>
                <a:ea typeface="Calibri" pitchFamily="34" charset="-122"/>
                <a:cs typeface="Calibri" pitchFamily="34" charset="-120"/>
              </a:rPr>
              <a:t>NATURE</a:t>
            </a:r>
            <a:endParaRPr lang="en-US" sz="1150" dirty="0"/>
          </a:p>
        </p:txBody>
      </p:sp>
      <p:sp>
        <p:nvSpPr>
          <p:cNvPr id="10" name="Text 8"/>
          <p:cNvSpPr txBox="1"/>
          <p:nvPr/>
        </p:nvSpPr>
        <p:spPr>
          <a:xfrm>
            <a:off x="914400" y="3108960"/>
            <a:ext cx="1973504" cy="265176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Niveau intégrateur : intervention sur le réel</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Recherche interactive (recherche par la conception, Hevner et al., 2004)</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Approche mixte, qualitative et quantitative</a:t>
            </a:r>
            <a:endParaRPr lang="en-US" sz="1100" dirty="0"/>
          </a:p>
        </p:txBody>
      </p:sp>
      <p:sp>
        <p:nvSpPr>
          <p:cNvPr id="11" name="m_c1"/>
          <p:cNvSpPr/>
          <p:nvPr/>
        </p:nvSpPr>
        <p:spPr>
          <a:xfrm>
            <a:off x="3436544" y="2286000"/>
            <a:ext cx="2522144" cy="361188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Shape 10"/>
          <p:cNvSpPr/>
          <p:nvPr/>
        </p:nvSpPr>
        <p:spPr>
          <a:xfrm>
            <a:off x="3692576" y="2505456"/>
            <a:ext cx="457200" cy="457200"/>
          </a:xfrm>
          <a:prstGeom prst="roundRect">
            <a:avLst>
              <a:gd name="adj" fmla="val 70000"/>
            </a:avLst>
          </a:prstGeom>
          <a:solidFill>
            <a:srgbClr val="0E6B4F"/>
          </a:solidFill>
          <a:ln w="12700">
            <a:solidFill>
              <a:srgbClr val="25B98C"/>
            </a:solidFill>
            <a:prstDash val="solid"/>
          </a:ln>
        </p:spPr>
      </p:sp>
      <p:sp>
        <p:nvSpPr>
          <p:cNvPr id="13" name="Text 11"/>
          <p:cNvSpPr txBox="1"/>
          <p:nvPr/>
        </p:nvSpPr>
        <p:spPr>
          <a:xfrm>
            <a:off x="3692576" y="250545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2</a:t>
            </a:r>
            <a:endParaRPr lang="en-US" sz="1300" dirty="0"/>
          </a:p>
        </p:txBody>
      </p:sp>
      <p:sp>
        <p:nvSpPr>
          <p:cNvPr id="14" name="Text 12"/>
          <p:cNvSpPr txBox="1"/>
          <p:nvPr/>
        </p:nvSpPr>
        <p:spPr>
          <a:xfrm>
            <a:off x="4259504" y="2523744"/>
            <a:ext cx="1516304" cy="411480"/>
          </a:xfrm>
          <a:prstGeom prst="rect">
            <a:avLst/>
          </a:prstGeom>
          <a:noFill/>
          <a:ln/>
        </p:spPr>
        <p:txBody>
          <a:bodyPr wrap="square" lIns="0" tIns="0" rIns="0" bIns="0" rtlCol="0" anchor="ctr"/>
          <a:lstStyle/>
          <a:p>
            <a:pPr indent="0" marL="0">
              <a:buNone/>
            </a:pPr>
            <a:r>
              <a:rPr lang="en-US" sz="1150" b="1" spc="160" kern="0" dirty="0">
                <a:solidFill>
                  <a:srgbClr val="D4A62A"/>
                </a:solidFill>
                <a:latin typeface="Calibri" pitchFamily="34" charset="0"/>
                <a:ea typeface="Calibri" pitchFamily="34" charset="-122"/>
                <a:cs typeface="Calibri" pitchFamily="34" charset="-120"/>
              </a:rPr>
              <a:t>COLLECTE</a:t>
            </a:r>
            <a:endParaRPr lang="en-US" sz="1150" dirty="0"/>
          </a:p>
        </p:txBody>
      </p:sp>
      <p:sp>
        <p:nvSpPr>
          <p:cNvPr id="15" name="Text 13"/>
          <p:cNvSpPr txBox="1"/>
          <p:nvPr/>
        </p:nvSpPr>
        <p:spPr>
          <a:xfrm>
            <a:off x="3710864" y="3108960"/>
            <a:ext cx="1973504" cy="265176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Guide d’entretien semi-directif — 6 membres du personnel, choix raisonné</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Questionnaire — 42 visiteurs, convenance, 18 questions fermées</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Grille d’observation des visites guidées</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Fiche documentaire : notices, inventaires, littérature</a:t>
            </a:r>
            <a:endParaRPr lang="en-US" sz="1100" dirty="0"/>
          </a:p>
        </p:txBody>
      </p:sp>
      <p:sp>
        <p:nvSpPr>
          <p:cNvPr id="16" name="m_c2"/>
          <p:cNvSpPr/>
          <p:nvPr/>
        </p:nvSpPr>
        <p:spPr>
          <a:xfrm>
            <a:off x="6233008" y="2286000"/>
            <a:ext cx="2522144" cy="361188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7" name="Shape 15"/>
          <p:cNvSpPr/>
          <p:nvPr/>
        </p:nvSpPr>
        <p:spPr>
          <a:xfrm>
            <a:off x="6489040" y="2505456"/>
            <a:ext cx="457200" cy="457200"/>
          </a:xfrm>
          <a:prstGeom prst="roundRect">
            <a:avLst>
              <a:gd name="adj" fmla="val 70000"/>
            </a:avLst>
          </a:prstGeom>
          <a:solidFill>
            <a:srgbClr val="0E6B4F"/>
          </a:solidFill>
          <a:ln w="12700">
            <a:solidFill>
              <a:srgbClr val="25B98C"/>
            </a:solidFill>
            <a:prstDash val="solid"/>
          </a:ln>
        </p:spPr>
      </p:sp>
      <p:sp>
        <p:nvSpPr>
          <p:cNvPr id="18" name="Text 16"/>
          <p:cNvSpPr txBox="1"/>
          <p:nvPr/>
        </p:nvSpPr>
        <p:spPr>
          <a:xfrm>
            <a:off x="6489040" y="250545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3</a:t>
            </a:r>
            <a:endParaRPr lang="en-US" sz="1300" dirty="0"/>
          </a:p>
        </p:txBody>
      </p:sp>
      <p:sp>
        <p:nvSpPr>
          <p:cNvPr id="19" name="Text 17"/>
          <p:cNvSpPr txBox="1"/>
          <p:nvPr/>
        </p:nvSpPr>
        <p:spPr>
          <a:xfrm>
            <a:off x="7055968" y="2523744"/>
            <a:ext cx="1516304" cy="411480"/>
          </a:xfrm>
          <a:prstGeom prst="rect">
            <a:avLst/>
          </a:prstGeom>
          <a:noFill/>
          <a:ln/>
        </p:spPr>
        <p:txBody>
          <a:bodyPr wrap="square" lIns="0" tIns="0" rIns="0" bIns="0" rtlCol="0" anchor="ctr"/>
          <a:lstStyle/>
          <a:p>
            <a:pPr indent="0" marL="0">
              <a:buNone/>
            </a:pPr>
            <a:r>
              <a:rPr lang="en-US" sz="1150" b="1" spc="160" kern="0" dirty="0">
                <a:solidFill>
                  <a:srgbClr val="D4A62A"/>
                </a:solidFill>
                <a:latin typeface="Calibri" pitchFamily="34" charset="0"/>
                <a:ea typeface="Calibri" pitchFamily="34" charset="-122"/>
                <a:cs typeface="Calibri" pitchFamily="34" charset="-120"/>
              </a:rPr>
              <a:t>ANALYSE</a:t>
            </a:r>
            <a:endParaRPr lang="en-US" sz="1150" dirty="0"/>
          </a:p>
        </p:txBody>
      </p:sp>
      <p:sp>
        <p:nvSpPr>
          <p:cNvPr id="20" name="Text 18"/>
          <p:cNvSpPr txBox="1"/>
          <p:nvPr/>
        </p:nvSpPr>
        <p:spPr>
          <a:xfrm>
            <a:off x="6507328" y="3108960"/>
            <a:ext cx="1973504" cy="265176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Analyse thématique de contenu pour les entretiens</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Tris à plat et croisés pour le questionnaire</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Mesures relevées sur le système en service et sur ses journaux</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Chaque indicateur porte son statut : mesuré ou non mesuré</a:t>
            </a:r>
            <a:endParaRPr lang="en-US" sz="1100" dirty="0"/>
          </a:p>
        </p:txBody>
      </p:sp>
      <p:sp>
        <p:nvSpPr>
          <p:cNvPr id="21" name="m_c3"/>
          <p:cNvSpPr/>
          <p:nvPr/>
        </p:nvSpPr>
        <p:spPr>
          <a:xfrm>
            <a:off x="9029471" y="2286000"/>
            <a:ext cx="2522144" cy="361188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2" name="Shape 20"/>
          <p:cNvSpPr/>
          <p:nvPr/>
        </p:nvSpPr>
        <p:spPr>
          <a:xfrm>
            <a:off x="9285503" y="2505456"/>
            <a:ext cx="457200" cy="457200"/>
          </a:xfrm>
          <a:prstGeom prst="roundRect">
            <a:avLst>
              <a:gd name="adj" fmla="val 70000"/>
            </a:avLst>
          </a:prstGeom>
          <a:solidFill>
            <a:srgbClr val="0E6B4F"/>
          </a:solidFill>
          <a:ln w="12700">
            <a:solidFill>
              <a:srgbClr val="25B98C"/>
            </a:solidFill>
            <a:prstDash val="solid"/>
          </a:ln>
        </p:spPr>
      </p:sp>
      <p:sp>
        <p:nvSpPr>
          <p:cNvPr id="23" name="Text 21"/>
          <p:cNvSpPr txBox="1"/>
          <p:nvPr/>
        </p:nvSpPr>
        <p:spPr>
          <a:xfrm>
            <a:off x="9285503" y="250545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4</a:t>
            </a:r>
            <a:endParaRPr lang="en-US" sz="1300" dirty="0"/>
          </a:p>
        </p:txBody>
      </p:sp>
      <p:sp>
        <p:nvSpPr>
          <p:cNvPr id="24" name="Text 22"/>
          <p:cNvSpPr txBox="1"/>
          <p:nvPr/>
        </p:nvSpPr>
        <p:spPr>
          <a:xfrm>
            <a:off x="9852431" y="2523744"/>
            <a:ext cx="1516304" cy="411480"/>
          </a:xfrm>
          <a:prstGeom prst="rect">
            <a:avLst/>
          </a:prstGeom>
          <a:noFill/>
          <a:ln/>
        </p:spPr>
        <p:txBody>
          <a:bodyPr wrap="square" lIns="0" tIns="0" rIns="0" bIns="0" rtlCol="0" anchor="ctr"/>
          <a:lstStyle/>
          <a:p>
            <a:pPr indent="0" marL="0">
              <a:buNone/>
            </a:pPr>
            <a:r>
              <a:rPr lang="en-US" sz="1150" b="1" spc="160" kern="0" dirty="0">
                <a:solidFill>
                  <a:srgbClr val="D4A62A"/>
                </a:solidFill>
                <a:latin typeface="Calibri" pitchFamily="34" charset="0"/>
                <a:ea typeface="Calibri" pitchFamily="34" charset="-122"/>
                <a:cs typeface="Calibri" pitchFamily="34" charset="-120"/>
              </a:rPr>
              <a:t>CONDUITE DU PROJET</a:t>
            </a:r>
            <a:endParaRPr lang="en-US" sz="1150" dirty="0"/>
          </a:p>
        </p:txBody>
      </p:sp>
      <p:sp>
        <p:nvSpPr>
          <p:cNvPr id="25" name="Text 23"/>
          <p:cNvSpPr txBox="1"/>
          <p:nvPr/>
        </p:nvSpPr>
        <p:spPr>
          <a:xfrm>
            <a:off x="9303791" y="3108960"/>
            <a:ext cx="1973504" cy="265176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Contrôle de version de tout le projet, infrastructure comprise</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Intégration continue à chaque dépôt de modification</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Déploiement continu, puis vérification du site en ligne</a:t>
            </a:r>
            <a:endParaRPr lang="en-US" sz="1100" dirty="0"/>
          </a:p>
          <a:p>
            <a:pPr marL="342900" indent="-342900">
              <a:lnSpc>
                <a:spcPts val="1500"/>
              </a:lnSpc>
              <a:spcAft>
                <a:spcPts val="800"/>
              </a:spcAft>
              <a:buSzPct val="100000"/>
              <a:buChar char="•"/>
            </a:pPr>
            <a:r>
              <a:rPr lang="en-US" sz="1100" dirty="0">
                <a:solidFill>
                  <a:srgbClr val="F4F1E9"/>
                </a:solidFill>
                <a:latin typeface="Calibri" pitchFamily="34" charset="0"/>
                <a:ea typeface="Calibri" pitchFamily="34" charset="-122"/>
                <a:cs typeface="Calibri" pitchFamily="34" charset="-120"/>
              </a:rPr>
              <a:t>Infrastructure décrite par le code</a:t>
            </a:r>
            <a:endParaRPr lang="en-US" sz="1100" dirty="0"/>
          </a:p>
        </p:txBody>
      </p:sp>
      <p:sp>
        <p:nvSpPr>
          <p:cNvPr id="26" name="Text 24"/>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7" name="Text 25"/>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9</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4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entr" presetSubtype="8" fill="hold" grpId="0" nodeType="withEffect">
                                  <p:stCondLst>
                                    <p:cond delay="4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additive="base">
                                        <p:cTn id="15" dur="500" fill="hold"/>
                                        <p:tgtEl>
                                          <p:spTgt spid="6"/>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57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additive="base">
                                        <p:cTn id="19" dur="500" fill="hold"/>
                                        <p:tgtEl>
                                          <p:spTgt spid="11"/>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72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anim calcmode="lin" valueType="num">
                                      <p:cBhvr additive="base">
                                        <p:cTn id="23" dur="500" fill="hold"/>
                                        <p:tgtEl>
                                          <p:spTgt spid="16"/>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87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anim calcmode="lin" valueType="num">
                                      <p:cBhvr additive="base">
                                        <p:cTn id="27" dur="500" fill="hold"/>
                                        <p:tgtEl>
                                          <p:spTgt spid="21"/>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0">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194560" y="2011680"/>
            <a:ext cx="6858000" cy="6858000"/>
          </a:xfrm>
          <a:prstGeom prst="ellipse">
            <a:avLst/>
          </a:prstGeom>
          <a:solidFill>
            <a:srgbClr val="0E6B4F">
              <a:alpha val="12000"/>
            </a:srgbClr>
          </a:solidFill>
          <a:ln/>
        </p:spPr>
      </p:sp>
      <p:sp>
        <p:nvSpPr>
          <p:cNvPr id="3" name="Shape 1"/>
          <p:cNvSpPr/>
          <p:nvPr/>
        </p:nvSpPr>
        <p:spPr>
          <a:xfrm>
            <a:off x="9326880" y="-1828800"/>
            <a:ext cx="5943600" cy="5943600"/>
          </a:xfrm>
          <a:prstGeom prst="ellipse">
            <a:avLst/>
          </a:prstGeom>
          <a:solidFill>
            <a:srgbClr val="D4A62A">
              <a:alpha val="6000"/>
            </a:srgbClr>
          </a:solidFill>
          <a:ln/>
        </p:spPr>
      </p:sp>
      <p:sp>
        <p:nvSpPr>
          <p:cNvPr id="4" name="!!num2b"/>
          <p:cNvSpPr/>
          <p:nvPr/>
        </p:nvSpPr>
        <p:spPr>
          <a:xfrm>
            <a:off x="1051560" y="2331720"/>
            <a:ext cx="2194560" cy="2194560"/>
          </a:xfrm>
          <a:prstGeom prst="roundRect">
            <a:avLst>
              <a:gd name="adj" fmla="val 14583"/>
            </a:avLst>
          </a:prstGeom>
          <a:solidFill>
            <a:srgbClr val="0E6B4F"/>
          </a:solidFill>
          <a:ln w="12700">
            <a:solidFill>
              <a:srgbClr val="25B98C"/>
            </a:solidFill>
            <a:prstDash val="solid"/>
          </a:ln>
        </p:spPr>
      </p:sp>
      <p:sp>
        <p:nvSpPr>
          <p:cNvPr id="5" name="!!num2"/>
          <p:cNvSpPr txBox="1"/>
          <p:nvPr/>
        </p:nvSpPr>
        <p:spPr>
          <a:xfrm>
            <a:off x="1051560" y="2331720"/>
            <a:ext cx="2194560" cy="2194560"/>
          </a:xfrm>
          <a:prstGeom prst="rect">
            <a:avLst/>
          </a:prstGeom>
          <a:noFill/>
          <a:ln/>
        </p:spPr>
        <p:txBody>
          <a:bodyPr wrap="square" lIns="0" tIns="0" rIns="0" bIns="0" rtlCol="0" anchor="ctr"/>
          <a:lstStyle/>
          <a:p>
            <a:pPr algn="ctr" indent="0" marL="0">
              <a:buNone/>
            </a:pPr>
            <a:r>
              <a:rPr lang="en-US" sz="6600" b="1" dirty="0">
                <a:solidFill>
                  <a:srgbClr val="F0D68A"/>
                </a:solidFill>
                <a:latin typeface="Cambria" pitchFamily="34" charset="0"/>
                <a:ea typeface="Cambria" pitchFamily="34" charset="-122"/>
                <a:cs typeface="Cambria" pitchFamily="34" charset="-120"/>
              </a:rPr>
              <a:t>II</a:t>
            </a:r>
            <a:endParaRPr lang="en-US" sz="6600" dirty="0"/>
          </a:p>
        </p:txBody>
      </p:sp>
      <p:sp>
        <p:nvSpPr>
          <p:cNvPr id="6" name="!!sec2"/>
          <p:cNvSpPr txBox="1"/>
          <p:nvPr/>
        </p:nvSpPr>
        <p:spPr>
          <a:xfrm>
            <a:off x="3977640" y="2606040"/>
            <a:ext cx="7589520" cy="914400"/>
          </a:xfrm>
          <a:prstGeom prst="rect">
            <a:avLst/>
          </a:prstGeom>
          <a:noFill/>
          <a:ln/>
        </p:spPr>
        <p:txBody>
          <a:bodyPr wrap="square" lIns="0" tIns="0" rIns="0" bIns="0" rtlCol="0" anchor="ctr"/>
          <a:lstStyle/>
          <a:p>
            <a:pPr indent="0" marL="0">
              <a:buNone/>
            </a:pPr>
            <a:r>
              <a:rPr lang="en-US" sz="4000" b="1" dirty="0">
                <a:solidFill>
                  <a:srgbClr val="F4F1E9"/>
                </a:solidFill>
                <a:latin typeface="Cambria" pitchFamily="34" charset="0"/>
                <a:ea typeface="Cambria" pitchFamily="34" charset="-122"/>
                <a:cs typeface="Cambria" pitchFamily="34" charset="-120"/>
              </a:rPr>
              <a:t>LA SOLUTION</a:t>
            </a:r>
            <a:endParaRPr lang="en-US" sz="4000" dirty="0"/>
          </a:p>
        </p:txBody>
      </p:sp>
      <p:sp>
        <p:nvSpPr>
          <p:cNvPr id="7" name="Text 5"/>
          <p:cNvSpPr txBox="1"/>
          <p:nvPr/>
        </p:nvSpPr>
        <p:spPr>
          <a:xfrm>
            <a:off x="4023360" y="3611880"/>
            <a:ext cx="7498080" cy="548640"/>
          </a:xfrm>
          <a:prstGeom prst="rect">
            <a:avLst/>
          </a:prstGeom>
          <a:noFill/>
          <a:ln/>
        </p:spPr>
        <p:txBody>
          <a:bodyPr wrap="square" lIns="0" tIns="0" rIns="0" bIns="0" rtlCol="0" anchor="ctr"/>
          <a:lstStyle/>
          <a:p>
            <a:pPr indent="0" marL="0">
              <a:buNone/>
            </a:pPr>
            <a:r>
              <a:rPr lang="en-US" sz="1500" i="1" dirty="0">
                <a:solidFill>
                  <a:srgbClr val="9CB6A9"/>
                </a:solidFill>
                <a:latin typeface="Calibri" pitchFamily="34" charset="0"/>
                <a:ea typeface="Calibri" pitchFamily="34" charset="-122"/>
                <a:cs typeface="Calibri" pitchFamily="34" charset="-120"/>
              </a:rPr>
              <a:t>MUSÉA : une plateforme, vingt fonctionnalités livrées</a:t>
            </a:r>
            <a:endParaRPr lang="en-US" sz="1500" dirty="0"/>
          </a:p>
        </p:txBody>
      </p:sp>
      <p:sp>
        <p:nvSpPr>
          <p:cNvPr id="8" name="Text 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9" name="Text 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1">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011680" y="4023360"/>
            <a:ext cx="5669280" cy="5669280"/>
          </a:xfrm>
          <a:prstGeom prst="ellipse">
            <a:avLst/>
          </a:prstGeom>
          <a:solidFill>
            <a:srgbClr val="0E6B4F">
              <a:alpha val="9000"/>
            </a:srgbClr>
          </a:solidFill>
          <a:ln/>
        </p:spPr>
      </p:sp>
      <p:sp>
        <p:nvSpPr>
          <p:cNvPr id="3" name="!!num2b"/>
          <p:cNvSpPr/>
          <p:nvPr/>
        </p:nvSpPr>
        <p:spPr>
          <a:xfrm>
            <a:off x="640080" y="384048"/>
            <a:ext cx="420624" cy="420624"/>
          </a:xfrm>
          <a:prstGeom prst="roundRect">
            <a:avLst>
              <a:gd name="adj" fmla="val 76087"/>
            </a:avLst>
          </a:prstGeom>
          <a:solidFill>
            <a:srgbClr val="0E6B4F"/>
          </a:solidFill>
          <a:ln w="12700">
            <a:solidFill>
              <a:srgbClr val="25B98C"/>
            </a:solidFill>
            <a:prstDash val="solid"/>
          </a:ln>
        </p:spPr>
      </p:sp>
      <p:sp>
        <p:nvSpPr>
          <p:cNvPr id="4" name="!!num2"/>
          <p:cNvSpPr txBox="1"/>
          <p:nvPr/>
        </p:nvSpPr>
        <p:spPr>
          <a:xfrm>
            <a:off x="640080" y="384048"/>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II</a:t>
            </a:r>
            <a:endParaRPr lang="en-US" sz="1200" dirty="0"/>
          </a:p>
        </p:txBody>
      </p:sp>
      <p:sp>
        <p:nvSpPr>
          <p:cNvPr id="5" name="!!sec2"/>
          <p:cNvSpPr txBox="1"/>
          <p:nvPr/>
        </p:nvSpPr>
        <p:spPr>
          <a:xfrm>
            <a:off x="1207008" y="411480"/>
            <a:ext cx="7315200" cy="365760"/>
          </a:xfrm>
          <a:prstGeom prst="rect">
            <a:avLst/>
          </a:prstGeom>
          <a:noFill/>
          <a:ln/>
        </p:spPr>
        <p:txBody>
          <a:bodyPr wrap="square" lIns="0" tIns="0" rIns="0" bIns="0" rtlCol="0" anchor="ctr"/>
          <a:lstStyle/>
          <a:p>
            <a:pPr indent="0" marL="0">
              <a:buNone/>
            </a:pPr>
            <a:r>
              <a:rPr lang="en-US" sz="1150" b="1" spc="240" kern="0" dirty="0">
                <a:solidFill>
                  <a:srgbClr val="D4A62A"/>
                </a:solidFill>
                <a:latin typeface="Calibri" pitchFamily="34" charset="0"/>
                <a:ea typeface="Calibri" pitchFamily="34" charset="-122"/>
                <a:cs typeface="Calibri" pitchFamily="34" charset="-120"/>
              </a:rPr>
              <a:t>LA SOLUTION</a:t>
            </a:r>
            <a:endParaRPr lang="en-US" sz="1150" dirty="0"/>
          </a:p>
        </p:txBody>
      </p:sp>
      <p:sp>
        <p:nvSpPr>
          <p:cNvPr id="6" name="h11_t"/>
          <p:cNvSpPr txBox="1"/>
          <p:nvPr/>
        </p:nvSpPr>
        <p:spPr>
          <a:xfrm>
            <a:off x="640080" y="1024128"/>
            <a:ext cx="10911535" cy="96012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MUSÉA : quatre ensembles, vingt fonctionnalités livrées</a:t>
            </a:r>
            <a:endParaRPr lang="en-US" sz="3300" dirty="0"/>
          </a:p>
        </p:txBody>
      </p:sp>
      <p:sp>
        <p:nvSpPr>
          <p:cNvPr id="7" name="h11_k"/>
          <p:cNvSpPr txBox="1"/>
          <p:nvPr/>
        </p:nvSpPr>
        <p:spPr>
          <a:xfrm>
            <a:off x="640080" y="2011680"/>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Un seul système : le personnel y gère, le visiteur y entre, l’assistant y puise.</a:t>
            </a:r>
            <a:endParaRPr lang="en-US" sz="1450" dirty="0"/>
          </a:p>
        </p:txBody>
      </p:sp>
      <p:sp>
        <p:nvSpPr>
          <p:cNvPr id="8" name="x_c0"/>
          <p:cNvSpPr/>
          <p:nvPr/>
        </p:nvSpPr>
        <p:spPr>
          <a:xfrm>
            <a:off x="640080" y="2331720"/>
            <a:ext cx="5318608" cy="1691640"/>
          </a:xfrm>
          <a:prstGeom prst="roundRect">
            <a:avLst>
              <a:gd name="adj" fmla="val 324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9" name="Shape 7"/>
          <p:cNvSpPr/>
          <p:nvPr/>
        </p:nvSpPr>
        <p:spPr>
          <a:xfrm>
            <a:off x="877824" y="2551176"/>
            <a:ext cx="457200" cy="457200"/>
          </a:xfrm>
          <a:prstGeom prst="roundRect">
            <a:avLst>
              <a:gd name="adj" fmla="val 70000"/>
            </a:avLst>
          </a:prstGeom>
          <a:solidFill>
            <a:srgbClr val="0E6B4F"/>
          </a:solidFill>
          <a:ln w="12700">
            <a:solidFill>
              <a:srgbClr val="25B98C"/>
            </a:solidFill>
            <a:prstDash val="solid"/>
          </a:ln>
        </p:spPr>
      </p:sp>
      <p:sp>
        <p:nvSpPr>
          <p:cNvPr id="10" name="Text 8"/>
          <p:cNvSpPr txBox="1"/>
          <p:nvPr/>
        </p:nvSpPr>
        <p:spPr>
          <a:xfrm>
            <a:off x="877824" y="255117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1</a:t>
            </a:r>
            <a:endParaRPr lang="en-US" sz="1300" dirty="0"/>
          </a:p>
        </p:txBody>
      </p:sp>
      <p:sp>
        <p:nvSpPr>
          <p:cNvPr id="11" name="Text 9"/>
          <p:cNvSpPr txBox="1"/>
          <p:nvPr/>
        </p:nvSpPr>
        <p:spPr>
          <a:xfrm>
            <a:off x="1444752" y="2551176"/>
            <a:ext cx="4312768" cy="411480"/>
          </a:xfrm>
          <a:prstGeom prst="rect">
            <a:avLst/>
          </a:prstGeom>
          <a:noFill/>
          <a:ln/>
        </p:spPr>
        <p:txBody>
          <a:bodyPr wrap="square" lIns="0" tIns="0" rIns="0" bIns="0" rtlCol="0" anchor="ctr"/>
          <a:lstStyle/>
          <a:p>
            <a:pPr indent="0" marL="0">
              <a:buNone/>
            </a:pPr>
            <a:r>
              <a:rPr lang="en-US" sz="1200" b="1" spc="180" kern="0" dirty="0">
                <a:solidFill>
                  <a:srgbClr val="D4A62A"/>
                </a:solidFill>
                <a:latin typeface="Calibri" pitchFamily="34" charset="0"/>
                <a:ea typeface="Calibri" pitchFamily="34" charset="-122"/>
                <a:cs typeface="Calibri" pitchFamily="34" charset="-120"/>
              </a:rPr>
              <a:t>GÉRER   </a:t>
            </a:r>
            <a:pPr indent="0" marL="0">
              <a:buNone/>
            </a:pPr>
            <a:r>
              <a:rPr lang="en-US" sz="1250" b="1" dirty="0">
                <a:solidFill>
                  <a:srgbClr val="F4F1E9"/>
                </a:solidFill>
                <a:latin typeface="Calibri" pitchFamily="34" charset="0"/>
                <a:ea typeface="Calibri" pitchFamily="34" charset="-122"/>
                <a:cs typeface="Calibri" pitchFamily="34" charset="-120"/>
              </a:rPr>
              <a:t>Progiciel de gestion et site public éditable</a:t>
            </a:r>
            <a:endParaRPr lang="en-US" sz="1200" dirty="0"/>
          </a:p>
        </p:txBody>
      </p:sp>
      <p:sp>
        <p:nvSpPr>
          <p:cNvPr id="12" name="Text 10"/>
          <p:cNvSpPr txBox="1"/>
          <p:nvPr/>
        </p:nvSpPr>
        <p:spPr>
          <a:xfrm>
            <a:off x="914400" y="3026664"/>
            <a:ext cx="4769968" cy="896112"/>
          </a:xfrm>
          <a:prstGeom prst="rect">
            <a:avLst/>
          </a:prstGeom>
          <a:noFill/>
          <a:ln/>
        </p:spPr>
        <p:txBody>
          <a:bodyPr wrap="square" lIns="0" tIns="0" rIns="0" bIns="0" rtlCol="0" anchor="ctr"/>
          <a:lstStyle/>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Musées, salles, œuvres, tarifs, événements, boutique</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Publication en cascade : chaque fiche est mise en ligne par une décision explicite</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Marque, couleurs, textes modifiables sans développeur</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Adhésions des visiteurs et campagnes d’information</a:t>
            </a:r>
            <a:endParaRPr lang="en-US" sz="1050" dirty="0"/>
          </a:p>
        </p:txBody>
      </p:sp>
      <p:sp>
        <p:nvSpPr>
          <p:cNvPr id="13" name="x_c1"/>
          <p:cNvSpPr/>
          <p:nvPr/>
        </p:nvSpPr>
        <p:spPr>
          <a:xfrm>
            <a:off x="6233008" y="2331720"/>
            <a:ext cx="5318608" cy="1691640"/>
          </a:xfrm>
          <a:prstGeom prst="roundRect">
            <a:avLst>
              <a:gd name="adj" fmla="val 324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4" name="Shape 12"/>
          <p:cNvSpPr/>
          <p:nvPr/>
        </p:nvSpPr>
        <p:spPr>
          <a:xfrm>
            <a:off x="6470752" y="2551176"/>
            <a:ext cx="457200" cy="457200"/>
          </a:xfrm>
          <a:prstGeom prst="roundRect">
            <a:avLst>
              <a:gd name="adj" fmla="val 70000"/>
            </a:avLst>
          </a:prstGeom>
          <a:solidFill>
            <a:srgbClr val="0E6B4F"/>
          </a:solidFill>
          <a:ln w="12700">
            <a:solidFill>
              <a:srgbClr val="25B98C"/>
            </a:solidFill>
            <a:prstDash val="solid"/>
          </a:ln>
        </p:spPr>
      </p:sp>
      <p:sp>
        <p:nvSpPr>
          <p:cNvPr id="15" name="Text 13"/>
          <p:cNvSpPr txBox="1"/>
          <p:nvPr/>
        </p:nvSpPr>
        <p:spPr>
          <a:xfrm>
            <a:off x="6470752" y="255117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2</a:t>
            </a:r>
            <a:endParaRPr lang="en-US" sz="1300" dirty="0"/>
          </a:p>
        </p:txBody>
      </p:sp>
      <p:sp>
        <p:nvSpPr>
          <p:cNvPr id="16" name="Text 14"/>
          <p:cNvSpPr txBox="1"/>
          <p:nvPr/>
        </p:nvSpPr>
        <p:spPr>
          <a:xfrm>
            <a:off x="7037680" y="2551176"/>
            <a:ext cx="4312768" cy="411480"/>
          </a:xfrm>
          <a:prstGeom prst="rect">
            <a:avLst/>
          </a:prstGeom>
          <a:noFill/>
          <a:ln/>
        </p:spPr>
        <p:txBody>
          <a:bodyPr wrap="square" lIns="0" tIns="0" rIns="0" bIns="0" rtlCol="0" anchor="ctr"/>
          <a:lstStyle/>
          <a:p>
            <a:pPr indent="0" marL="0">
              <a:buNone/>
            </a:pPr>
            <a:r>
              <a:rPr lang="en-US" sz="1200" b="1" spc="180" kern="0" dirty="0">
                <a:solidFill>
                  <a:srgbClr val="D4A62A"/>
                </a:solidFill>
                <a:latin typeface="Calibri" pitchFamily="34" charset="0"/>
                <a:ea typeface="Calibri" pitchFamily="34" charset="-122"/>
                <a:cs typeface="Calibri" pitchFamily="34" charset="-120"/>
              </a:rPr>
              <a:t>VISITER   </a:t>
            </a:r>
            <a:pPr indent="0" marL="0">
              <a:buNone/>
            </a:pPr>
            <a:r>
              <a:rPr lang="en-US" sz="1250" b="1" dirty="0">
                <a:solidFill>
                  <a:srgbClr val="F4F1E9"/>
                </a:solidFill>
                <a:latin typeface="Calibri" pitchFamily="34" charset="0"/>
                <a:ea typeface="Calibri" pitchFamily="34" charset="-122"/>
                <a:cs typeface="Calibri" pitchFamily="34" charset="-120"/>
              </a:rPr>
              <a:t>Visite immersive : 360°, 3D, réalité augmentée</a:t>
            </a:r>
            <a:endParaRPr lang="en-US" sz="1200" dirty="0"/>
          </a:p>
        </p:txBody>
      </p:sp>
      <p:sp>
        <p:nvSpPr>
          <p:cNvPr id="17" name="Text 15"/>
          <p:cNvSpPr txBox="1"/>
          <p:nvPr/>
        </p:nvSpPr>
        <p:spPr>
          <a:xfrm>
            <a:off x="6507328" y="3026664"/>
            <a:ext cx="4769968" cy="896112"/>
          </a:xfrm>
          <a:prstGeom prst="rect">
            <a:avLst/>
          </a:prstGeom>
          <a:noFill/>
          <a:ln/>
        </p:spPr>
        <p:txBody>
          <a:bodyPr wrap="square" lIns="0" tIns="0" rIns="0" bIns="0" rtlCol="0" anchor="ctr"/>
          <a:lstStyle/>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Moteur de panorama écrit de bout en bout, sans bibliothèque</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Œuvres numérisées par photogrammétrie</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Espaces relevés au LiDAR, exportés en GLB et USDZ</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Code QR pour poursuivre sur son téléphone</a:t>
            </a:r>
            <a:endParaRPr lang="en-US" sz="1050" dirty="0"/>
          </a:p>
        </p:txBody>
      </p:sp>
      <p:sp>
        <p:nvSpPr>
          <p:cNvPr id="18" name="x_c2"/>
          <p:cNvSpPr/>
          <p:nvPr/>
        </p:nvSpPr>
        <p:spPr>
          <a:xfrm>
            <a:off x="640080" y="4279392"/>
            <a:ext cx="5318608" cy="1691640"/>
          </a:xfrm>
          <a:prstGeom prst="roundRect">
            <a:avLst>
              <a:gd name="adj" fmla="val 324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9" name="Shape 17"/>
          <p:cNvSpPr/>
          <p:nvPr/>
        </p:nvSpPr>
        <p:spPr>
          <a:xfrm>
            <a:off x="877824" y="4498848"/>
            <a:ext cx="457200" cy="457200"/>
          </a:xfrm>
          <a:prstGeom prst="roundRect">
            <a:avLst>
              <a:gd name="adj" fmla="val 70000"/>
            </a:avLst>
          </a:prstGeom>
          <a:solidFill>
            <a:srgbClr val="0E6B4F"/>
          </a:solidFill>
          <a:ln w="12700">
            <a:solidFill>
              <a:srgbClr val="25B98C"/>
            </a:solidFill>
            <a:prstDash val="solid"/>
          </a:ln>
        </p:spPr>
      </p:sp>
      <p:sp>
        <p:nvSpPr>
          <p:cNvPr id="20" name="Text 18"/>
          <p:cNvSpPr txBox="1"/>
          <p:nvPr/>
        </p:nvSpPr>
        <p:spPr>
          <a:xfrm>
            <a:off x="877824" y="4498848"/>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3</a:t>
            </a:r>
            <a:endParaRPr lang="en-US" sz="1300" dirty="0"/>
          </a:p>
        </p:txBody>
      </p:sp>
      <p:sp>
        <p:nvSpPr>
          <p:cNvPr id="21" name="Text 19"/>
          <p:cNvSpPr txBox="1"/>
          <p:nvPr/>
        </p:nvSpPr>
        <p:spPr>
          <a:xfrm>
            <a:off x="1444752" y="4498848"/>
            <a:ext cx="4312768" cy="411480"/>
          </a:xfrm>
          <a:prstGeom prst="rect">
            <a:avLst/>
          </a:prstGeom>
          <a:noFill/>
          <a:ln/>
        </p:spPr>
        <p:txBody>
          <a:bodyPr wrap="square" lIns="0" tIns="0" rIns="0" bIns="0" rtlCol="0" anchor="ctr"/>
          <a:lstStyle/>
          <a:p>
            <a:pPr indent="0" marL="0">
              <a:buNone/>
            </a:pPr>
            <a:r>
              <a:rPr lang="en-US" sz="1200" b="1" spc="180" kern="0" dirty="0">
                <a:solidFill>
                  <a:srgbClr val="D4A62A"/>
                </a:solidFill>
                <a:latin typeface="Calibri" pitchFamily="34" charset="0"/>
                <a:ea typeface="Calibri" pitchFamily="34" charset="-122"/>
                <a:cs typeface="Calibri" pitchFamily="34" charset="-120"/>
              </a:rPr>
              <a:t>INTERROGER   </a:t>
            </a:r>
            <a:pPr indent="0" marL="0">
              <a:buNone/>
            </a:pPr>
            <a:r>
              <a:rPr lang="en-US" sz="1250" b="1" dirty="0">
                <a:solidFill>
                  <a:srgbClr val="F4F1E9"/>
                </a:solidFill>
                <a:latin typeface="Calibri" pitchFamily="34" charset="0"/>
                <a:ea typeface="Calibri" pitchFamily="34" charset="-122"/>
                <a:cs typeface="Calibri" pitchFamily="34" charset="-120"/>
              </a:rPr>
              <a:t>Assistant ancré sur les documents validés</a:t>
            </a:r>
            <a:endParaRPr lang="en-US" sz="1200" dirty="0"/>
          </a:p>
        </p:txBody>
      </p:sp>
      <p:sp>
        <p:nvSpPr>
          <p:cNvPr id="22" name="Text 20"/>
          <p:cNvSpPr txBox="1"/>
          <p:nvPr/>
        </p:nvSpPr>
        <p:spPr>
          <a:xfrm>
            <a:off x="914400" y="4974336"/>
            <a:ext cx="4769968" cy="896112"/>
          </a:xfrm>
          <a:prstGeom prst="rect">
            <a:avLst/>
          </a:prstGeom>
          <a:noFill/>
          <a:ln/>
        </p:spPr>
        <p:txBody>
          <a:bodyPr wrap="square" lIns="0" tIns="0" rIns="0" bIns="0" rtlCol="0" anchor="ctr"/>
          <a:lstStyle/>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Génération augmentée par la recherche (RAG)</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Guide vocal en temps réel : on parle à l’œuvre, elle répond</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Quatre garde-fous, dont l’autorisation d’ignorer</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Journal des questions restées sans réponse</a:t>
            </a:r>
            <a:endParaRPr lang="en-US" sz="1050" dirty="0"/>
          </a:p>
        </p:txBody>
      </p:sp>
      <p:sp>
        <p:nvSpPr>
          <p:cNvPr id="23" name="x_c3"/>
          <p:cNvSpPr/>
          <p:nvPr/>
        </p:nvSpPr>
        <p:spPr>
          <a:xfrm>
            <a:off x="6233008" y="4279392"/>
            <a:ext cx="5318608" cy="1691640"/>
          </a:xfrm>
          <a:prstGeom prst="roundRect">
            <a:avLst>
              <a:gd name="adj" fmla="val 324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4" name="Shape 22"/>
          <p:cNvSpPr/>
          <p:nvPr/>
        </p:nvSpPr>
        <p:spPr>
          <a:xfrm>
            <a:off x="6470752" y="4498848"/>
            <a:ext cx="457200" cy="457200"/>
          </a:xfrm>
          <a:prstGeom prst="roundRect">
            <a:avLst>
              <a:gd name="adj" fmla="val 70000"/>
            </a:avLst>
          </a:prstGeom>
          <a:solidFill>
            <a:srgbClr val="0E6B4F"/>
          </a:solidFill>
          <a:ln w="12700">
            <a:solidFill>
              <a:srgbClr val="25B98C"/>
            </a:solidFill>
            <a:prstDash val="solid"/>
          </a:ln>
        </p:spPr>
      </p:sp>
      <p:sp>
        <p:nvSpPr>
          <p:cNvPr id="25" name="Text 23"/>
          <p:cNvSpPr txBox="1"/>
          <p:nvPr/>
        </p:nvSpPr>
        <p:spPr>
          <a:xfrm>
            <a:off x="6470752" y="4498848"/>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7037680" y="4498848"/>
            <a:ext cx="4312768" cy="411480"/>
          </a:xfrm>
          <a:prstGeom prst="rect">
            <a:avLst/>
          </a:prstGeom>
          <a:noFill/>
          <a:ln/>
        </p:spPr>
        <p:txBody>
          <a:bodyPr wrap="square" lIns="0" tIns="0" rIns="0" bIns="0" rtlCol="0" anchor="ctr"/>
          <a:lstStyle/>
          <a:p>
            <a:pPr indent="0" marL="0">
              <a:buNone/>
            </a:pPr>
            <a:r>
              <a:rPr lang="en-US" sz="1200" b="1" spc="180" kern="0" dirty="0">
                <a:solidFill>
                  <a:srgbClr val="D4A62A"/>
                </a:solidFill>
                <a:latin typeface="Calibri" pitchFamily="34" charset="0"/>
                <a:ea typeface="Calibri" pitchFamily="34" charset="-122"/>
                <a:cs typeface="Calibri" pitchFamily="34" charset="-120"/>
              </a:rPr>
              <a:t>RELIER   </a:t>
            </a:r>
            <a:pPr indent="0" marL="0">
              <a:buNone/>
            </a:pPr>
            <a:r>
              <a:rPr lang="en-US" sz="1250" b="1" dirty="0">
                <a:solidFill>
                  <a:srgbClr val="F4F1E9"/>
                </a:solidFill>
                <a:latin typeface="Calibri" pitchFamily="34" charset="0"/>
                <a:ea typeface="Calibri" pitchFamily="34" charset="-122"/>
                <a:cs typeface="Calibri" pitchFamily="34" charset="-120"/>
              </a:rPr>
              <a:t>Mémoire réunifiée et généalogie</a:t>
            </a:r>
            <a:endParaRPr lang="en-US" sz="1200" dirty="0"/>
          </a:p>
        </p:txBody>
      </p:sp>
      <p:sp>
        <p:nvSpPr>
          <p:cNvPr id="27" name="Text 25"/>
          <p:cNvSpPr txBox="1"/>
          <p:nvPr/>
        </p:nvSpPr>
        <p:spPr>
          <a:xfrm>
            <a:off x="6507328" y="4974336"/>
            <a:ext cx="4769968" cy="896112"/>
          </a:xfrm>
          <a:prstGeom prst="rect">
            <a:avLst/>
          </a:prstGeom>
          <a:noFill/>
          <a:ln/>
        </p:spPr>
        <p:txBody>
          <a:bodyPr wrap="square" lIns="0" tIns="0" rIns="0" bIns="0" rtlCol="0" anchor="ctr"/>
          <a:lstStyle/>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Cinq collections ouvertes interrogées en parallèle</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Rapprochements justifiés, validés par le conservateur</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Arbre généalogique bidirectionnel, aïeul commun</a:t>
            </a:r>
            <a:endParaRPr lang="en-US" sz="1050" dirty="0"/>
          </a:p>
          <a:p>
            <a:pPr marL="342900" indent="-342900">
              <a:lnSpc>
                <a:spcPts val="1350"/>
              </a:lnSpc>
              <a:buSzPct val="100000"/>
              <a:buChar char="•"/>
            </a:pPr>
            <a:r>
              <a:rPr lang="en-US" sz="1050" dirty="0">
                <a:solidFill>
                  <a:srgbClr val="9CB6A9"/>
                </a:solidFill>
                <a:latin typeface="Calibri" pitchFamily="34" charset="0"/>
                <a:ea typeface="Calibri" pitchFamily="34" charset="-122"/>
                <a:cs typeface="Calibri" pitchFamily="34" charset="-120"/>
              </a:rPr>
              <a:t>Fil narratif : objet → chef → chefferie → lignée</a:t>
            </a:r>
            <a:endParaRPr lang="en-US" sz="1050" dirty="0"/>
          </a:p>
        </p:txBody>
      </p:sp>
      <p:sp>
        <p:nvSpPr>
          <p:cNvPr id="28" name="x_strip"/>
          <p:cNvSpPr/>
          <p:nvPr/>
        </p:nvSpPr>
        <p:spPr>
          <a:xfrm>
            <a:off x="640080" y="5742432"/>
            <a:ext cx="10911535" cy="502920"/>
          </a:xfrm>
          <a:prstGeom prst="roundRect">
            <a:avLst>
              <a:gd name="adj" fmla="val 10909"/>
            </a:avLst>
          </a:prstGeom>
          <a:solidFill>
            <a:srgbClr val="0D231C"/>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9" name="Text 27"/>
          <p:cNvSpPr txBox="1"/>
          <p:nvPr/>
        </p:nvSpPr>
        <p:spPr>
          <a:xfrm>
            <a:off x="822960" y="5815584"/>
            <a:ext cx="2109155" cy="365760"/>
          </a:xfrm>
          <a:prstGeom prst="rect">
            <a:avLst/>
          </a:prstGeom>
          <a:noFill/>
          <a:ln/>
        </p:spPr>
        <p:txBody>
          <a:bodyPr wrap="square" lIns="0" tIns="0" rIns="0" bIns="0" rtlCol="0" anchor="ctr"/>
          <a:lstStyle/>
          <a:p>
            <a:pPr algn="ctr" indent="0" marL="0">
              <a:buNone/>
            </a:pPr>
            <a:r>
              <a:rPr lang="en-US" sz="1100" b="1" dirty="0">
                <a:solidFill>
                  <a:srgbClr val="F0D68A"/>
                </a:solidFill>
                <a:latin typeface="Calibri" pitchFamily="34" charset="0"/>
                <a:ea typeface="Calibri" pitchFamily="34" charset="-122"/>
                <a:cs typeface="Calibri" pitchFamily="34" charset="-120"/>
              </a:rPr>
              <a:t>20 fonctionnalités livrées</a:t>
            </a:r>
            <a:endParaRPr lang="en-US" sz="1100" dirty="0"/>
          </a:p>
        </p:txBody>
      </p:sp>
      <p:sp>
        <p:nvSpPr>
          <p:cNvPr id="30" name="Text 28"/>
          <p:cNvSpPr txBox="1"/>
          <p:nvPr/>
        </p:nvSpPr>
        <p:spPr>
          <a:xfrm>
            <a:off x="2932115" y="5815584"/>
            <a:ext cx="2109155" cy="365760"/>
          </a:xfrm>
          <a:prstGeom prst="rect">
            <a:avLst/>
          </a:prstGeom>
          <a:noFill/>
          <a:ln/>
        </p:spPr>
        <p:txBody>
          <a:bodyPr wrap="square" lIns="0" tIns="0" rIns="0" bIns="0" rtlCol="0" anchor="ctr"/>
          <a:lstStyle/>
          <a:p>
            <a:pPr algn="ctr" indent="0" marL="0">
              <a:buNone/>
            </a:pPr>
            <a:r>
              <a:rPr lang="en-US" sz="1100" b="1" dirty="0">
                <a:solidFill>
                  <a:srgbClr val="25B98C"/>
                </a:solidFill>
                <a:latin typeface="Calibri" pitchFamily="34" charset="0"/>
                <a:ea typeface="Calibri" pitchFamily="34" charset="-122"/>
                <a:cs typeface="Calibri" pitchFamily="34" charset="-120"/>
              </a:rPr>
              <a:t>51 tables · 101 politiques de sécurité</a:t>
            </a:r>
            <a:endParaRPr lang="en-US" sz="1100" dirty="0"/>
          </a:p>
        </p:txBody>
      </p:sp>
      <p:sp>
        <p:nvSpPr>
          <p:cNvPr id="31" name="Text 29"/>
          <p:cNvSpPr txBox="1"/>
          <p:nvPr/>
        </p:nvSpPr>
        <p:spPr>
          <a:xfrm>
            <a:off x="5041270" y="5815584"/>
            <a:ext cx="2109155" cy="365760"/>
          </a:xfrm>
          <a:prstGeom prst="rect">
            <a:avLst/>
          </a:prstGeom>
          <a:noFill/>
          <a:ln/>
        </p:spPr>
        <p:txBody>
          <a:bodyPr wrap="square" lIns="0" tIns="0" rIns="0" bIns="0" rtlCol="0" anchor="ctr"/>
          <a:lstStyle/>
          <a:p>
            <a:pPr algn="ctr" indent="0" marL="0">
              <a:buNone/>
            </a:pPr>
            <a:r>
              <a:rPr lang="en-US" sz="1100" b="1" dirty="0">
                <a:solidFill>
                  <a:srgbClr val="F0D68A"/>
                </a:solidFill>
                <a:latin typeface="Calibri" pitchFamily="34" charset="0"/>
                <a:ea typeface="Calibri" pitchFamily="34" charset="-122"/>
                <a:cs typeface="Calibri" pitchFamily="34" charset="-120"/>
              </a:rPr>
              <a:t>6 institutions servies</a:t>
            </a:r>
            <a:endParaRPr lang="en-US" sz="1100" dirty="0"/>
          </a:p>
        </p:txBody>
      </p:sp>
      <p:sp>
        <p:nvSpPr>
          <p:cNvPr id="32" name="Text 30"/>
          <p:cNvSpPr txBox="1"/>
          <p:nvPr/>
        </p:nvSpPr>
        <p:spPr>
          <a:xfrm>
            <a:off x="7150425" y="5815584"/>
            <a:ext cx="2109155" cy="365760"/>
          </a:xfrm>
          <a:prstGeom prst="rect">
            <a:avLst/>
          </a:prstGeom>
          <a:noFill/>
          <a:ln/>
        </p:spPr>
        <p:txBody>
          <a:bodyPr wrap="square" lIns="0" tIns="0" rIns="0" bIns="0" rtlCol="0" anchor="ctr"/>
          <a:lstStyle/>
          <a:p>
            <a:pPr algn="ctr" indent="0" marL="0">
              <a:buNone/>
            </a:pPr>
            <a:r>
              <a:rPr lang="en-US" sz="1100" b="1" dirty="0">
                <a:solidFill>
                  <a:srgbClr val="25B98C"/>
                </a:solidFill>
                <a:latin typeface="Calibri" pitchFamily="34" charset="0"/>
                <a:ea typeface="Calibri" pitchFamily="34" charset="-122"/>
                <a:cs typeface="Calibri" pitchFamily="34" charset="-120"/>
              </a:rPr>
              <a:t>41 œuvres apparentées retrouvées</a:t>
            </a:r>
            <a:endParaRPr lang="en-US" sz="1100" dirty="0"/>
          </a:p>
        </p:txBody>
      </p:sp>
      <p:sp>
        <p:nvSpPr>
          <p:cNvPr id="33" name="Text 31"/>
          <p:cNvSpPr txBox="1"/>
          <p:nvPr/>
        </p:nvSpPr>
        <p:spPr>
          <a:xfrm>
            <a:off x="9259580" y="5815584"/>
            <a:ext cx="2109155" cy="365760"/>
          </a:xfrm>
          <a:prstGeom prst="rect">
            <a:avLst/>
          </a:prstGeom>
          <a:noFill/>
          <a:ln/>
        </p:spPr>
        <p:txBody>
          <a:bodyPr wrap="square" lIns="0" tIns="0" rIns="0" bIns="0" rtlCol="0" anchor="ctr"/>
          <a:lstStyle/>
          <a:p>
            <a:pPr algn="ctr" indent="0" marL="0">
              <a:buNone/>
            </a:pPr>
            <a:r>
              <a:rPr lang="en-US" sz="1100" b="1" dirty="0">
                <a:solidFill>
                  <a:srgbClr val="F0D68A"/>
                </a:solidFill>
                <a:latin typeface="Calibri" pitchFamily="34" charset="0"/>
                <a:ea typeface="Calibri" pitchFamily="34" charset="-122"/>
                <a:cs typeface="Calibri" pitchFamily="34" charset="-120"/>
              </a:rPr>
              <a:t>730 FCFA / mois d’hébergement</a:t>
            </a:r>
            <a:endParaRPr lang="en-US" sz="1100" dirty="0"/>
          </a:p>
        </p:txBody>
      </p:sp>
      <p:sp>
        <p:nvSpPr>
          <p:cNvPr id="34" name="Text 32"/>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5" name="Text 33"/>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additive="base">
                                        <p:cTn id="8" dur="500" fill="hold"/>
                                        <p:tgtEl>
                                          <p:spTgt spid="6"/>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42" presetClass="entr" presetSubtype="8" fill="hold" grpId="0" nodeType="withEffect">
                                  <p:stCondLst>
                                    <p:cond delay="4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anim calcmode="lin" valueType="num">
                                      <p:cBhvr additive="base">
                                        <p:cTn id="15" dur="500" fill="hold"/>
                                        <p:tgtEl>
                                          <p:spTgt spid="8"/>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56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additive="base">
                                        <p:cTn id="19" dur="500" fill="hold"/>
                                        <p:tgtEl>
                                          <p:spTgt spid="13"/>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72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anim calcmode="lin" valueType="num">
                                      <p:cBhvr additive="base">
                                        <p:cTn id="23" dur="500" fill="hold"/>
                                        <p:tgtEl>
                                          <p:spTgt spid="18"/>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88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anim calcmode="lin" valueType="num">
                                      <p:cBhvr additive="base">
                                        <p:cTn id="27" dur="500" fill="hold"/>
                                        <p:tgtEl>
                                          <p:spTgt spid="23"/>
                                        </p:tgtEl>
                                        <p:attrNameLst>
                                          <p:attrName>ppt_y</p:attrName>
                                        </p:attrNameLst>
                                      </p:cBhvr>
                                      <p:tavLst>
                                        <p:tav tm="0">
                                          <p:val>
                                            <p:strVal val="#ppt_y+.035"/>
                                          </p:val>
                                        </p:tav>
                                        <p:tav tm="100000">
                                          <p:val>
                                            <p:strVal val="#ppt_y"/>
                                          </p:val>
                                        </p:tav>
                                      </p:tavLst>
                                    </p:anim>
                                  </p:childTnLst>
                                </p:cTn>
                              </p:par>
                              <p:par>
                                <p:cTn id="28" presetID="10" presetClass="entr" presetSubtype="0" fill="hold" grpId="0" nodeType="withEffect">
                                  <p:stCondLst>
                                    <p:cond delay="11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2">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RÉSULTATS · L’APPLICATION</a:t>
            </a:r>
            <a:endParaRPr lang="en-US" sz="1100" dirty="0"/>
          </a:p>
        </p:txBody>
      </p:sp>
      <p:sp>
        <p:nvSpPr>
          <p:cNvPr id="3" name="c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100" b="1" dirty="0">
                <a:solidFill>
                  <a:srgbClr val="F4F1E9"/>
                </a:solidFill>
                <a:latin typeface="Cambria" pitchFamily="34" charset="0"/>
                <a:ea typeface="Cambria" pitchFamily="34" charset="-122"/>
                <a:cs typeface="Cambria" pitchFamily="34" charset="-120"/>
              </a:rPr>
              <a:t>Le site public et le back-office : une seule application</a:t>
            </a:r>
            <a:endParaRPr lang="en-US" sz="3100" dirty="0"/>
          </a:p>
        </p:txBody>
      </p:sp>
      <p:sp>
        <p:nvSpPr>
          <p:cNvPr id="4" name="c_c1"/>
          <p:cNvSpPr/>
          <p:nvPr/>
        </p:nvSpPr>
        <p:spPr>
          <a:xfrm>
            <a:off x="640080" y="1783080"/>
            <a:ext cx="5295748" cy="4160520"/>
          </a:xfrm>
          <a:prstGeom prst="roundRect">
            <a:avLst>
              <a:gd name="adj" fmla="val 1319"/>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pic>
        <p:nvPicPr>
          <p:cNvPr id="5" name="Image 0" descr="C:/Users/maxib/Desktop/visite_immersive/rapport/latex/figures/cap-02-site-public.png">    </p:cNvPr>
          <p:cNvPicPr>
            <a:picLocks noChangeAspect="1"/>
          </p:cNvPicPr>
          <p:nvPr/>
        </p:nvPicPr>
        <p:blipFill>
          <a:blip r:embed="rId1"/>
          <a:srcRect l="0" r="0" t="0" b="0"/>
          <a:stretch/>
        </p:blipFill>
        <p:spPr>
          <a:xfrm>
            <a:off x="804672" y="2286000"/>
            <a:ext cx="4966564" cy="2143710"/>
          </a:xfrm>
          <a:prstGeom prst="rect">
            <a:avLst/>
          </a:prstGeom>
        </p:spPr>
      </p:pic>
      <p:sp>
        <p:nvSpPr>
          <p:cNvPr id="6" name="Text 3"/>
          <p:cNvSpPr txBox="1"/>
          <p:nvPr/>
        </p:nvSpPr>
        <p:spPr>
          <a:xfrm>
            <a:off x="868680" y="1965960"/>
            <a:ext cx="4838548" cy="274320"/>
          </a:xfrm>
          <a:prstGeom prst="rect">
            <a:avLst/>
          </a:prstGeom>
          <a:noFill/>
          <a:ln/>
        </p:spPr>
        <p:txBody>
          <a:bodyPr wrap="square" lIns="0" tIns="0" rIns="0" bIns="0" rtlCol="0" anchor="ctr"/>
          <a:lstStyle/>
          <a:p>
            <a:pPr indent="0" marL="0">
              <a:buNone/>
            </a:pPr>
            <a:r>
              <a:rPr lang="en-US" sz="1000" b="1" spc="200" kern="0" dirty="0">
                <a:solidFill>
                  <a:srgbClr val="D4A62A"/>
                </a:solidFill>
                <a:latin typeface="Calibri" pitchFamily="34" charset="0"/>
                <a:ea typeface="Calibri" pitchFamily="34" charset="-122"/>
                <a:cs typeface="Calibri" pitchFamily="34" charset="-120"/>
              </a:rPr>
              <a:t>SITE PUBLIC</a:t>
            </a:r>
            <a:endParaRPr lang="en-US" sz="1000" dirty="0"/>
          </a:p>
        </p:txBody>
      </p:sp>
      <p:sp>
        <p:nvSpPr>
          <p:cNvPr id="7" name="Text 4"/>
          <p:cNvSpPr txBox="1"/>
          <p:nvPr/>
        </p:nvSpPr>
        <p:spPr>
          <a:xfrm>
            <a:off x="896112" y="4480560"/>
            <a:ext cx="4783684" cy="128016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F4F1E9"/>
                </a:solidFill>
                <a:latin typeface="Calibri" pitchFamily="34" charset="0"/>
                <a:ea typeface="Calibri" pitchFamily="34" charset="-122"/>
                <a:cs typeface="Calibri" pitchFamily="34" charset="-120"/>
              </a:rPr>
              <a:t>Trois entrées seulement : Musées, Nos boutiques, Généalogie — les trois fils du projet</a:t>
            </a:r>
            <a:endParaRPr lang="en-US" sz="1050" dirty="0"/>
          </a:p>
          <a:p>
            <a:pPr marL="342900" indent="-342900">
              <a:lnSpc>
                <a:spcPts val="1400"/>
              </a:lnSpc>
              <a:spcAft>
                <a:spcPts val="600"/>
              </a:spcAft>
              <a:buSzPct val="100000"/>
              <a:buChar char="•"/>
            </a:pPr>
            <a:r>
              <a:rPr lang="en-US" sz="1050" dirty="0">
                <a:solidFill>
                  <a:srgbClr val="F4F1E9"/>
                </a:solidFill>
                <a:latin typeface="Calibri" pitchFamily="34" charset="0"/>
                <a:ea typeface="Calibri" pitchFamily="34" charset="-122"/>
                <a:cs typeface="Calibri" pitchFamily="34" charset="-120"/>
              </a:rPr>
              <a:t>Chaque pièce modélisée porte la pastille 3D et s’ouvre en réalité augmentée</a:t>
            </a:r>
            <a:endParaRPr lang="en-US" sz="1050" dirty="0"/>
          </a:p>
          <a:p>
            <a:pPr marL="342900" indent="-342900">
              <a:lnSpc>
                <a:spcPts val="1400"/>
              </a:lnSpc>
              <a:spcAft>
                <a:spcPts val="600"/>
              </a:spcAft>
              <a:buSzPct val="100000"/>
              <a:buChar char="•"/>
            </a:pPr>
            <a:r>
              <a:rPr lang="en-US" sz="1050" dirty="0">
                <a:solidFill>
                  <a:srgbClr val="F4F1E9"/>
                </a:solidFill>
                <a:latin typeface="Calibri" pitchFamily="34" charset="0"/>
                <a:ea typeface="Calibri" pitchFamily="34" charset="-122"/>
                <a:cs typeface="Calibri" pitchFamily="34" charset="-120"/>
              </a:rPr>
              <a:t>Le classement affiché est celui des consultations réelles, sans décision éditoriale</a:t>
            </a:r>
            <a:endParaRPr lang="en-US" sz="1050" dirty="0"/>
          </a:p>
        </p:txBody>
      </p:sp>
      <p:sp>
        <p:nvSpPr>
          <p:cNvPr id="8" name="c_c2"/>
          <p:cNvSpPr/>
          <p:nvPr/>
        </p:nvSpPr>
        <p:spPr>
          <a:xfrm>
            <a:off x="6255868" y="1783080"/>
            <a:ext cx="5295748" cy="4160520"/>
          </a:xfrm>
          <a:prstGeom prst="roundRect">
            <a:avLst>
              <a:gd name="adj" fmla="val 1319"/>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pic>
        <p:nvPicPr>
          <p:cNvPr id="9" name="Image 1" descr="C:/Users/maxib/Desktop/visite_immersive/rapport/latex/figures/cap-01-erp-musees.png">    </p:cNvPr>
          <p:cNvPicPr>
            <a:picLocks noChangeAspect="1"/>
          </p:cNvPicPr>
          <p:nvPr/>
        </p:nvPicPr>
        <p:blipFill>
          <a:blip r:embed="rId2"/>
          <a:srcRect l="0" r="0" t="0" b="0"/>
          <a:stretch/>
        </p:blipFill>
        <p:spPr>
          <a:xfrm>
            <a:off x="6420460" y="2286000"/>
            <a:ext cx="4966564" cy="2081917"/>
          </a:xfrm>
          <a:prstGeom prst="rect">
            <a:avLst/>
          </a:prstGeom>
        </p:spPr>
      </p:pic>
      <p:sp>
        <p:nvSpPr>
          <p:cNvPr id="10" name="Text 6"/>
          <p:cNvSpPr txBox="1"/>
          <p:nvPr/>
        </p:nvSpPr>
        <p:spPr>
          <a:xfrm>
            <a:off x="6484468" y="1965960"/>
            <a:ext cx="4838548" cy="274320"/>
          </a:xfrm>
          <a:prstGeom prst="rect">
            <a:avLst/>
          </a:prstGeom>
          <a:noFill/>
          <a:ln/>
        </p:spPr>
        <p:txBody>
          <a:bodyPr wrap="square" lIns="0" tIns="0" rIns="0" bIns="0" rtlCol="0" anchor="ctr"/>
          <a:lstStyle/>
          <a:p>
            <a:pPr indent="0" marL="0">
              <a:buNone/>
            </a:pPr>
            <a:r>
              <a:rPr lang="en-US" sz="1000" b="1" spc="200" kern="0" dirty="0">
                <a:solidFill>
                  <a:srgbClr val="D4A62A"/>
                </a:solidFill>
                <a:latin typeface="Calibri" pitchFamily="34" charset="0"/>
                <a:ea typeface="Calibri" pitchFamily="34" charset="-122"/>
                <a:cs typeface="Calibri" pitchFamily="34" charset="-120"/>
              </a:rPr>
              <a:t>BACK-OFFICE</a:t>
            </a:r>
            <a:endParaRPr lang="en-US" sz="1000" dirty="0"/>
          </a:p>
        </p:txBody>
      </p:sp>
      <p:sp>
        <p:nvSpPr>
          <p:cNvPr id="11" name="Text 7"/>
          <p:cNvSpPr txBox="1"/>
          <p:nvPr/>
        </p:nvSpPr>
        <p:spPr>
          <a:xfrm>
            <a:off x="6511900" y="4480560"/>
            <a:ext cx="4783684" cy="128016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F4F1E9"/>
                </a:solidFill>
                <a:latin typeface="Calibri" pitchFamily="34" charset="0"/>
                <a:ea typeface="Calibri" pitchFamily="34" charset="-122"/>
                <a:cs typeface="Calibri" pitchFamily="34" charset="-120"/>
              </a:rPr>
              <a:t>L’interrupteur En ligne / Hors ligne : publier est une décision explicite du personnel</a:t>
            </a:r>
            <a:endParaRPr lang="en-US" sz="1050" dirty="0"/>
          </a:p>
          <a:p>
            <a:pPr marL="342900" indent="-342900">
              <a:lnSpc>
                <a:spcPts val="1400"/>
              </a:lnSpc>
              <a:spcAft>
                <a:spcPts val="600"/>
              </a:spcAft>
              <a:buSzPct val="100000"/>
              <a:buChar char="•"/>
            </a:pPr>
            <a:r>
              <a:rPr lang="en-US" sz="1050" dirty="0">
                <a:solidFill>
                  <a:srgbClr val="F4F1E9"/>
                </a:solidFill>
                <a:latin typeface="Calibri" pitchFamily="34" charset="0"/>
                <a:ea typeface="Calibri" pitchFamily="34" charset="-122"/>
                <a:cs typeface="Calibri" pitchFamily="34" charset="-120"/>
              </a:rPr>
              <a:t>Exporter le modèle Excel et Importer — la réponse à l’objection soulevée en entretien</a:t>
            </a:r>
            <a:endParaRPr lang="en-US" sz="1050" dirty="0"/>
          </a:p>
          <a:p>
            <a:pPr marL="342900" indent="-342900">
              <a:lnSpc>
                <a:spcPts val="1400"/>
              </a:lnSpc>
              <a:spcAft>
                <a:spcPts val="600"/>
              </a:spcAft>
              <a:buSzPct val="100000"/>
              <a:buChar char="•"/>
            </a:pPr>
            <a:r>
              <a:rPr lang="en-US" sz="1050" dirty="0">
                <a:solidFill>
                  <a:srgbClr val="F4F1E9"/>
                </a:solidFill>
                <a:latin typeface="Calibri" pitchFamily="34" charset="0"/>
                <a:ea typeface="Calibri" pitchFamily="34" charset="-122"/>
                <a:cs typeface="Calibri" pitchFamily="34" charset="-120"/>
              </a:rPr>
              <a:t>Des fiches illustrées, dans le vocabulaire du métier et non du modèle relationnel</a:t>
            </a:r>
            <a:endParaRPr lang="en-US" sz="1050" dirty="0"/>
          </a:p>
        </p:txBody>
      </p:sp>
      <p:sp>
        <p:nvSpPr>
          <p:cNvPr id="12" name="Text 8"/>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13" name="Text 9"/>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12</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anim calcmode="lin" valueType="num">
                                      <p:cBhvr additive="base">
                                        <p:cTn id="12" dur="500" fill="hold"/>
                                        <p:tgtEl>
                                          <p:spTgt spid="4"/>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4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anim calcmode="lin" valueType="num">
                                      <p:cBhvr additive="base">
                                        <p:cTn id="16" dur="500" fill="hold"/>
                                        <p:tgtEl>
                                          <p:spTgt spid="8"/>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3">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10424160" y="4389120"/>
            <a:ext cx="4572000" cy="4572000"/>
          </a:xfrm>
          <a:prstGeom prst="ellipse">
            <a:avLst/>
          </a:prstGeom>
          <a:solidFill>
            <a:srgbClr val="D4A62A">
              <a:alpha val="6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RESTITUTION SPATIALE</a:t>
            </a:r>
            <a:endParaRPr lang="en-US" sz="1100" dirty="0"/>
          </a:p>
        </p:txBody>
      </p:sp>
      <p:sp>
        <p:nvSpPr>
          <p:cNvPr id="4" name="r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200" b="1" dirty="0">
                <a:solidFill>
                  <a:srgbClr val="F4F1E9"/>
                </a:solidFill>
                <a:latin typeface="Cambria" pitchFamily="34" charset="0"/>
                <a:ea typeface="Cambria" pitchFamily="34" charset="-122"/>
                <a:cs typeface="Cambria" pitchFamily="34" charset="-120"/>
              </a:rPr>
              <a:t>Trois dispositifs, parce qu’il y a trois questions</a:t>
            </a:r>
            <a:endParaRPr lang="en-US" sz="3200" dirty="0"/>
          </a:p>
        </p:txBody>
      </p:sp>
      <p:sp>
        <p:nvSpPr>
          <p:cNvPr id="5" name="r_k"/>
          <p:cNvSpPr txBox="1"/>
          <p:nvPr/>
        </p:nvSpPr>
        <p:spPr>
          <a:xfrm>
            <a:off x="640080" y="1627632"/>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L’espace pardonne la simplification ; il ne pardonne pas la discontinuité.</a:t>
            </a:r>
            <a:endParaRPr lang="en-US" sz="1450" dirty="0"/>
          </a:p>
        </p:txBody>
      </p:sp>
      <p:sp>
        <p:nvSpPr>
          <p:cNvPr id="6" name="r_c0"/>
          <p:cNvSpPr/>
          <p:nvPr/>
        </p:nvSpPr>
        <p:spPr>
          <a:xfrm>
            <a:off x="640080" y="2240280"/>
            <a:ext cx="3442106" cy="3611880"/>
          </a:xfrm>
          <a:prstGeom prst="roundRect">
            <a:avLst>
              <a:gd name="adj" fmla="val 159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7" name="Shape 5"/>
          <p:cNvSpPr/>
          <p:nvPr/>
        </p:nvSpPr>
        <p:spPr>
          <a:xfrm>
            <a:off x="896112" y="2487168"/>
            <a:ext cx="960120" cy="566928"/>
          </a:xfrm>
          <a:prstGeom prst="roundRect">
            <a:avLst>
              <a:gd name="adj" fmla="val 48387"/>
            </a:avLst>
          </a:prstGeom>
          <a:solidFill>
            <a:srgbClr val="0E6B4F"/>
          </a:solidFill>
          <a:ln w="12700">
            <a:solidFill>
              <a:srgbClr val="25B98C"/>
            </a:solidFill>
            <a:prstDash val="solid"/>
          </a:ln>
        </p:spPr>
      </p:sp>
      <p:sp>
        <p:nvSpPr>
          <p:cNvPr id="8" name="Text 6"/>
          <p:cNvSpPr txBox="1"/>
          <p:nvPr/>
        </p:nvSpPr>
        <p:spPr>
          <a:xfrm>
            <a:off x="896112" y="2487168"/>
            <a:ext cx="960120" cy="566928"/>
          </a:xfrm>
          <a:prstGeom prst="rect">
            <a:avLst/>
          </a:prstGeom>
          <a:noFill/>
          <a:ln/>
        </p:spPr>
        <p:txBody>
          <a:bodyPr wrap="square" lIns="0" tIns="0" rIns="0" bIns="0" rtlCol="0" anchor="ctr"/>
          <a:lstStyle/>
          <a:p>
            <a:pPr algn="ctr" indent="0" marL="0">
              <a:buNone/>
            </a:pPr>
            <a:r>
              <a:rPr lang="en-US" sz="1700" b="1" dirty="0">
                <a:solidFill>
                  <a:srgbClr val="F0D68A"/>
                </a:solidFill>
                <a:latin typeface="Cambria" pitchFamily="34" charset="0"/>
                <a:ea typeface="Cambria" pitchFamily="34" charset="-122"/>
                <a:cs typeface="Cambria" pitchFamily="34" charset="-120"/>
              </a:rPr>
              <a:t>360°</a:t>
            </a:r>
            <a:endParaRPr lang="en-US" sz="1700" dirty="0"/>
          </a:p>
        </p:txBody>
      </p:sp>
      <p:sp>
        <p:nvSpPr>
          <p:cNvPr id="9" name="Text 7"/>
          <p:cNvSpPr txBox="1"/>
          <p:nvPr/>
        </p:nvSpPr>
        <p:spPr>
          <a:xfrm>
            <a:off x="896112" y="3200400"/>
            <a:ext cx="2930042" cy="457200"/>
          </a:xfrm>
          <a:prstGeom prst="rect">
            <a:avLst/>
          </a:prstGeom>
          <a:noFill/>
          <a:ln/>
        </p:spPr>
        <p:txBody>
          <a:bodyPr wrap="square" lIns="0" tIns="0" rIns="0" bIns="0" rtlCol="0" anchor="ctr"/>
          <a:lstStyle/>
          <a:p>
            <a:pPr indent="0" marL="0">
              <a:buNone/>
            </a:pPr>
            <a:r>
              <a:rPr lang="en-US" sz="1700" b="1" i="1" dirty="0">
                <a:solidFill>
                  <a:srgbClr val="F4F1E9"/>
                </a:solidFill>
                <a:latin typeface="Cambria" pitchFamily="34" charset="0"/>
                <a:ea typeface="Cambria" pitchFamily="34" charset="-122"/>
                <a:cs typeface="Cambria" pitchFamily="34" charset="-120"/>
              </a:rPr>
              <a:t>« Où suis-je ? »</a:t>
            </a:r>
            <a:endParaRPr lang="en-US" sz="1700" dirty="0"/>
          </a:p>
        </p:txBody>
      </p:sp>
      <p:sp>
        <p:nvSpPr>
          <p:cNvPr id="10" name="Text 8"/>
          <p:cNvSpPr txBox="1"/>
          <p:nvPr/>
        </p:nvSpPr>
        <p:spPr>
          <a:xfrm>
            <a:off x="896112" y="3749040"/>
            <a:ext cx="2930042" cy="1920240"/>
          </a:xfrm>
          <a:prstGeom prst="rect">
            <a:avLst/>
          </a:prstGeom>
          <a:noFill/>
          <a:ln/>
        </p:spPr>
        <p:txBody>
          <a:bodyPr wrap="square" lIns="0" tIns="0" rIns="0" bIns="0" rtlCol="0" anchor="ctr"/>
          <a:lstStyle/>
          <a:p>
            <a:pPr indent="0" marL="0">
              <a:lnSpc>
                <a:spcPts val="1500"/>
              </a:lnSpc>
              <a:buNone/>
            </a:pPr>
            <a:r>
              <a:rPr lang="en-US" sz="1100" dirty="0">
                <a:solidFill>
                  <a:srgbClr val="9CB6A9"/>
                </a:solidFill>
                <a:latin typeface="Calibri" pitchFamily="34" charset="0"/>
                <a:ea typeface="Calibri" pitchFamily="34" charset="-122"/>
                <a:cs typeface="Calibri" pitchFamily="34" charset="-120"/>
              </a:rPr>
              <a:t>Le visiteur entre dans une salle, pivote librement, passe à la suivante par un point de passage et touche un objet pour ouvrir sa fiche. Moteur écrit de bout en bout : aucun maillage, aucune couture, des points d’intérêt qui restent des boutons — donc atteignables au clavier et lisibles par un lecteur d’écran.</a:t>
            </a:r>
            <a:endParaRPr lang="en-US" sz="1100" dirty="0"/>
          </a:p>
        </p:txBody>
      </p:sp>
      <p:sp>
        <p:nvSpPr>
          <p:cNvPr id="11" name="r_c1"/>
          <p:cNvSpPr/>
          <p:nvPr/>
        </p:nvSpPr>
        <p:spPr>
          <a:xfrm>
            <a:off x="4374794" y="2240280"/>
            <a:ext cx="3442106" cy="3611880"/>
          </a:xfrm>
          <a:prstGeom prst="roundRect">
            <a:avLst>
              <a:gd name="adj" fmla="val 159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Shape 10"/>
          <p:cNvSpPr/>
          <p:nvPr/>
        </p:nvSpPr>
        <p:spPr>
          <a:xfrm>
            <a:off x="4630826" y="2487168"/>
            <a:ext cx="960120" cy="566928"/>
          </a:xfrm>
          <a:prstGeom prst="roundRect">
            <a:avLst>
              <a:gd name="adj" fmla="val 48387"/>
            </a:avLst>
          </a:prstGeom>
          <a:solidFill>
            <a:srgbClr val="0E6B4F"/>
          </a:solidFill>
          <a:ln w="12700">
            <a:solidFill>
              <a:srgbClr val="25B98C"/>
            </a:solidFill>
            <a:prstDash val="solid"/>
          </a:ln>
        </p:spPr>
      </p:sp>
      <p:sp>
        <p:nvSpPr>
          <p:cNvPr id="13" name="Text 11"/>
          <p:cNvSpPr txBox="1"/>
          <p:nvPr/>
        </p:nvSpPr>
        <p:spPr>
          <a:xfrm>
            <a:off x="4630826" y="2487168"/>
            <a:ext cx="960120" cy="566928"/>
          </a:xfrm>
          <a:prstGeom prst="rect">
            <a:avLst/>
          </a:prstGeom>
          <a:noFill/>
          <a:ln/>
        </p:spPr>
        <p:txBody>
          <a:bodyPr wrap="square" lIns="0" tIns="0" rIns="0" bIns="0" rtlCol="0" anchor="ctr"/>
          <a:lstStyle/>
          <a:p>
            <a:pPr algn="ctr" indent="0" marL="0">
              <a:buNone/>
            </a:pPr>
            <a:r>
              <a:rPr lang="en-US" sz="1700" b="1" dirty="0">
                <a:solidFill>
                  <a:srgbClr val="F0D68A"/>
                </a:solidFill>
                <a:latin typeface="Cambria" pitchFamily="34" charset="0"/>
                <a:ea typeface="Cambria" pitchFamily="34" charset="-122"/>
                <a:cs typeface="Cambria" pitchFamily="34" charset="-120"/>
              </a:rPr>
              <a:t>3D</a:t>
            </a:r>
            <a:endParaRPr lang="en-US" sz="1700" dirty="0"/>
          </a:p>
        </p:txBody>
      </p:sp>
      <p:sp>
        <p:nvSpPr>
          <p:cNvPr id="14" name="Text 12"/>
          <p:cNvSpPr txBox="1"/>
          <p:nvPr/>
        </p:nvSpPr>
        <p:spPr>
          <a:xfrm>
            <a:off x="4630826" y="3200400"/>
            <a:ext cx="2930042" cy="457200"/>
          </a:xfrm>
          <a:prstGeom prst="rect">
            <a:avLst/>
          </a:prstGeom>
          <a:noFill/>
          <a:ln/>
        </p:spPr>
        <p:txBody>
          <a:bodyPr wrap="square" lIns="0" tIns="0" rIns="0" bIns="0" rtlCol="0" anchor="ctr"/>
          <a:lstStyle/>
          <a:p>
            <a:pPr indent="0" marL="0">
              <a:buNone/>
            </a:pPr>
            <a:r>
              <a:rPr lang="en-US" sz="1700" b="1" i="1" dirty="0">
                <a:solidFill>
                  <a:srgbClr val="F4F1E9"/>
                </a:solidFill>
                <a:latin typeface="Cambria" pitchFamily="34" charset="0"/>
                <a:ea typeface="Cambria" pitchFamily="34" charset="-122"/>
                <a:cs typeface="Cambria" pitchFamily="34" charset="-120"/>
              </a:rPr>
              <a:t>« Sous tous ses angles ? »</a:t>
            </a:r>
            <a:endParaRPr lang="en-US" sz="1700" dirty="0"/>
          </a:p>
        </p:txBody>
      </p:sp>
      <p:sp>
        <p:nvSpPr>
          <p:cNvPr id="15" name="Text 13"/>
          <p:cNvSpPr txBox="1"/>
          <p:nvPr/>
        </p:nvSpPr>
        <p:spPr>
          <a:xfrm>
            <a:off x="4630826" y="3749040"/>
            <a:ext cx="2930042" cy="1920240"/>
          </a:xfrm>
          <a:prstGeom prst="rect">
            <a:avLst/>
          </a:prstGeom>
          <a:noFill/>
          <a:ln/>
        </p:spPr>
        <p:txBody>
          <a:bodyPr wrap="square" lIns="0" tIns="0" rIns="0" bIns="0" rtlCol="0" anchor="ctr"/>
          <a:lstStyle/>
          <a:p>
            <a:pPr indent="0" marL="0">
              <a:lnSpc>
                <a:spcPts val="1500"/>
              </a:lnSpc>
              <a:buNone/>
            </a:pPr>
            <a:r>
              <a:rPr lang="en-US" sz="1100" dirty="0">
                <a:solidFill>
                  <a:srgbClr val="9CB6A9"/>
                </a:solidFill>
                <a:latin typeface="Calibri" pitchFamily="34" charset="0"/>
                <a:ea typeface="Calibri" pitchFamily="34" charset="-122"/>
                <a:cs typeface="Calibri" pitchFamily="34" charset="-120"/>
              </a:rPr>
              <a:t>L’œuvre est numérisée par photogrammétrie : trois orbites de prises de vue guidées, puis reconstruction sur une instance à processeur graphique. Depuis la fiche, la pièce se fait pivoter à l’écran. Un mode de démonstration dessine une salle stylisée au vol : le parcours était démontrable avant les prises de vue réelles.</a:t>
            </a:r>
            <a:endParaRPr lang="en-US" sz="1100" dirty="0"/>
          </a:p>
        </p:txBody>
      </p:sp>
      <p:sp>
        <p:nvSpPr>
          <p:cNvPr id="16" name="r_c2"/>
          <p:cNvSpPr/>
          <p:nvPr/>
        </p:nvSpPr>
        <p:spPr>
          <a:xfrm>
            <a:off x="8109509" y="2240280"/>
            <a:ext cx="3442106" cy="3611880"/>
          </a:xfrm>
          <a:prstGeom prst="roundRect">
            <a:avLst>
              <a:gd name="adj" fmla="val 159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7" name="Shape 15"/>
          <p:cNvSpPr/>
          <p:nvPr/>
        </p:nvSpPr>
        <p:spPr>
          <a:xfrm>
            <a:off x="8365541" y="2487168"/>
            <a:ext cx="960120" cy="566928"/>
          </a:xfrm>
          <a:prstGeom prst="roundRect">
            <a:avLst>
              <a:gd name="adj" fmla="val 48387"/>
            </a:avLst>
          </a:prstGeom>
          <a:solidFill>
            <a:srgbClr val="0E6B4F"/>
          </a:solidFill>
          <a:ln w="12700">
            <a:solidFill>
              <a:srgbClr val="25B98C"/>
            </a:solidFill>
            <a:prstDash val="solid"/>
          </a:ln>
        </p:spPr>
      </p:sp>
      <p:sp>
        <p:nvSpPr>
          <p:cNvPr id="18" name="Text 16"/>
          <p:cNvSpPr txBox="1"/>
          <p:nvPr/>
        </p:nvSpPr>
        <p:spPr>
          <a:xfrm>
            <a:off x="8365541" y="2487168"/>
            <a:ext cx="960120" cy="566928"/>
          </a:xfrm>
          <a:prstGeom prst="rect">
            <a:avLst/>
          </a:prstGeom>
          <a:noFill/>
          <a:ln/>
        </p:spPr>
        <p:txBody>
          <a:bodyPr wrap="square" lIns="0" tIns="0" rIns="0" bIns="0" rtlCol="0" anchor="ctr"/>
          <a:lstStyle/>
          <a:p>
            <a:pPr algn="ctr" indent="0" marL="0">
              <a:buNone/>
            </a:pPr>
            <a:r>
              <a:rPr lang="en-US" sz="1700" b="1" dirty="0">
                <a:solidFill>
                  <a:srgbClr val="F0D68A"/>
                </a:solidFill>
                <a:latin typeface="Cambria" pitchFamily="34" charset="0"/>
                <a:ea typeface="Cambria" pitchFamily="34" charset="-122"/>
                <a:cs typeface="Cambria" pitchFamily="34" charset="-120"/>
              </a:rPr>
              <a:t>RA</a:t>
            </a:r>
            <a:endParaRPr lang="en-US" sz="1700" dirty="0"/>
          </a:p>
        </p:txBody>
      </p:sp>
      <p:sp>
        <p:nvSpPr>
          <p:cNvPr id="19" name="Text 17"/>
          <p:cNvSpPr txBox="1"/>
          <p:nvPr/>
        </p:nvSpPr>
        <p:spPr>
          <a:xfrm>
            <a:off x="8365541" y="3200400"/>
            <a:ext cx="2930042" cy="457200"/>
          </a:xfrm>
          <a:prstGeom prst="rect">
            <a:avLst/>
          </a:prstGeom>
          <a:noFill/>
          <a:ln/>
        </p:spPr>
        <p:txBody>
          <a:bodyPr wrap="square" lIns="0" tIns="0" rIns="0" bIns="0" rtlCol="0" anchor="ctr"/>
          <a:lstStyle/>
          <a:p>
            <a:pPr indent="0" marL="0">
              <a:buNone/>
            </a:pPr>
            <a:r>
              <a:rPr lang="en-US" sz="1700" b="1" i="1" dirty="0">
                <a:solidFill>
                  <a:srgbClr val="F4F1E9"/>
                </a:solidFill>
                <a:latin typeface="Cambria" pitchFamily="34" charset="0"/>
                <a:ea typeface="Cambria" pitchFamily="34" charset="-122"/>
                <a:cs typeface="Cambria" pitchFamily="34" charset="-120"/>
              </a:rPr>
              <a:t>« Quelle taille cela fait-il ? »</a:t>
            </a:r>
            <a:endParaRPr lang="en-US" sz="1700" dirty="0"/>
          </a:p>
        </p:txBody>
      </p:sp>
      <p:sp>
        <p:nvSpPr>
          <p:cNvPr id="20" name="Text 18"/>
          <p:cNvSpPr txBox="1"/>
          <p:nvPr/>
        </p:nvSpPr>
        <p:spPr>
          <a:xfrm>
            <a:off x="8365541" y="3749040"/>
            <a:ext cx="2930042" cy="1920240"/>
          </a:xfrm>
          <a:prstGeom prst="rect">
            <a:avLst/>
          </a:prstGeom>
          <a:noFill/>
          <a:ln/>
        </p:spPr>
        <p:txBody>
          <a:bodyPr wrap="square" lIns="0" tIns="0" rIns="0" bIns="0" rtlCol="0" anchor="ctr"/>
          <a:lstStyle/>
          <a:p>
            <a:pPr indent="0" marL="0">
              <a:lnSpc>
                <a:spcPts val="1500"/>
              </a:lnSpc>
              <a:buNone/>
            </a:pPr>
            <a:r>
              <a:rPr lang="en-US" sz="1100" dirty="0">
                <a:solidFill>
                  <a:srgbClr val="9CB6A9"/>
                </a:solidFill>
                <a:latin typeface="Calibri" pitchFamily="34" charset="0"/>
                <a:ea typeface="Calibri" pitchFamily="34" charset="-122"/>
                <a:cs typeface="Calibri" pitchFamily="34" charset="-120"/>
              </a:rPr>
              <a:t>Les habitations et les espaces sont relevés au capteur LiDAR, exportés en GLB pour Android et USDZ pour iOS, et posés à l’échelle relevée dans l’environnement du visiteur — sans installer d’application. Produire un seul des deux formats revient à priver la moitié des visiteurs de la fonction.</a:t>
            </a:r>
            <a:endParaRPr lang="en-US" sz="1100" dirty="0"/>
          </a:p>
        </p:txBody>
      </p:sp>
      <p:sp>
        <p:nvSpPr>
          <p:cNvPr id="21" name="Text 19"/>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2" name="Text 20"/>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13</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4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entr" presetSubtype="8" fill="hold" grpId="0" nodeType="withEffect">
                                  <p:stCondLst>
                                    <p:cond delay="4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additive="base">
                                        <p:cTn id="15" dur="500" fill="hold"/>
                                        <p:tgtEl>
                                          <p:spTgt spid="6"/>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58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additive="base">
                                        <p:cTn id="19" dur="500" fill="hold"/>
                                        <p:tgtEl>
                                          <p:spTgt spid="11"/>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76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anim calcmode="lin" valueType="num">
                                      <p:cBhvr additive="base">
                                        <p:cTn id="23" dur="500" fill="hold"/>
                                        <p:tgtEl>
                                          <p:spTgt spid="1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4">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194560" y="2011680"/>
            <a:ext cx="6858000" cy="6858000"/>
          </a:xfrm>
          <a:prstGeom prst="ellipse">
            <a:avLst/>
          </a:prstGeom>
          <a:solidFill>
            <a:srgbClr val="0E6B4F">
              <a:alpha val="12000"/>
            </a:srgbClr>
          </a:solidFill>
          <a:ln/>
        </p:spPr>
      </p:sp>
      <p:sp>
        <p:nvSpPr>
          <p:cNvPr id="3" name="Shape 1"/>
          <p:cNvSpPr/>
          <p:nvPr/>
        </p:nvSpPr>
        <p:spPr>
          <a:xfrm>
            <a:off x="9326880" y="-1828800"/>
            <a:ext cx="5943600" cy="5943600"/>
          </a:xfrm>
          <a:prstGeom prst="ellipse">
            <a:avLst/>
          </a:prstGeom>
          <a:solidFill>
            <a:srgbClr val="D4A62A">
              <a:alpha val="6000"/>
            </a:srgbClr>
          </a:solidFill>
          <a:ln/>
        </p:spPr>
      </p:sp>
      <p:sp>
        <p:nvSpPr>
          <p:cNvPr id="4" name="!!num3b"/>
          <p:cNvSpPr/>
          <p:nvPr/>
        </p:nvSpPr>
        <p:spPr>
          <a:xfrm>
            <a:off x="1051560" y="2331720"/>
            <a:ext cx="2194560" cy="2194560"/>
          </a:xfrm>
          <a:prstGeom prst="roundRect">
            <a:avLst>
              <a:gd name="adj" fmla="val 14583"/>
            </a:avLst>
          </a:prstGeom>
          <a:solidFill>
            <a:srgbClr val="0E6B4F"/>
          </a:solidFill>
          <a:ln w="12700">
            <a:solidFill>
              <a:srgbClr val="25B98C"/>
            </a:solidFill>
            <a:prstDash val="solid"/>
          </a:ln>
        </p:spPr>
      </p:sp>
      <p:sp>
        <p:nvSpPr>
          <p:cNvPr id="5" name="!!num3"/>
          <p:cNvSpPr txBox="1"/>
          <p:nvPr/>
        </p:nvSpPr>
        <p:spPr>
          <a:xfrm>
            <a:off x="1051560" y="2331720"/>
            <a:ext cx="2194560" cy="2194560"/>
          </a:xfrm>
          <a:prstGeom prst="rect">
            <a:avLst/>
          </a:prstGeom>
          <a:noFill/>
          <a:ln/>
        </p:spPr>
        <p:txBody>
          <a:bodyPr wrap="square" lIns="0" tIns="0" rIns="0" bIns="0" rtlCol="0" anchor="ctr"/>
          <a:lstStyle/>
          <a:p>
            <a:pPr algn="ctr" indent="0" marL="0">
              <a:buNone/>
            </a:pPr>
            <a:r>
              <a:rPr lang="en-US" sz="6600" b="1" dirty="0">
                <a:solidFill>
                  <a:srgbClr val="F0D68A"/>
                </a:solidFill>
                <a:latin typeface="Cambria" pitchFamily="34" charset="0"/>
                <a:ea typeface="Cambria" pitchFamily="34" charset="-122"/>
                <a:cs typeface="Cambria" pitchFamily="34" charset="-120"/>
              </a:rPr>
              <a:t>III</a:t>
            </a:r>
            <a:endParaRPr lang="en-US" sz="6600" dirty="0"/>
          </a:p>
        </p:txBody>
      </p:sp>
      <p:sp>
        <p:nvSpPr>
          <p:cNvPr id="6" name="!!sec3"/>
          <p:cNvSpPr txBox="1"/>
          <p:nvPr/>
        </p:nvSpPr>
        <p:spPr>
          <a:xfrm>
            <a:off x="3977640" y="2606040"/>
            <a:ext cx="7589520" cy="914400"/>
          </a:xfrm>
          <a:prstGeom prst="rect">
            <a:avLst/>
          </a:prstGeom>
          <a:noFill/>
          <a:ln/>
        </p:spPr>
        <p:txBody>
          <a:bodyPr wrap="square" lIns="0" tIns="0" rIns="0" bIns="0" rtlCol="0" anchor="ctr"/>
          <a:lstStyle/>
          <a:p>
            <a:pPr indent="0" marL="0">
              <a:buNone/>
            </a:pPr>
            <a:r>
              <a:rPr lang="en-US" sz="4000" b="1" dirty="0">
                <a:solidFill>
                  <a:srgbClr val="F4F1E9"/>
                </a:solidFill>
                <a:latin typeface="Cambria" pitchFamily="34" charset="0"/>
                <a:ea typeface="Cambria" pitchFamily="34" charset="-122"/>
                <a:cs typeface="Cambria" pitchFamily="34" charset="-120"/>
              </a:rPr>
              <a:t>LES ARCHITECTURES</a:t>
            </a:r>
            <a:endParaRPr lang="en-US" sz="4000" dirty="0"/>
          </a:p>
        </p:txBody>
      </p:sp>
      <p:sp>
        <p:nvSpPr>
          <p:cNvPr id="7" name="Text 5"/>
          <p:cNvSpPr txBox="1"/>
          <p:nvPr/>
        </p:nvSpPr>
        <p:spPr>
          <a:xfrm>
            <a:off x="4023360" y="3611880"/>
            <a:ext cx="7498080" cy="548640"/>
          </a:xfrm>
          <a:prstGeom prst="rect">
            <a:avLst/>
          </a:prstGeom>
          <a:noFill/>
          <a:ln/>
        </p:spPr>
        <p:txBody>
          <a:bodyPr wrap="square" lIns="0" tIns="0" rIns="0" bIns="0" rtlCol="0" anchor="ctr"/>
          <a:lstStyle/>
          <a:p>
            <a:pPr indent="0" marL="0">
              <a:buNone/>
            </a:pPr>
            <a:r>
              <a:rPr lang="en-US" sz="1500" i="1" dirty="0">
                <a:solidFill>
                  <a:srgbClr val="9CB6A9"/>
                </a:solidFill>
                <a:latin typeface="Calibri" pitchFamily="34" charset="0"/>
                <a:ea typeface="Calibri" pitchFamily="34" charset="-122"/>
                <a:cs typeface="Calibri" pitchFamily="34" charset="-120"/>
              </a:rPr>
              <a:t>L’assistant ancré, le nuage, la livraison continue</a:t>
            </a:r>
            <a:endParaRPr lang="en-US" sz="1500" dirty="0"/>
          </a:p>
        </p:txBody>
      </p:sp>
      <p:sp>
        <p:nvSpPr>
          <p:cNvPr id="8" name="Text 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9" name="Text 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14</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5">
    <p:bg>
      <p:bgPr>
        <a:solidFill>
          <a:srgbClr val="07130F"/>
        </a:solidFill>
      </p:bgPr>
    </p:bg>
    <p:spTree>
      <p:nvGrpSpPr>
        <p:cNvPr id="1" name=""/>
        <p:cNvGrpSpPr/>
        <p:nvPr/>
      </p:nvGrpSpPr>
      <p:grpSpPr>
        <a:xfrm>
          <a:off x="0" y="0"/>
          <a:ext cx="0" cy="0"/>
          <a:chOff x="0" y="0"/>
          <a:chExt cx="0" cy="0"/>
        </a:xfrm>
      </p:grpSpPr>
      <p:sp>
        <p:nvSpPr>
          <p:cNvPr id="2" name="!!num3b"/>
          <p:cNvSpPr/>
          <p:nvPr/>
        </p:nvSpPr>
        <p:spPr>
          <a:xfrm>
            <a:off x="640080" y="384048"/>
            <a:ext cx="420624" cy="420624"/>
          </a:xfrm>
          <a:prstGeom prst="roundRect">
            <a:avLst>
              <a:gd name="adj" fmla="val 76087"/>
            </a:avLst>
          </a:prstGeom>
          <a:solidFill>
            <a:srgbClr val="0E6B4F"/>
          </a:solidFill>
          <a:ln w="12700">
            <a:solidFill>
              <a:srgbClr val="25B98C"/>
            </a:solidFill>
            <a:prstDash val="solid"/>
          </a:ln>
        </p:spPr>
      </p:sp>
      <p:sp>
        <p:nvSpPr>
          <p:cNvPr id="3" name="!!num3"/>
          <p:cNvSpPr txBox="1"/>
          <p:nvPr/>
        </p:nvSpPr>
        <p:spPr>
          <a:xfrm>
            <a:off x="640080" y="384048"/>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III</a:t>
            </a:r>
            <a:endParaRPr lang="en-US" sz="1200" dirty="0"/>
          </a:p>
        </p:txBody>
      </p:sp>
      <p:sp>
        <p:nvSpPr>
          <p:cNvPr id="4" name="!!sec3"/>
          <p:cNvSpPr txBox="1"/>
          <p:nvPr/>
        </p:nvSpPr>
        <p:spPr>
          <a:xfrm>
            <a:off x="1207008" y="411480"/>
            <a:ext cx="7315200" cy="365760"/>
          </a:xfrm>
          <a:prstGeom prst="rect">
            <a:avLst/>
          </a:prstGeom>
          <a:noFill/>
          <a:ln/>
        </p:spPr>
        <p:txBody>
          <a:bodyPr wrap="square" lIns="0" tIns="0" rIns="0" bIns="0" rtlCol="0" anchor="ctr"/>
          <a:lstStyle/>
          <a:p>
            <a:pPr indent="0" marL="0">
              <a:buNone/>
            </a:pPr>
            <a:r>
              <a:rPr lang="en-US" sz="1150" b="1" spc="240" kern="0" dirty="0">
                <a:solidFill>
                  <a:srgbClr val="D4A62A"/>
                </a:solidFill>
                <a:latin typeface="Calibri" pitchFamily="34" charset="0"/>
                <a:ea typeface="Calibri" pitchFamily="34" charset="-122"/>
                <a:cs typeface="Calibri" pitchFamily="34" charset="-120"/>
              </a:rPr>
              <a:t>LES ARCHITECTURES</a:t>
            </a:r>
            <a:endParaRPr lang="en-US" sz="1150" dirty="0"/>
          </a:p>
        </p:txBody>
      </p:sp>
      <p:sp>
        <p:nvSpPr>
          <p:cNvPr id="5" name="h15_t"/>
          <p:cNvSpPr txBox="1"/>
          <p:nvPr/>
        </p:nvSpPr>
        <p:spPr>
          <a:xfrm>
            <a:off x="640080" y="1024128"/>
            <a:ext cx="10911535" cy="96012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Trois couches, et une règle qui n’a jamais été enfreinte</a:t>
            </a:r>
            <a:endParaRPr lang="en-US" sz="3300" dirty="0"/>
          </a:p>
        </p:txBody>
      </p:sp>
      <p:sp>
        <p:nvSpPr>
          <p:cNvPr id="6" name="a_l0"/>
          <p:cNvSpPr/>
          <p:nvPr/>
        </p:nvSpPr>
        <p:spPr>
          <a:xfrm>
            <a:off x="640080" y="1828800"/>
            <a:ext cx="10911535" cy="1078992"/>
          </a:xfrm>
          <a:prstGeom prst="roundRect">
            <a:avLst>
              <a:gd name="adj" fmla="val 508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7" name="Shape 5"/>
          <p:cNvSpPr/>
          <p:nvPr/>
        </p:nvSpPr>
        <p:spPr>
          <a:xfrm>
            <a:off x="841248" y="2029968"/>
            <a:ext cx="2148840" cy="676656"/>
          </a:xfrm>
          <a:prstGeom prst="roundRect">
            <a:avLst>
              <a:gd name="adj" fmla="val 10811"/>
            </a:avLst>
          </a:prstGeom>
          <a:solidFill>
            <a:srgbClr val="0E6B4F"/>
          </a:solidFill>
          <a:ln w="12700">
            <a:solidFill>
              <a:srgbClr val="25B98C"/>
            </a:solidFill>
            <a:prstDash val="solid"/>
          </a:ln>
        </p:spPr>
      </p:sp>
      <p:sp>
        <p:nvSpPr>
          <p:cNvPr id="8" name="Text 6"/>
          <p:cNvSpPr txBox="1"/>
          <p:nvPr/>
        </p:nvSpPr>
        <p:spPr>
          <a:xfrm>
            <a:off x="841248" y="2066544"/>
            <a:ext cx="2148840" cy="310896"/>
          </a:xfrm>
          <a:prstGeom prst="rect">
            <a:avLst/>
          </a:prstGeom>
          <a:noFill/>
          <a:ln/>
        </p:spPr>
        <p:txBody>
          <a:bodyPr wrap="square" lIns="0" tIns="0" rIns="0" bIns="0" rtlCol="0" anchor="ctr"/>
          <a:lstStyle/>
          <a:p>
            <a:pPr algn="ctr" indent="0" marL="0">
              <a:buNone/>
            </a:pPr>
            <a:r>
              <a:rPr lang="en-US" sz="1200" b="1" spc="180" kern="0" dirty="0">
                <a:solidFill>
                  <a:srgbClr val="F0D68A"/>
                </a:solidFill>
                <a:latin typeface="Calibri" pitchFamily="34" charset="0"/>
                <a:ea typeface="Calibri" pitchFamily="34" charset="-122"/>
                <a:cs typeface="Calibri" pitchFamily="34" charset="-120"/>
              </a:rPr>
              <a:t>PRÉSENTATION</a:t>
            </a:r>
            <a:endParaRPr lang="en-US" sz="1200" dirty="0"/>
          </a:p>
        </p:txBody>
      </p:sp>
      <p:sp>
        <p:nvSpPr>
          <p:cNvPr id="9" name="Text 7"/>
          <p:cNvSpPr txBox="1"/>
          <p:nvPr/>
        </p:nvSpPr>
        <p:spPr>
          <a:xfrm>
            <a:off x="841248" y="2359152"/>
            <a:ext cx="2148840" cy="274320"/>
          </a:xfrm>
          <a:prstGeom prst="rect">
            <a:avLst/>
          </a:prstGeom>
          <a:noFill/>
          <a:ln/>
        </p:spPr>
        <p:txBody>
          <a:bodyPr wrap="square" lIns="0" tIns="0" rIns="0" bIns="0" rtlCol="0" anchor="ctr"/>
          <a:lstStyle/>
          <a:p>
            <a:pPr algn="ctr" indent="0" marL="0">
              <a:buNone/>
            </a:pPr>
            <a:r>
              <a:rPr lang="en-US" sz="900" i="1" dirty="0">
                <a:solidFill>
                  <a:srgbClr val="F4F1E9"/>
                </a:solidFill>
                <a:latin typeface="Calibri" pitchFamily="34" charset="0"/>
                <a:ea typeface="Calibri" pitchFamily="34" charset="-122"/>
                <a:cs typeface="Calibri" pitchFamily="34" charset="-120"/>
              </a:rPr>
              <a:t>Dans le navigateur du visiteur</a:t>
            </a:r>
            <a:endParaRPr lang="en-US" sz="900" dirty="0"/>
          </a:p>
        </p:txBody>
      </p:sp>
      <p:sp>
        <p:nvSpPr>
          <p:cNvPr id="10" name="Text 8"/>
          <p:cNvSpPr txBox="1"/>
          <p:nvPr/>
        </p:nvSpPr>
        <p:spPr>
          <a:xfrm>
            <a:off x="3246120" y="2029968"/>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Site public de chaque institution</a:t>
            </a:r>
            <a:endParaRPr lang="en-US" sz="1100" dirty="0"/>
          </a:p>
        </p:txBody>
      </p:sp>
      <p:sp>
        <p:nvSpPr>
          <p:cNvPr id="11" name="Text 9"/>
          <p:cNvSpPr txBox="1"/>
          <p:nvPr/>
        </p:nvSpPr>
        <p:spPr>
          <a:xfrm>
            <a:off x="5938418" y="2029968"/>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Back-office de gestion</a:t>
            </a:r>
            <a:endParaRPr lang="en-US" sz="1100" dirty="0"/>
          </a:p>
        </p:txBody>
      </p:sp>
      <p:sp>
        <p:nvSpPr>
          <p:cNvPr id="12" name="Text 10"/>
          <p:cNvSpPr txBox="1"/>
          <p:nvPr/>
        </p:nvSpPr>
        <p:spPr>
          <a:xfrm>
            <a:off x="8630717" y="2029968"/>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Moteurs de rendu écrits sur mesure : panorama 360°, 3D, réalité augmentée</a:t>
            </a:r>
            <a:endParaRPr lang="en-US" sz="1100" dirty="0"/>
          </a:p>
        </p:txBody>
      </p:sp>
      <p:sp>
        <p:nvSpPr>
          <p:cNvPr id="13" name="a_l1"/>
          <p:cNvSpPr/>
          <p:nvPr/>
        </p:nvSpPr>
        <p:spPr>
          <a:xfrm>
            <a:off x="640080" y="3035808"/>
            <a:ext cx="10911535" cy="1078992"/>
          </a:xfrm>
          <a:prstGeom prst="roundRect">
            <a:avLst>
              <a:gd name="adj" fmla="val 508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4" name="Shape 12"/>
          <p:cNvSpPr/>
          <p:nvPr/>
        </p:nvSpPr>
        <p:spPr>
          <a:xfrm>
            <a:off x="841248" y="3236976"/>
            <a:ext cx="2148840" cy="676656"/>
          </a:xfrm>
          <a:prstGeom prst="roundRect">
            <a:avLst>
              <a:gd name="adj" fmla="val 10811"/>
            </a:avLst>
          </a:prstGeom>
          <a:solidFill>
            <a:srgbClr val="0E6B4F"/>
          </a:solidFill>
          <a:ln w="12700">
            <a:solidFill>
              <a:srgbClr val="25B98C"/>
            </a:solidFill>
            <a:prstDash val="solid"/>
          </a:ln>
        </p:spPr>
      </p:sp>
      <p:sp>
        <p:nvSpPr>
          <p:cNvPr id="15" name="Text 13"/>
          <p:cNvSpPr txBox="1"/>
          <p:nvPr/>
        </p:nvSpPr>
        <p:spPr>
          <a:xfrm>
            <a:off x="841248" y="3273552"/>
            <a:ext cx="2148840" cy="310896"/>
          </a:xfrm>
          <a:prstGeom prst="rect">
            <a:avLst/>
          </a:prstGeom>
          <a:noFill/>
          <a:ln/>
        </p:spPr>
        <p:txBody>
          <a:bodyPr wrap="square" lIns="0" tIns="0" rIns="0" bIns="0" rtlCol="0" anchor="ctr"/>
          <a:lstStyle/>
          <a:p>
            <a:pPr algn="ctr" indent="0" marL="0">
              <a:buNone/>
            </a:pPr>
            <a:r>
              <a:rPr lang="en-US" sz="1200" b="1" spc="180" kern="0" dirty="0">
                <a:solidFill>
                  <a:srgbClr val="F0D68A"/>
                </a:solidFill>
                <a:latin typeface="Calibri" pitchFamily="34" charset="0"/>
                <a:ea typeface="Calibri" pitchFamily="34" charset="-122"/>
                <a:cs typeface="Calibri" pitchFamily="34" charset="-120"/>
              </a:rPr>
              <a:t>SERVICES</a:t>
            </a:r>
            <a:endParaRPr lang="en-US" sz="1200" dirty="0"/>
          </a:p>
        </p:txBody>
      </p:sp>
      <p:sp>
        <p:nvSpPr>
          <p:cNvPr id="16" name="Text 14"/>
          <p:cNvSpPr txBox="1"/>
          <p:nvPr/>
        </p:nvSpPr>
        <p:spPr>
          <a:xfrm>
            <a:off x="841248" y="3566160"/>
            <a:ext cx="2148840" cy="274320"/>
          </a:xfrm>
          <a:prstGeom prst="rect">
            <a:avLst/>
          </a:prstGeom>
          <a:noFill/>
          <a:ln/>
        </p:spPr>
        <p:txBody>
          <a:bodyPr wrap="square" lIns="0" tIns="0" rIns="0" bIns="0" rtlCol="0" anchor="ctr"/>
          <a:lstStyle/>
          <a:p>
            <a:pPr algn="ctr" indent="0" marL="0">
              <a:buNone/>
            </a:pPr>
            <a:r>
              <a:rPr lang="en-US" sz="900" i="1" dirty="0">
                <a:solidFill>
                  <a:srgbClr val="F4F1E9"/>
                </a:solidFill>
                <a:latin typeface="Calibri" pitchFamily="34" charset="0"/>
                <a:ea typeface="Calibri" pitchFamily="34" charset="-122"/>
                <a:cs typeface="Calibri" pitchFamily="34" charset="-120"/>
              </a:rPr>
              <a:t>Ce qui exige une clé ou un privilège</a:t>
            </a:r>
            <a:endParaRPr lang="en-US" sz="900" dirty="0"/>
          </a:p>
        </p:txBody>
      </p:sp>
      <p:sp>
        <p:nvSpPr>
          <p:cNvPr id="17" name="Text 15"/>
          <p:cNvSpPr txBox="1"/>
          <p:nvPr/>
        </p:nvSpPr>
        <p:spPr>
          <a:xfrm>
            <a:off x="3246120" y="3236976"/>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Base de données PostgreSQL et authentification</a:t>
            </a:r>
            <a:endParaRPr lang="en-US" sz="1100" dirty="0"/>
          </a:p>
        </p:txBody>
      </p:sp>
      <p:sp>
        <p:nvSpPr>
          <p:cNvPr id="18" name="Text 16"/>
          <p:cNvSpPr txBox="1"/>
          <p:nvPr/>
        </p:nvSpPr>
        <p:spPr>
          <a:xfrm>
            <a:off x="5938418" y="3236976"/>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Sécurité au niveau de la ligne : 51 tables, 101 politiques</a:t>
            </a:r>
            <a:endParaRPr lang="en-US" sz="1100" dirty="0"/>
          </a:p>
        </p:txBody>
      </p:sp>
      <p:sp>
        <p:nvSpPr>
          <p:cNvPr id="19" name="Text 17"/>
          <p:cNvSpPr txBox="1"/>
          <p:nvPr/>
        </p:nvSpPr>
        <p:spPr>
          <a:xfrm>
            <a:off x="8630717" y="3236976"/>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Fonctions serveur : modèle de langue, voix, courriel, paiement</a:t>
            </a:r>
            <a:endParaRPr lang="en-US" sz="1100" dirty="0"/>
          </a:p>
        </p:txBody>
      </p:sp>
      <p:sp>
        <p:nvSpPr>
          <p:cNvPr id="20" name="a_l2"/>
          <p:cNvSpPr/>
          <p:nvPr/>
        </p:nvSpPr>
        <p:spPr>
          <a:xfrm>
            <a:off x="640080" y="4242816"/>
            <a:ext cx="10911535" cy="1078992"/>
          </a:xfrm>
          <a:prstGeom prst="roundRect">
            <a:avLst>
              <a:gd name="adj" fmla="val 508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1" name="Shape 19"/>
          <p:cNvSpPr/>
          <p:nvPr/>
        </p:nvSpPr>
        <p:spPr>
          <a:xfrm>
            <a:off x="841248" y="4443984"/>
            <a:ext cx="2148840" cy="676656"/>
          </a:xfrm>
          <a:prstGeom prst="roundRect">
            <a:avLst>
              <a:gd name="adj" fmla="val 10811"/>
            </a:avLst>
          </a:prstGeom>
          <a:solidFill>
            <a:srgbClr val="0E6B4F"/>
          </a:solidFill>
          <a:ln w="12700">
            <a:solidFill>
              <a:srgbClr val="25B98C"/>
            </a:solidFill>
            <a:prstDash val="solid"/>
          </a:ln>
        </p:spPr>
      </p:sp>
      <p:sp>
        <p:nvSpPr>
          <p:cNvPr id="22" name="Text 20"/>
          <p:cNvSpPr txBox="1"/>
          <p:nvPr/>
        </p:nvSpPr>
        <p:spPr>
          <a:xfrm>
            <a:off x="841248" y="4480560"/>
            <a:ext cx="2148840" cy="310896"/>
          </a:xfrm>
          <a:prstGeom prst="rect">
            <a:avLst/>
          </a:prstGeom>
          <a:noFill/>
          <a:ln/>
        </p:spPr>
        <p:txBody>
          <a:bodyPr wrap="square" lIns="0" tIns="0" rIns="0" bIns="0" rtlCol="0" anchor="ctr"/>
          <a:lstStyle/>
          <a:p>
            <a:pPr algn="ctr" indent="0" marL="0">
              <a:buNone/>
            </a:pPr>
            <a:r>
              <a:rPr lang="en-US" sz="1200" b="1" spc="180" kern="0" dirty="0">
                <a:solidFill>
                  <a:srgbClr val="F0D68A"/>
                </a:solidFill>
                <a:latin typeface="Calibri" pitchFamily="34" charset="0"/>
                <a:ea typeface="Calibri" pitchFamily="34" charset="-122"/>
                <a:cs typeface="Calibri" pitchFamily="34" charset="-120"/>
              </a:rPr>
              <a:t>DIFFUSION</a:t>
            </a:r>
            <a:endParaRPr lang="en-US" sz="1200" dirty="0"/>
          </a:p>
        </p:txBody>
      </p:sp>
      <p:sp>
        <p:nvSpPr>
          <p:cNvPr id="23" name="Text 21"/>
          <p:cNvSpPr txBox="1"/>
          <p:nvPr/>
        </p:nvSpPr>
        <p:spPr>
          <a:xfrm>
            <a:off x="841248" y="4773168"/>
            <a:ext cx="2148840" cy="274320"/>
          </a:xfrm>
          <a:prstGeom prst="rect">
            <a:avLst/>
          </a:prstGeom>
          <a:noFill/>
          <a:ln/>
        </p:spPr>
        <p:txBody>
          <a:bodyPr wrap="square" lIns="0" tIns="0" rIns="0" bIns="0" rtlCol="0" anchor="ctr"/>
          <a:lstStyle/>
          <a:p>
            <a:pPr algn="ctr" indent="0" marL="0">
              <a:buNone/>
            </a:pPr>
            <a:r>
              <a:rPr lang="en-US" sz="900" i="1" dirty="0">
                <a:solidFill>
                  <a:srgbClr val="F4F1E9"/>
                </a:solidFill>
                <a:latin typeface="Calibri" pitchFamily="34" charset="0"/>
                <a:ea typeface="Calibri" pitchFamily="34" charset="-122"/>
                <a:cs typeface="Calibri" pitchFamily="34" charset="-120"/>
              </a:rPr>
              <a:t>Ce que reçoit réellement le visiteur</a:t>
            </a:r>
            <a:endParaRPr lang="en-US" sz="900" dirty="0"/>
          </a:p>
        </p:txBody>
      </p:sp>
      <p:sp>
        <p:nvSpPr>
          <p:cNvPr id="24" name="Text 22"/>
          <p:cNvSpPr txBox="1"/>
          <p:nvPr/>
        </p:nvSpPr>
        <p:spPr>
          <a:xfrm>
            <a:off x="3246120" y="4443984"/>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Stockage d’objets privé, chiffré, versionné</a:t>
            </a:r>
            <a:endParaRPr lang="en-US" sz="1100" dirty="0"/>
          </a:p>
        </p:txBody>
      </p:sp>
      <p:sp>
        <p:nvSpPr>
          <p:cNvPr id="25" name="Text 23"/>
          <p:cNvSpPr txBox="1"/>
          <p:nvPr/>
        </p:nvSpPr>
        <p:spPr>
          <a:xfrm>
            <a:off x="5938418" y="4443984"/>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Réseau de diffusion mondial, seul autorisé à lire le stockage</a:t>
            </a:r>
            <a:endParaRPr lang="en-US" sz="1100" dirty="0"/>
          </a:p>
        </p:txBody>
      </p:sp>
      <p:sp>
        <p:nvSpPr>
          <p:cNvPr id="26" name="Text 24"/>
          <p:cNvSpPr txBox="1"/>
          <p:nvPr/>
        </p:nvSpPr>
        <p:spPr>
          <a:xfrm>
            <a:off x="8630717" y="4443984"/>
            <a:ext cx="2631338" cy="694944"/>
          </a:xfrm>
          <a:prstGeom prst="rect">
            <a:avLst/>
          </a:prstGeom>
          <a:noFill/>
          <a:ln/>
        </p:spPr>
        <p:txBody>
          <a:bodyPr wrap="square" lIns="0" tIns="0" rIns="0" bIns="0" rtlCol="0" anchor="ctr"/>
          <a:lstStyle/>
          <a:p>
            <a:pPr indent="0" marL="0">
              <a:lnSpc>
                <a:spcPts val="1400"/>
              </a:lnSpc>
              <a:buNone/>
            </a:pPr>
            <a:r>
              <a:rPr lang="en-US" sz="1100" dirty="0">
                <a:solidFill>
                  <a:srgbClr val="F4F1E9"/>
                </a:solidFill>
                <a:latin typeface="Calibri" pitchFamily="34" charset="0"/>
                <a:ea typeface="Calibri" pitchFamily="34" charset="-122"/>
                <a:cs typeface="Calibri" pitchFamily="34" charset="-120"/>
              </a:rPr>
              <a:t>Durées de cache différenciées, repli applicatif pour les liens profonds</a:t>
            </a:r>
            <a:endParaRPr lang="en-US" sz="1100" dirty="0"/>
          </a:p>
        </p:txBody>
      </p:sp>
      <p:sp>
        <p:nvSpPr>
          <p:cNvPr id="27" name="a_rule"/>
          <p:cNvSpPr/>
          <p:nvPr/>
        </p:nvSpPr>
        <p:spPr>
          <a:xfrm>
            <a:off x="640080" y="5468112"/>
            <a:ext cx="10911535" cy="777240"/>
          </a:xfrm>
          <a:prstGeom prst="roundRect">
            <a:avLst>
              <a:gd name="adj" fmla="val 7059"/>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28" name="Text 26"/>
          <p:cNvSpPr txBox="1"/>
          <p:nvPr/>
        </p:nvSpPr>
        <p:spPr>
          <a:xfrm>
            <a:off x="914400" y="5614416"/>
            <a:ext cx="10362895" cy="502920"/>
          </a:xfrm>
          <a:prstGeom prst="rect">
            <a:avLst/>
          </a:prstGeom>
          <a:noFill/>
          <a:ln/>
        </p:spPr>
        <p:txBody>
          <a:bodyPr wrap="square" lIns="0" tIns="0" rIns="0" bIns="0" rtlCol="0" anchor="ctr"/>
          <a:lstStyle/>
          <a:p>
            <a:pPr indent="0" marL="0">
              <a:lnSpc>
                <a:spcPts val="1700"/>
              </a:lnSpc>
              <a:buNone/>
            </a:pPr>
            <a:r>
              <a:rPr lang="en-US" sz="1100" b="1" spc="180" kern="0" dirty="0">
                <a:solidFill>
                  <a:srgbClr val="D4A62A"/>
                </a:solidFill>
                <a:latin typeface="Calibri" pitchFamily="34" charset="0"/>
                <a:ea typeface="Calibri" pitchFamily="34" charset="-122"/>
                <a:cs typeface="Calibri" pitchFamily="34" charset="-120"/>
              </a:rPr>
              <a:t>LA RÈGLE   </a:t>
            </a:r>
            <a:pPr indent="0" marL="0">
              <a:lnSpc>
                <a:spcPts val="1700"/>
              </a:lnSpc>
              <a:buNone/>
            </a:pPr>
            <a:r>
              <a:rPr lang="en-US" sz="1250" i="1" dirty="0">
                <a:solidFill>
                  <a:srgbClr val="F4F1E9"/>
                </a:solidFill>
                <a:latin typeface="Calibri" pitchFamily="34" charset="0"/>
                <a:ea typeface="Calibri" pitchFamily="34" charset="-122"/>
                <a:cs typeface="Calibri" pitchFamily="34" charset="-120"/>
              </a:rPr>
              <a:t>« Aucune clé d’accès à un service tiers ne se trouve dans le navigateur. » Modèle de langue, synthèse vocale, paiement : chaque appel transite par une fonction serveur qui détient seule le secret.</a:t>
            </a:r>
            <a:endParaRPr lang="en-US" sz="1100" dirty="0"/>
          </a:p>
        </p:txBody>
      </p:sp>
      <p:sp>
        <p:nvSpPr>
          <p:cNvPr id="29" name="Text 27"/>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0" name="Text 28"/>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15</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additive="base">
                                        <p:cTn id="12" dur="500" fill="hold"/>
                                        <p:tgtEl>
                                          <p:spTgt spid="6"/>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5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anim calcmode="lin" valueType="num">
                                      <p:cBhvr additive="base">
                                        <p:cTn id="16" dur="500" fill="hold"/>
                                        <p:tgtEl>
                                          <p:spTgt spid="13"/>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75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anim calcmode="lin" valueType="num">
                                      <p:cBhvr additive="base">
                                        <p:cTn id="20" dur="500" fill="hold"/>
                                        <p:tgtEl>
                                          <p:spTgt spid="20"/>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105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anim calcmode="lin" valueType="num">
                                      <p:cBhvr additive="base">
                                        <p:cTn id="24" dur="500" fill="hold"/>
                                        <p:tgtEl>
                                          <p:spTgt spid="27"/>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6">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5669280" y="4206240"/>
            <a:ext cx="5486400" cy="5486400"/>
          </a:xfrm>
          <a:prstGeom prst="ellipse">
            <a:avLst/>
          </a:prstGeom>
          <a:solidFill>
            <a:srgbClr val="0E6B4F">
              <a:alpha val="7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ARCHITECTURE · ASSISTANT À ANCRAGE DOCUMENTAIRE</a:t>
            </a:r>
            <a:endParaRPr lang="en-US" sz="1100" dirty="0"/>
          </a:p>
        </p:txBody>
      </p:sp>
      <p:sp>
        <p:nvSpPr>
          <p:cNvPr id="4" name="g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100" b="1" dirty="0">
                <a:solidFill>
                  <a:srgbClr val="F4F1E9"/>
                </a:solidFill>
                <a:latin typeface="Cambria" pitchFamily="34" charset="0"/>
                <a:ea typeface="Cambria" pitchFamily="34" charset="-122"/>
                <a:cs typeface="Cambria" pitchFamily="34" charset="-120"/>
              </a:rPr>
              <a:t>La génération augmentée par la recherche, en cinq temps</a:t>
            </a:r>
            <a:endParaRPr lang="en-US" sz="3100" dirty="0"/>
          </a:p>
        </p:txBody>
      </p:sp>
      <p:sp>
        <p:nvSpPr>
          <p:cNvPr id="5" name="g_k"/>
          <p:cNvSpPr txBox="1"/>
          <p:nvPr/>
        </p:nvSpPr>
        <p:spPr>
          <a:xfrm>
            <a:off x="640080" y="1609344"/>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Le modèle ne puise pas dans ce qu’il a appris ailleurs : il reformule ce que l’institution a écrit, et cite ses sources.</a:t>
            </a:r>
            <a:endParaRPr lang="en-US" sz="1450" dirty="0"/>
          </a:p>
        </p:txBody>
      </p:sp>
      <p:sp>
        <p:nvSpPr>
          <p:cNvPr id="6" name="g_c0"/>
          <p:cNvSpPr/>
          <p:nvPr/>
        </p:nvSpPr>
        <p:spPr>
          <a:xfrm>
            <a:off x="640080" y="2212848"/>
            <a:ext cx="1977481" cy="3611880"/>
          </a:xfrm>
          <a:prstGeom prst="roundRect">
            <a:avLst>
              <a:gd name="adj" fmla="val 277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7" name="Shape 5"/>
          <p:cNvSpPr/>
          <p:nvPr/>
        </p:nvSpPr>
        <p:spPr>
          <a:xfrm>
            <a:off x="1345357" y="2450592"/>
            <a:ext cx="566928" cy="566928"/>
          </a:xfrm>
          <a:prstGeom prst="roundRect">
            <a:avLst>
              <a:gd name="adj" fmla="val 56452"/>
            </a:avLst>
          </a:prstGeom>
          <a:solidFill>
            <a:srgbClr val="0E6B4F"/>
          </a:solidFill>
          <a:ln w="12700">
            <a:solidFill>
              <a:srgbClr val="25B98C"/>
            </a:solidFill>
            <a:prstDash val="solid"/>
          </a:ln>
        </p:spPr>
      </p:sp>
      <p:sp>
        <p:nvSpPr>
          <p:cNvPr id="8" name="Text 6"/>
          <p:cNvSpPr txBox="1"/>
          <p:nvPr/>
        </p:nvSpPr>
        <p:spPr>
          <a:xfrm>
            <a:off x="1345357" y="2450592"/>
            <a:ext cx="566928" cy="566928"/>
          </a:xfrm>
          <a:prstGeom prst="rect">
            <a:avLst/>
          </a:prstGeom>
          <a:noFill/>
          <a:ln/>
        </p:spPr>
        <p:txBody>
          <a:bodyPr wrap="square" lIns="0" tIns="0" rIns="0" bIns="0" rtlCol="0" anchor="ctr"/>
          <a:lstStyle/>
          <a:p>
            <a:pPr algn="ctr" indent="0" marL="0">
              <a:buNone/>
            </a:pPr>
            <a:r>
              <a:rPr lang="en-US" sz="1600" b="1" dirty="0">
                <a:solidFill>
                  <a:srgbClr val="F0D68A"/>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786384" y="3127248"/>
            <a:ext cx="1684873" cy="658368"/>
          </a:xfrm>
          <a:prstGeom prst="rect">
            <a:avLst/>
          </a:prstGeom>
          <a:noFill/>
          <a:ln/>
        </p:spPr>
        <p:txBody>
          <a:bodyPr wrap="square" lIns="0" tIns="0" rIns="0" bIns="0" rtlCol="0" anchor="ctr"/>
          <a:lstStyle/>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INGESTION</a:t>
            </a:r>
            <a:endParaRPr lang="en-US" sz="1150" dirty="0"/>
          </a:p>
        </p:txBody>
      </p:sp>
      <p:sp>
        <p:nvSpPr>
          <p:cNvPr id="10" name="Text 8"/>
          <p:cNvSpPr txBox="1"/>
          <p:nvPr/>
        </p:nvSpPr>
        <p:spPr>
          <a:xfrm>
            <a:off x="822960" y="3803904"/>
            <a:ext cx="1611721" cy="123444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Notices d’œuvres, descriptions de salles, histoires, biographies, FAQ — exportées et déposées dans un stockage d’objets.</a:t>
            </a:r>
            <a:endParaRPr lang="en-US" sz="1050" dirty="0"/>
          </a:p>
        </p:txBody>
      </p:sp>
      <p:sp>
        <p:nvSpPr>
          <p:cNvPr id="11" name="Text 9"/>
          <p:cNvSpPr txBox="1"/>
          <p:nvPr/>
        </p:nvSpPr>
        <p:spPr>
          <a:xfrm>
            <a:off x="822960" y="5074920"/>
            <a:ext cx="1611721" cy="658368"/>
          </a:xfrm>
          <a:prstGeom prst="rect">
            <a:avLst/>
          </a:prstGeom>
          <a:noFill/>
          <a:ln/>
        </p:spPr>
        <p:txBody>
          <a:bodyPr wrap="square" lIns="0" tIns="0" rIns="0" bIns="0" rtlCol="0" anchor="ctr"/>
          <a:lstStyle/>
          <a:p>
            <a:pPr indent="0" marL="0">
              <a:lnSpc>
                <a:spcPts val="1300"/>
              </a:lnSpc>
              <a:buNone/>
            </a:pPr>
            <a:r>
              <a:rPr lang="en-US" sz="1000" i="1" dirty="0">
                <a:solidFill>
                  <a:srgbClr val="25B98C"/>
                </a:solidFill>
                <a:latin typeface="Calibri" pitchFamily="34" charset="0"/>
                <a:ea typeface="Calibri" pitchFamily="34" charset="-122"/>
                <a:cs typeface="Calibri" pitchFamily="34" charset="-120"/>
              </a:rPr>
              <a:t>La source de vérité : rien d’absent ne peut fonder une réponse.</a:t>
            </a:r>
            <a:endParaRPr lang="en-US" sz="1000" dirty="0"/>
          </a:p>
        </p:txBody>
      </p:sp>
      <p:sp>
        <p:nvSpPr>
          <p:cNvPr id="12" name="Text 10"/>
          <p:cNvSpPr txBox="1"/>
          <p:nvPr/>
        </p:nvSpPr>
        <p:spPr>
          <a:xfrm>
            <a:off x="2599273" y="2450592"/>
            <a:ext cx="292608" cy="566928"/>
          </a:xfrm>
          <a:prstGeom prst="rect">
            <a:avLst/>
          </a:prstGeom>
          <a:noFill/>
          <a:ln/>
        </p:spPr>
        <p:txBody>
          <a:bodyPr wrap="square" lIns="0" tIns="0" rIns="0" bIns="0" rtlCol="0" anchor="ctr"/>
          <a:lstStyle/>
          <a:p>
            <a:pPr algn="ctr" indent="0" marL="0">
              <a:buNone/>
            </a:pPr>
            <a:r>
              <a:rPr lang="en-US" sz="2200" b="1" dirty="0">
                <a:solidFill>
                  <a:srgbClr val="D4A62A"/>
                </a:solidFill>
                <a:latin typeface="Calibri" pitchFamily="34" charset="0"/>
                <a:ea typeface="Calibri" pitchFamily="34" charset="-122"/>
                <a:cs typeface="Calibri" pitchFamily="34" charset="-120"/>
              </a:rPr>
              <a:t>›</a:t>
            </a:r>
            <a:endParaRPr lang="en-US" sz="2200" dirty="0"/>
          </a:p>
        </p:txBody>
      </p:sp>
      <p:sp>
        <p:nvSpPr>
          <p:cNvPr id="13" name="g_c1"/>
          <p:cNvSpPr/>
          <p:nvPr/>
        </p:nvSpPr>
        <p:spPr>
          <a:xfrm>
            <a:off x="2873593" y="2212848"/>
            <a:ext cx="1977481" cy="3611880"/>
          </a:xfrm>
          <a:prstGeom prst="roundRect">
            <a:avLst>
              <a:gd name="adj" fmla="val 277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4" name="Shape 12"/>
          <p:cNvSpPr/>
          <p:nvPr/>
        </p:nvSpPr>
        <p:spPr>
          <a:xfrm>
            <a:off x="3578870" y="2450592"/>
            <a:ext cx="566928" cy="566928"/>
          </a:xfrm>
          <a:prstGeom prst="roundRect">
            <a:avLst>
              <a:gd name="adj" fmla="val 56452"/>
            </a:avLst>
          </a:prstGeom>
          <a:solidFill>
            <a:srgbClr val="0E6B4F"/>
          </a:solidFill>
          <a:ln w="12700">
            <a:solidFill>
              <a:srgbClr val="25B98C"/>
            </a:solidFill>
            <a:prstDash val="solid"/>
          </a:ln>
        </p:spPr>
      </p:sp>
      <p:sp>
        <p:nvSpPr>
          <p:cNvPr id="15" name="Text 13"/>
          <p:cNvSpPr txBox="1"/>
          <p:nvPr/>
        </p:nvSpPr>
        <p:spPr>
          <a:xfrm>
            <a:off x="3578870" y="2450592"/>
            <a:ext cx="566928" cy="566928"/>
          </a:xfrm>
          <a:prstGeom prst="rect">
            <a:avLst/>
          </a:prstGeom>
          <a:noFill/>
          <a:ln/>
        </p:spPr>
        <p:txBody>
          <a:bodyPr wrap="square" lIns="0" tIns="0" rIns="0" bIns="0" rtlCol="0" anchor="ctr"/>
          <a:lstStyle/>
          <a:p>
            <a:pPr algn="ctr" indent="0" marL="0">
              <a:buNone/>
            </a:pPr>
            <a:r>
              <a:rPr lang="en-US" sz="1600" b="1" dirty="0">
                <a:solidFill>
                  <a:srgbClr val="F0D68A"/>
                </a:solidFill>
                <a:latin typeface="Cambria" pitchFamily="34" charset="0"/>
                <a:ea typeface="Cambria" pitchFamily="34" charset="-122"/>
                <a:cs typeface="Cambria" pitchFamily="34" charset="-120"/>
              </a:rPr>
              <a:t>2</a:t>
            </a:r>
            <a:endParaRPr lang="en-US" sz="1600" dirty="0"/>
          </a:p>
        </p:txBody>
      </p:sp>
      <p:sp>
        <p:nvSpPr>
          <p:cNvPr id="16" name="Text 14"/>
          <p:cNvSpPr txBox="1"/>
          <p:nvPr/>
        </p:nvSpPr>
        <p:spPr>
          <a:xfrm>
            <a:off x="3019897" y="3127248"/>
            <a:ext cx="1684873" cy="658368"/>
          </a:xfrm>
          <a:prstGeom prst="rect">
            <a:avLst/>
          </a:prstGeom>
          <a:noFill/>
          <a:ln/>
        </p:spPr>
        <p:txBody>
          <a:bodyPr wrap="square" lIns="0" tIns="0" rIns="0" bIns="0" rtlCol="0" anchor="ctr"/>
          <a:lstStyle/>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DÉCOUPAGE</a:t>
            </a:r>
            <a:endParaRPr lang="en-US" sz="1150" dirty="0"/>
          </a:p>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ET VECTORISATION</a:t>
            </a:r>
            <a:endParaRPr lang="en-US" sz="1150" dirty="0"/>
          </a:p>
        </p:txBody>
      </p:sp>
      <p:sp>
        <p:nvSpPr>
          <p:cNvPr id="17" name="Text 15"/>
          <p:cNvSpPr txBox="1"/>
          <p:nvPr/>
        </p:nvSpPr>
        <p:spPr>
          <a:xfrm>
            <a:off x="3056473" y="3803904"/>
            <a:ext cx="1611721" cy="123444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Fragments de taille homogène, convertis en vecteurs par un modèle de plongement.</a:t>
            </a:r>
            <a:endParaRPr lang="en-US" sz="1050" dirty="0"/>
          </a:p>
        </p:txBody>
      </p:sp>
      <p:sp>
        <p:nvSpPr>
          <p:cNvPr id="18" name="Text 16"/>
          <p:cNvSpPr txBox="1"/>
          <p:nvPr/>
        </p:nvSpPr>
        <p:spPr>
          <a:xfrm>
            <a:off x="3056473" y="5074920"/>
            <a:ext cx="1611721" cy="658368"/>
          </a:xfrm>
          <a:prstGeom prst="rect">
            <a:avLst/>
          </a:prstGeom>
          <a:noFill/>
          <a:ln/>
        </p:spPr>
        <p:txBody>
          <a:bodyPr wrap="square" lIns="0" tIns="0" rIns="0" bIns="0" rtlCol="0" anchor="ctr"/>
          <a:lstStyle/>
          <a:p>
            <a:pPr indent="0" marL="0">
              <a:lnSpc>
                <a:spcPts val="1300"/>
              </a:lnSpc>
              <a:buNone/>
            </a:pPr>
            <a:r>
              <a:rPr lang="en-US" sz="1000" i="1" dirty="0">
                <a:solidFill>
                  <a:srgbClr val="25B98C"/>
                </a:solidFill>
                <a:latin typeface="Calibri" pitchFamily="34" charset="0"/>
                <a:ea typeface="Calibri" pitchFamily="34" charset="-122"/>
                <a:cs typeface="Calibri" pitchFamily="34" charset="-120"/>
              </a:rPr>
              <a:t>Point décisif : les fragments sont plongés en anglais.</a:t>
            </a:r>
            <a:endParaRPr lang="en-US" sz="1000" dirty="0"/>
          </a:p>
        </p:txBody>
      </p:sp>
      <p:sp>
        <p:nvSpPr>
          <p:cNvPr id="19" name="Text 17"/>
          <p:cNvSpPr txBox="1"/>
          <p:nvPr/>
        </p:nvSpPr>
        <p:spPr>
          <a:xfrm>
            <a:off x="4832787" y="2450592"/>
            <a:ext cx="292608" cy="566928"/>
          </a:xfrm>
          <a:prstGeom prst="rect">
            <a:avLst/>
          </a:prstGeom>
          <a:noFill/>
          <a:ln/>
        </p:spPr>
        <p:txBody>
          <a:bodyPr wrap="square" lIns="0" tIns="0" rIns="0" bIns="0" rtlCol="0" anchor="ctr"/>
          <a:lstStyle/>
          <a:p>
            <a:pPr algn="ctr" indent="0" marL="0">
              <a:buNone/>
            </a:pPr>
            <a:r>
              <a:rPr lang="en-US" sz="2200" b="1" dirty="0">
                <a:solidFill>
                  <a:srgbClr val="D4A62A"/>
                </a:solidFill>
                <a:latin typeface="Calibri" pitchFamily="34" charset="0"/>
                <a:ea typeface="Calibri" pitchFamily="34" charset="-122"/>
                <a:cs typeface="Calibri" pitchFamily="34" charset="-120"/>
              </a:rPr>
              <a:t>›</a:t>
            </a:r>
            <a:endParaRPr lang="en-US" sz="2200" dirty="0"/>
          </a:p>
        </p:txBody>
      </p:sp>
      <p:sp>
        <p:nvSpPr>
          <p:cNvPr id="20" name="g_c2"/>
          <p:cNvSpPr/>
          <p:nvPr/>
        </p:nvSpPr>
        <p:spPr>
          <a:xfrm>
            <a:off x="5107107" y="2212848"/>
            <a:ext cx="1977481" cy="3611880"/>
          </a:xfrm>
          <a:prstGeom prst="roundRect">
            <a:avLst>
              <a:gd name="adj" fmla="val 277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1" name="Shape 19"/>
          <p:cNvSpPr/>
          <p:nvPr/>
        </p:nvSpPr>
        <p:spPr>
          <a:xfrm>
            <a:off x="5812384" y="2450592"/>
            <a:ext cx="566928" cy="566928"/>
          </a:xfrm>
          <a:prstGeom prst="roundRect">
            <a:avLst>
              <a:gd name="adj" fmla="val 56452"/>
            </a:avLst>
          </a:prstGeom>
          <a:solidFill>
            <a:srgbClr val="0E6B4F"/>
          </a:solidFill>
          <a:ln w="12700">
            <a:solidFill>
              <a:srgbClr val="25B98C"/>
            </a:solidFill>
            <a:prstDash val="solid"/>
          </a:ln>
        </p:spPr>
      </p:sp>
      <p:sp>
        <p:nvSpPr>
          <p:cNvPr id="22" name="Text 20"/>
          <p:cNvSpPr txBox="1"/>
          <p:nvPr/>
        </p:nvSpPr>
        <p:spPr>
          <a:xfrm>
            <a:off x="5812384" y="2450592"/>
            <a:ext cx="566928" cy="566928"/>
          </a:xfrm>
          <a:prstGeom prst="rect">
            <a:avLst/>
          </a:prstGeom>
          <a:noFill/>
          <a:ln/>
        </p:spPr>
        <p:txBody>
          <a:bodyPr wrap="square" lIns="0" tIns="0" rIns="0" bIns="0" rtlCol="0" anchor="ctr"/>
          <a:lstStyle/>
          <a:p>
            <a:pPr algn="ctr" indent="0" marL="0">
              <a:buNone/>
            </a:pPr>
            <a:r>
              <a:rPr lang="en-US" sz="1600" b="1" dirty="0">
                <a:solidFill>
                  <a:srgbClr val="F0D68A"/>
                </a:solidFill>
                <a:latin typeface="Cambria" pitchFamily="34" charset="0"/>
                <a:ea typeface="Cambria" pitchFamily="34" charset="-122"/>
                <a:cs typeface="Cambria" pitchFamily="34" charset="-120"/>
              </a:rPr>
              <a:t>3</a:t>
            </a:r>
            <a:endParaRPr lang="en-US" sz="1600" dirty="0"/>
          </a:p>
        </p:txBody>
      </p:sp>
      <p:sp>
        <p:nvSpPr>
          <p:cNvPr id="23" name="Text 21"/>
          <p:cNvSpPr txBox="1"/>
          <p:nvPr/>
        </p:nvSpPr>
        <p:spPr>
          <a:xfrm>
            <a:off x="5253411" y="3127248"/>
            <a:ext cx="1684873" cy="658368"/>
          </a:xfrm>
          <a:prstGeom prst="rect">
            <a:avLst/>
          </a:prstGeom>
          <a:noFill/>
          <a:ln/>
        </p:spPr>
        <p:txBody>
          <a:bodyPr wrap="square" lIns="0" tIns="0" rIns="0" bIns="0" rtlCol="0" anchor="ctr"/>
          <a:lstStyle/>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INDEXATION</a:t>
            </a:r>
            <a:endParaRPr lang="en-US" sz="1150" dirty="0"/>
          </a:p>
        </p:txBody>
      </p:sp>
      <p:sp>
        <p:nvSpPr>
          <p:cNvPr id="24" name="Text 22"/>
          <p:cNvSpPr txBox="1"/>
          <p:nvPr/>
        </p:nvSpPr>
        <p:spPr>
          <a:xfrm>
            <a:off x="5289987" y="3803904"/>
            <a:ext cx="1611721" cy="123444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Colonne vectorielle de dimension 384, index HNSW en distance cosinus.</a:t>
            </a:r>
            <a:endParaRPr lang="en-US" sz="1050" dirty="0"/>
          </a:p>
        </p:txBody>
      </p:sp>
      <p:sp>
        <p:nvSpPr>
          <p:cNvPr id="25" name="Text 23"/>
          <p:cNvSpPr txBox="1"/>
          <p:nvPr/>
        </p:nvSpPr>
        <p:spPr>
          <a:xfrm>
            <a:off x="5289987" y="5074920"/>
            <a:ext cx="1611721" cy="658368"/>
          </a:xfrm>
          <a:prstGeom prst="rect">
            <a:avLst/>
          </a:prstGeom>
          <a:noFill/>
          <a:ln/>
        </p:spPr>
        <p:txBody>
          <a:bodyPr wrap="square" lIns="0" tIns="0" rIns="0" bIns="0" rtlCol="0" anchor="ctr"/>
          <a:lstStyle/>
          <a:p>
            <a:pPr indent="0" marL="0">
              <a:lnSpc>
                <a:spcPts val="1300"/>
              </a:lnSpc>
              <a:buNone/>
            </a:pPr>
            <a:r>
              <a:rPr lang="en-US" sz="1000" i="1" dirty="0">
                <a:solidFill>
                  <a:srgbClr val="25B98C"/>
                </a:solidFill>
                <a:latin typeface="Calibri" pitchFamily="34" charset="0"/>
                <a:ea typeface="Calibri" pitchFamily="34" charset="-122"/>
                <a:cs typeface="Calibri" pitchFamily="34" charset="-120"/>
              </a:rPr>
              <a:t>La recherche des plus proches voisins devient praticable.</a:t>
            </a:r>
            <a:endParaRPr lang="en-US" sz="1000" dirty="0"/>
          </a:p>
        </p:txBody>
      </p:sp>
      <p:sp>
        <p:nvSpPr>
          <p:cNvPr id="26" name="Text 24"/>
          <p:cNvSpPr txBox="1"/>
          <p:nvPr/>
        </p:nvSpPr>
        <p:spPr>
          <a:xfrm>
            <a:off x="7066300" y="2450592"/>
            <a:ext cx="292608" cy="566928"/>
          </a:xfrm>
          <a:prstGeom prst="rect">
            <a:avLst/>
          </a:prstGeom>
          <a:noFill/>
          <a:ln/>
        </p:spPr>
        <p:txBody>
          <a:bodyPr wrap="square" lIns="0" tIns="0" rIns="0" bIns="0" rtlCol="0" anchor="ctr"/>
          <a:lstStyle/>
          <a:p>
            <a:pPr algn="ctr" indent="0" marL="0">
              <a:buNone/>
            </a:pPr>
            <a:r>
              <a:rPr lang="en-US" sz="2200" b="1" dirty="0">
                <a:solidFill>
                  <a:srgbClr val="D4A62A"/>
                </a:solidFill>
                <a:latin typeface="Calibri" pitchFamily="34" charset="0"/>
                <a:ea typeface="Calibri" pitchFamily="34" charset="-122"/>
                <a:cs typeface="Calibri" pitchFamily="34" charset="-120"/>
              </a:rPr>
              <a:t>›</a:t>
            </a:r>
            <a:endParaRPr lang="en-US" sz="2200" dirty="0"/>
          </a:p>
        </p:txBody>
      </p:sp>
      <p:sp>
        <p:nvSpPr>
          <p:cNvPr id="27" name="g_c3"/>
          <p:cNvSpPr/>
          <p:nvPr/>
        </p:nvSpPr>
        <p:spPr>
          <a:xfrm>
            <a:off x="7340620" y="2212848"/>
            <a:ext cx="1977481" cy="3611880"/>
          </a:xfrm>
          <a:prstGeom prst="roundRect">
            <a:avLst>
              <a:gd name="adj" fmla="val 277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8" name="Shape 26"/>
          <p:cNvSpPr/>
          <p:nvPr/>
        </p:nvSpPr>
        <p:spPr>
          <a:xfrm>
            <a:off x="8045897" y="2450592"/>
            <a:ext cx="566928" cy="566928"/>
          </a:xfrm>
          <a:prstGeom prst="roundRect">
            <a:avLst>
              <a:gd name="adj" fmla="val 56452"/>
            </a:avLst>
          </a:prstGeom>
          <a:solidFill>
            <a:srgbClr val="0E6B4F"/>
          </a:solidFill>
          <a:ln w="12700">
            <a:solidFill>
              <a:srgbClr val="25B98C"/>
            </a:solidFill>
            <a:prstDash val="solid"/>
          </a:ln>
        </p:spPr>
      </p:sp>
      <p:sp>
        <p:nvSpPr>
          <p:cNvPr id="29" name="Text 27"/>
          <p:cNvSpPr txBox="1"/>
          <p:nvPr/>
        </p:nvSpPr>
        <p:spPr>
          <a:xfrm>
            <a:off x="8045897" y="2450592"/>
            <a:ext cx="566928" cy="566928"/>
          </a:xfrm>
          <a:prstGeom prst="rect">
            <a:avLst/>
          </a:prstGeom>
          <a:noFill/>
          <a:ln/>
        </p:spPr>
        <p:txBody>
          <a:bodyPr wrap="square" lIns="0" tIns="0" rIns="0" bIns="0" rtlCol="0" anchor="ctr"/>
          <a:lstStyle/>
          <a:p>
            <a:pPr algn="ctr" indent="0" marL="0">
              <a:buNone/>
            </a:pPr>
            <a:r>
              <a:rPr lang="en-US" sz="1600" b="1" dirty="0">
                <a:solidFill>
                  <a:srgbClr val="F0D68A"/>
                </a:solidFill>
                <a:latin typeface="Cambria" pitchFamily="34" charset="0"/>
                <a:ea typeface="Cambria" pitchFamily="34" charset="-122"/>
                <a:cs typeface="Cambria" pitchFamily="34" charset="-120"/>
              </a:rPr>
              <a:t>4</a:t>
            </a:r>
            <a:endParaRPr lang="en-US" sz="1600" dirty="0"/>
          </a:p>
        </p:txBody>
      </p:sp>
      <p:sp>
        <p:nvSpPr>
          <p:cNvPr id="30" name="Text 28"/>
          <p:cNvSpPr txBox="1"/>
          <p:nvPr/>
        </p:nvSpPr>
        <p:spPr>
          <a:xfrm>
            <a:off x="7486924" y="3127248"/>
            <a:ext cx="1684873" cy="658368"/>
          </a:xfrm>
          <a:prstGeom prst="rect">
            <a:avLst/>
          </a:prstGeom>
          <a:noFill/>
          <a:ln/>
        </p:spPr>
        <p:txBody>
          <a:bodyPr wrap="square" lIns="0" tIns="0" rIns="0" bIns="0" rtlCol="0" anchor="ctr"/>
          <a:lstStyle/>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RECHERCHE</a:t>
            </a:r>
            <a:endParaRPr lang="en-US" sz="1150" dirty="0"/>
          </a:p>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ET AUGMENTATION</a:t>
            </a:r>
            <a:endParaRPr lang="en-US" sz="1150" dirty="0"/>
          </a:p>
        </p:txBody>
      </p:sp>
      <p:sp>
        <p:nvSpPr>
          <p:cNvPr id="31" name="Text 29"/>
          <p:cNvSpPr txBox="1"/>
          <p:nvPr/>
        </p:nvSpPr>
        <p:spPr>
          <a:xfrm>
            <a:off x="7523500" y="3803904"/>
            <a:ext cx="1611721" cy="123444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Garde-fous d’abord ; puis la question devient vecteur, les fragments proches sont récupérés et l’instruction composée.</a:t>
            </a:r>
            <a:endParaRPr lang="en-US" sz="1050" dirty="0"/>
          </a:p>
        </p:txBody>
      </p:sp>
      <p:sp>
        <p:nvSpPr>
          <p:cNvPr id="32" name="Text 30"/>
          <p:cNvSpPr txBox="1"/>
          <p:nvPr/>
        </p:nvSpPr>
        <p:spPr>
          <a:xfrm>
            <a:off x="7523500" y="5074920"/>
            <a:ext cx="1611721" cy="658368"/>
          </a:xfrm>
          <a:prstGeom prst="rect">
            <a:avLst/>
          </a:prstGeom>
          <a:noFill/>
          <a:ln/>
        </p:spPr>
        <p:txBody>
          <a:bodyPr wrap="square" lIns="0" tIns="0" rIns="0" bIns="0" rtlCol="0" anchor="ctr"/>
          <a:lstStyle/>
          <a:p>
            <a:pPr indent="0" marL="0">
              <a:lnSpc>
                <a:spcPts val="1300"/>
              </a:lnSpc>
              <a:buNone/>
            </a:pPr>
            <a:r>
              <a:rPr lang="en-US" sz="1000" i="1" dirty="0">
                <a:solidFill>
                  <a:srgbClr val="25B98C"/>
                </a:solidFill>
                <a:latin typeface="Calibri" pitchFamily="34" charset="0"/>
                <a:ea typeface="Calibri" pitchFamily="34" charset="-122"/>
                <a:cs typeface="Calibri" pitchFamily="34" charset="-120"/>
              </a:rPr>
              <a:t>La recherche est restreinte au musée ou à la salle du visiteur.</a:t>
            </a:r>
            <a:endParaRPr lang="en-US" sz="1000" dirty="0"/>
          </a:p>
        </p:txBody>
      </p:sp>
      <p:sp>
        <p:nvSpPr>
          <p:cNvPr id="33" name="Text 31"/>
          <p:cNvSpPr txBox="1"/>
          <p:nvPr/>
        </p:nvSpPr>
        <p:spPr>
          <a:xfrm>
            <a:off x="9299814" y="2450592"/>
            <a:ext cx="292608" cy="566928"/>
          </a:xfrm>
          <a:prstGeom prst="rect">
            <a:avLst/>
          </a:prstGeom>
          <a:noFill/>
          <a:ln/>
        </p:spPr>
        <p:txBody>
          <a:bodyPr wrap="square" lIns="0" tIns="0" rIns="0" bIns="0" rtlCol="0" anchor="ctr"/>
          <a:lstStyle/>
          <a:p>
            <a:pPr algn="ctr" indent="0" marL="0">
              <a:buNone/>
            </a:pPr>
            <a:r>
              <a:rPr lang="en-US" sz="2200" b="1" dirty="0">
                <a:solidFill>
                  <a:srgbClr val="D4A62A"/>
                </a:solidFill>
                <a:latin typeface="Calibri" pitchFamily="34" charset="0"/>
                <a:ea typeface="Calibri" pitchFamily="34" charset="-122"/>
                <a:cs typeface="Calibri" pitchFamily="34" charset="-120"/>
              </a:rPr>
              <a:t>›</a:t>
            </a:r>
            <a:endParaRPr lang="en-US" sz="2200" dirty="0"/>
          </a:p>
        </p:txBody>
      </p:sp>
      <p:sp>
        <p:nvSpPr>
          <p:cNvPr id="34" name="g_c4"/>
          <p:cNvSpPr/>
          <p:nvPr/>
        </p:nvSpPr>
        <p:spPr>
          <a:xfrm>
            <a:off x="9574134" y="2212848"/>
            <a:ext cx="1977481" cy="3611880"/>
          </a:xfrm>
          <a:prstGeom prst="roundRect">
            <a:avLst>
              <a:gd name="adj" fmla="val 277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35" name="Shape 33"/>
          <p:cNvSpPr/>
          <p:nvPr/>
        </p:nvSpPr>
        <p:spPr>
          <a:xfrm>
            <a:off x="10279410" y="2450592"/>
            <a:ext cx="566928" cy="566928"/>
          </a:xfrm>
          <a:prstGeom prst="roundRect">
            <a:avLst>
              <a:gd name="adj" fmla="val 56452"/>
            </a:avLst>
          </a:prstGeom>
          <a:solidFill>
            <a:srgbClr val="0E6B4F"/>
          </a:solidFill>
          <a:ln w="12700">
            <a:solidFill>
              <a:srgbClr val="25B98C"/>
            </a:solidFill>
            <a:prstDash val="solid"/>
          </a:ln>
        </p:spPr>
      </p:sp>
      <p:sp>
        <p:nvSpPr>
          <p:cNvPr id="36" name="Text 34"/>
          <p:cNvSpPr txBox="1"/>
          <p:nvPr/>
        </p:nvSpPr>
        <p:spPr>
          <a:xfrm>
            <a:off x="10279410" y="2450592"/>
            <a:ext cx="566928" cy="566928"/>
          </a:xfrm>
          <a:prstGeom prst="rect">
            <a:avLst/>
          </a:prstGeom>
          <a:noFill/>
          <a:ln/>
        </p:spPr>
        <p:txBody>
          <a:bodyPr wrap="square" lIns="0" tIns="0" rIns="0" bIns="0" rtlCol="0" anchor="ctr"/>
          <a:lstStyle/>
          <a:p>
            <a:pPr algn="ctr" indent="0" marL="0">
              <a:buNone/>
            </a:pPr>
            <a:r>
              <a:rPr lang="en-US" sz="1600" b="1" dirty="0">
                <a:solidFill>
                  <a:srgbClr val="F0D68A"/>
                </a:solidFill>
                <a:latin typeface="Cambria" pitchFamily="34" charset="0"/>
                <a:ea typeface="Cambria" pitchFamily="34" charset="-122"/>
                <a:cs typeface="Cambria" pitchFamily="34" charset="-120"/>
              </a:rPr>
              <a:t>5</a:t>
            </a:r>
            <a:endParaRPr lang="en-US" sz="1600" dirty="0"/>
          </a:p>
        </p:txBody>
      </p:sp>
      <p:sp>
        <p:nvSpPr>
          <p:cNvPr id="37" name="Text 35"/>
          <p:cNvSpPr txBox="1"/>
          <p:nvPr/>
        </p:nvSpPr>
        <p:spPr>
          <a:xfrm>
            <a:off x="9720438" y="3127248"/>
            <a:ext cx="1684873" cy="658368"/>
          </a:xfrm>
          <a:prstGeom prst="rect">
            <a:avLst/>
          </a:prstGeom>
          <a:noFill/>
          <a:ln/>
        </p:spPr>
        <p:txBody>
          <a:bodyPr wrap="square" lIns="0" tIns="0" rIns="0" bIns="0" rtlCol="0" anchor="ctr"/>
          <a:lstStyle/>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GÉNÉRATION</a:t>
            </a:r>
            <a:endParaRPr lang="en-US" sz="1150" dirty="0"/>
          </a:p>
          <a:p>
            <a:pPr algn="ctr" indent="0" marL="0">
              <a:lnSpc>
                <a:spcPts val="1400"/>
              </a:lnSpc>
              <a:buNone/>
            </a:pPr>
            <a:r>
              <a:rPr lang="en-US" sz="1150" b="1" spc="120" kern="0" dirty="0">
                <a:solidFill>
                  <a:srgbClr val="D4A62A"/>
                </a:solidFill>
                <a:latin typeface="Calibri" pitchFamily="34" charset="0"/>
                <a:ea typeface="Calibri" pitchFamily="34" charset="-122"/>
                <a:cs typeface="Calibri" pitchFamily="34" charset="-120"/>
              </a:rPr>
              <a:t>CONTRÔLÉE</a:t>
            </a:r>
            <a:endParaRPr lang="en-US" sz="1150" dirty="0"/>
          </a:p>
        </p:txBody>
      </p:sp>
      <p:sp>
        <p:nvSpPr>
          <p:cNvPr id="38" name="Text 36"/>
          <p:cNvSpPr txBox="1"/>
          <p:nvPr/>
        </p:nvSpPr>
        <p:spPr>
          <a:xfrm>
            <a:off x="9757014" y="3803904"/>
            <a:ext cx="1611721" cy="123444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Interdiction d’énoncer un fait absent des fragments ; obligation de citer institution et n° d’inventaire.</a:t>
            </a:r>
            <a:endParaRPr lang="en-US" sz="1050" dirty="0"/>
          </a:p>
        </p:txBody>
      </p:sp>
      <p:sp>
        <p:nvSpPr>
          <p:cNvPr id="39" name="Text 37"/>
          <p:cNvSpPr txBox="1"/>
          <p:nvPr/>
        </p:nvSpPr>
        <p:spPr>
          <a:xfrm>
            <a:off x="9757014" y="5074920"/>
            <a:ext cx="1611721" cy="658368"/>
          </a:xfrm>
          <a:prstGeom prst="rect">
            <a:avLst/>
          </a:prstGeom>
          <a:noFill/>
          <a:ln/>
        </p:spPr>
        <p:txBody>
          <a:bodyPr wrap="square" lIns="0" tIns="0" rIns="0" bIns="0" rtlCol="0" anchor="ctr"/>
          <a:lstStyle/>
          <a:p>
            <a:pPr indent="0" marL="0">
              <a:lnSpc>
                <a:spcPts val="1300"/>
              </a:lnSpc>
              <a:buNone/>
            </a:pPr>
            <a:r>
              <a:rPr lang="en-US" sz="1000" i="1" dirty="0">
                <a:solidFill>
                  <a:srgbClr val="25B98C"/>
                </a:solidFill>
                <a:latin typeface="Calibri" pitchFamily="34" charset="0"/>
                <a:ea typeface="Calibri" pitchFamily="34" charset="-122"/>
                <a:cs typeface="Calibri" pitchFamily="34" charset="-120"/>
              </a:rPr>
              <a:t>Et l’autorisation explicite de déclarer qu’il ne sait pas.</a:t>
            </a:r>
            <a:endParaRPr lang="en-US" sz="1000" dirty="0"/>
          </a:p>
        </p:txBody>
      </p:sp>
      <p:sp>
        <p:nvSpPr>
          <p:cNvPr id="40" name="Text 38"/>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41" name="Text 39"/>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16</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4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entr" presetSubtype="8" fill="hold" grpId="0" nodeType="withEffect">
                                  <p:stCondLst>
                                    <p:cond delay="42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additive="base">
                                        <p:cTn id="15" dur="500" fill="hold"/>
                                        <p:tgtEl>
                                          <p:spTgt spid="6"/>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68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additive="base">
                                        <p:cTn id="19" dur="500" fill="hold"/>
                                        <p:tgtEl>
                                          <p:spTgt spid="13"/>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94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anim calcmode="lin" valueType="num">
                                      <p:cBhvr additive="base">
                                        <p:cTn id="23" dur="500" fill="hold"/>
                                        <p:tgtEl>
                                          <p:spTgt spid="20"/>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120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anim calcmode="lin" valueType="num">
                                      <p:cBhvr additive="base">
                                        <p:cTn id="27" dur="500" fill="hold"/>
                                        <p:tgtEl>
                                          <p:spTgt spid="27"/>
                                        </p:tgtEl>
                                        <p:attrNameLst>
                                          <p:attrName>ppt_y</p:attrName>
                                        </p:attrNameLst>
                                      </p:cBhvr>
                                      <p:tavLst>
                                        <p:tav tm="0">
                                          <p:val>
                                            <p:strVal val="#ppt_y+.035"/>
                                          </p:val>
                                        </p:tav>
                                        <p:tav tm="100000">
                                          <p:val>
                                            <p:strVal val="#ppt_y"/>
                                          </p:val>
                                        </p:tav>
                                      </p:tavLst>
                                    </p:anim>
                                  </p:childTnLst>
                                </p:cTn>
                              </p:par>
                              <p:par>
                                <p:cTn id="28" presetID="42" presetClass="entr" presetSubtype="8" fill="hold" grpId="0" nodeType="withEffect">
                                  <p:stCondLst>
                                    <p:cond delay="146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anim calcmode="lin" valueType="num">
                                      <p:cBhvr additive="base">
                                        <p:cTn id="31" dur="500" fill="hold"/>
                                        <p:tgtEl>
                                          <p:spTgt spid="34"/>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7">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LE RÉSULTAT LE PLUS INSTRUCTIF</a:t>
            </a:r>
            <a:endParaRPr lang="en-US" sz="1100" dirty="0"/>
          </a:p>
        </p:txBody>
      </p:sp>
      <p:sp>
        <p:nvSpPr>
          <p:cNvPr id="3" name="l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Le vocabulaire est une seconde dispersion</a:t>
            </a:r>
            <a:endParaRPr lang="en-US" sz="3300" dirty="0"/>
          </a:p>
        </p:txBody>
      </p:sp>
      <p:sp>
        <p:nvSpPr>
          <p:cNvPr id="4" name="l_k"/>
          <p:cNvSpPr txBox="1"/>
          <p:nvPr/>
        </p:nvSpPr>
        <p:spPr>
          <a:xfrm>
            <a:off x="640080" y="1627632"/>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Le nombre de résultats a chuté de plus des deux tiers — et c’est une amélioration.</a:t>
            </a:r>
            <a:endParaRPr lang="en-US" sz="1450" dirty="0"/>
          </a:p>
        </p:txBody>
      </p:sp>
      <p:sp>
        <p:nvSpPr>
          <p:cNvPr id="5" name="l_ch"/>
          <p:cNvSpPr/>
          <p:nvPr/>
        </p:nvSpPr>
        <p:spPr>
          <a:xfrm>
            <a:off x="640080" y="2194560"/>
            <a:ext cx="5760720" cy="3749040"/>
          </a:xfrm>
          <a:prstGeom prst="roundRect">
            <a:avLst>
              <a:gd name="adj" fmla="val 146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6" name="Text 4"/>
          <p:cNvSpPr txBox="1"/>
          <p:nvPr/>
        </p:nvSpPr>
        <p:spPr>
          <a:xfrm>
            <a:off x="896112" y="2377440"/>
            <a:ext cx="5257800" cy="274320"/>
          </a:xfrm>
          <a:prstGeom prst="rect">
            <a:avLst/>
          </a:prstGeom>
          <a:noFill/>
          <a:ln/>
        </p:spPr>
        <p:txBody>
          <a:bodyPr wrap="square" lIns="0" tIns="0" rIns="0" bIns="0" rtlCol="0" anchor="ctr"/>
          <a:lstStyle/>
          <a:p>
            <a:pPr indent="0" marL="0">
              <a:buNone/>
            </a:pPr>
            <a:r>
              <a:rPr lang="en-US" sz="900" b="1" spc="120" kern="0" dirty="0">
                <a:solidFill>
                  <a:srgbClr val="D4A62A"/>
                </a:solidFill>
                <a:latin typeface="Calibri" pitchFamily="34" charset="0"/>
                <a:ea typeface="Calibri" pitchFamily="34" charset="-122"/>
                <a:cs typeface="Calibri" pitchFamily="34" charset="-120"/>
              </a:rPr>
              <a:t>MÊMES COLLECTIONS, MÊME SEUIL DE NOTATION — SEULE LA FORMULATION CHANGE</a:t>
            </a:r>
            <a:endParaRPr lang="en-US" sz="900" dirty="0"/>
          </a:p>
        </p:txBody>
      </p:sp>
      <p:graphicFrame>
        <p:nvGraphicFramePr>
          <p:cNvPr id="7" name="Chart 0" descr=""/>
          <p:cNvGraphicFramePr/>
          <p:nvPr/>
        </p:nvGraphicFramePr>
        <p:xfrm>
          <a:off x="777240" y="2697480"/>
          <a:ext cx="5486400" cy="3108960"/>
        </p:xfrm>
        <a:graphic xmlns:a="http://schemas.openxmlformats.org/drawingml/2006/main">
          <a:graphicData uri="http://schemas.openxmlformats.org/drawingml/2006/chart">
            <c:chart xmlns:c="http://schemas.openxmlformats.org/drawingml/2006/chart" r:id="rId1"/>
          </a:graphicData>
        </a:graphic>
      </p:graphicFrame>
      <p:sp>
        <p:nvSpPr>
          <p:cNvPr id="8" name="l_r0"/>
          <p:cNvSpPr/>
          <p:nvPr/>
        </p:nvSpPr>
        <p:spPr>
          <a:xfrm>
            <a:off x="6675120" y="2194560"/>
            <a:ext cx="4873752" cy="950976"/>
          </a:xfrm>
          <a:prstGeom prst="roundRect">
            <a:avLst>
              <a:gd name="adj" fmla="val 5769"/>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9" name="Text 6"/>
          <p:cNvSpPr txBox="1"/>
          <p:nvPr/>
        </p:nvSpPr>
        <p:spPr>
          <a:xfrm>
            <a:off x="6876288" y="2286000"/>
            <a:ext cx="1783080" cy="457200"/>
          </a:xfrm>
          <a:prstGeom prst="rect">
            <a:avLst/>
          </a:prstGeom>
          <a:noFill/>
          <a:ln/>
        </p:spPr>
        <p:txBody>
          <a:bodyPr wrap="square" lIns="0" tIns="0" rIns="0" bIns="0" rtlCol="0" anchor="ctr"/>
          <a:lstStyle/>
          <a:p>
            <a:pPr indent="0" marL="0">
              <a:buNone/>
            </a:pPr>
            <a:r>
              <a:rPr lang="en-US" sz="2000" b="1" dirty="0">
                <a:solidFill>
                  <a:srgbClr val="F0D68A"/>
                </a:solidFill>
                <a:latin typeface="Cambria" pitchFamily="34" charset="0"/>
                <a:ea typeface="Cambria" pitchFamily="34" charset="-122"/>
                <a:cs typeface="Cambria" pitchFamily="34" charset="-120"/>
              </a:rPr>
              <a:t>57 → 85</a:t>
            </a:r>
            <a:endParaRPr lang="en-US" sz="2000" dirty="0"/>
          </a:p>
        </p:txBody>
      </p:sp>
      <p:sp>
        <p:nvSpPr>
          <p:cNvPr id="10" name="Text 7"/>
          <p:cNvSpPr txBox="1"/>
          <p:nvPr/>
        </p:nvSpPr>
        <p:spPr>
          <a:xfrm>
            <a:off x="8686800" y="2267712"/>
            <a:ext cx="2651760" cy="804672"/>
          </a:xfrm>
          <a:prstGeom prst="rect">
            <a:avLst/>
          </a:prstGeom>
          <a:noFill/>
          <a:ln/>
        </p:spPr>
        <p:txBody>
          <a:bodyPr wrap="square" lIns="0" tIns="0" rIns="0" bIns="0" rtlCol="0" anchor="ctr"/>
          <a:lstStyle/>
          <a:p>
            <a:pPr indent="0" marL="0">
              <a:lnSpc>
                <a:spcPts val="1250"/>
              </a:lnSpc>
              <a:buNone/>
            </a:pPr>
            <a:r>
              <a:rPr lang="en-US" sz="950" dirty="0">
                <a:solidFill>
                  <a:srgbClr val="9CB6A9"/>
                </a:solidFill>
                <a:latin typeface="Calibri" pitchFamily="34" charset="0"/>
                <a:ea typeface="Calibri" pitchFamily="34" charset="-122"/>
                <a:cs typeface="Calibri" pitchFamily="34" charset="-120"/>
              </a:rPr>
              <a:t>Meilleur score de correspondance, sur 100, à collections et seuil identiques</a:t>
            </a:r>
            <a:endParaRPr lang="en-US" sz="950" dirty="0"/>
          </a:p>
        </p:txBody>
      </p:sp>
      <p:sp>
        <p:nvSpPr>
          <p:cNvPr id="11" name="l_r1"/>
          <p:cNvSpPr/>
          <p:nvPr/>
        </p:nvSpPr>
        <p:spPr>
          <a:xfrm>
            <a:off x="6675120" y="3255264"/>
            <a:ext cx="4873752" cy="950976"/>
          </a:xfrm>
          <a:prstGeom prst="roundRect">
            <a:avLst>
              <a:gd name="adj" fmla="val 5769"/>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Text 9"/>
          <p:cNvSpPr txBox="1"/>
          <p:nvPr/>
        </p:nvSpPr>
        <p:spPr>
          <a:xfrm>
            <a:off x="6876288" y="3346704"/>
            <a:ext cx="1783080" cy="457200"/>
          </a:xfrm>
          <a:prstGeom prst="rect">
            <a:avLst/>
          </a:prstGeom>
          <a:noFill/>
          <a:ln/>
        </p:spPr>
        <p:txBody>
          <a:bodyPr wrap="square" lIns="0" tIns="0" rIns="0" bIns="0" rtlCol="0" anchor="ctr"/>
          <a:lstStyle/>
          <a:p>
            <a:pPr indent="0" marL="0">
              <a:buNone/>
            </a:pPr>
            <a:r>
              <a:rPr lang="en-US" sz="2000" b="1" dirty="0">
                <a:solidFill>
                  <a:srgbClr val="25B98C"/>
                </a:solidFill>
                <a:latin typeface="Cambria" pitchFamily="34" charset="0"/>
                <a:ea typeface="Cambria" pitchFamily="34" charset="-122"/>
                <a:cs typeface="Cambria" pitchFamily="34" charset="-120"/>
              </a:rPr>
              <a:t>0,898 / 0,779</a:t>
            </a:r>
            <a:endParaRPr lang="en-US" sz="2000" dirty="0"/>
          </a:p>
        </p:txBody>
      </p:sp>
      <p:sp>
        <p:nvSpPr>
          <p:cNvPr id="13" name="Text 10"/>
          <p:cNvSpPr txBox="1"/>
          <p:nvPr/>
        </p:nvSpPr>
        <p:spPr>
          <a:xfrm>
            <a:off x="8686800" y="3328416"/>
            <a:ext cx="2651760" cy="804672"/>
          </a:xfrm>
          <a:prstGeom prst="rect">
            <a:avLst/>
          </a:prstGeom>
          <a:noFill/>
          <a:ln/>
        </p:spPr>
        <p:txBody>
          <a:bodyPr wrap="square" lIns="0" tIns="0" rIns="0" bIns="0" rtlCol="0" anchor="ctr"/>
          <a:lstStyle/>
          <a:p>
            <a:pPr indent="0" marL="0">
              <a:lnSpc>
                <a:spcPts val="1250"/>
              </a:lnSpc>
              <a:buNone/>
            </a:pPr>
            <a:r>
              <a:rPr lang="en-US" sz="950" dirty="0">
                <a:solidFill>
                  <a:srgbClr val="9CB6A9"/>
                </a:solidFill>
                <a:latin typeface="Calibri" pitchFamily="34" charset="0"/>
                <a:ea typeface="Calibri" pitchFamily="34" charset="-122"/>
                <a:cs typeface="Calibri" pitchFamily="34" charset="-120"/>
              </a:rPr>
              <a:t>En anglais, les correspondances légitimes se séparent nettement du bruit : une étendue de 0,20, contre 0,13 en français</a:t>
            </a:r>
            <a:endParaRPr lang="en-US" sz="950" dirty="0"/>
          </a:p>
        </p:txBody>
      </p:sp>
      <p:sp>
        <p:nvSpPr>
          <p:cNvPr id="14" name="l_r2"/>
          <p:cNvSpPr/>
          <p:nvPr/>
        </p:nvSpPr>
        <p:spPr>
          <a:xfrm>
            <a:off x="6675120" y="4315968"/>
            <a:ext cx="4873752" cy="950976"/>
          </a:xfrm>
          <a:prstGeom prst="roundRect">
            <a:avLst>
              <a:gd name="adj" fmla="val 5769"/>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5" name="Text 12"/>
          <p:cNvSpPr txBox="1"/>
          <p:nvPr/>
        </p:nvSpPr>
        <p:spPr>
          <a:xfrm>
            <a:off x="6876288" y="4407408"/>
            <a:ext cx="1783080" cy="457200"/>
          </a:xfrm>
          <a:prstGeom prst="rect">
            <a:avLst/>
          </a:prstGeom>
          <a:noFill/>
          <a:ln/>
        </p:spPr>
        <p:txBody>
          <a:bodyPr wrap="square" lIns="0" tIns="0" rIns="0" bIns="0" rtlCol="0" anchor="ctr"/>
          <a:lstStyle/>
          <a:p>
            <a:pPr indent="0" marL="0">
              <a:buNone/>
            </a:pPr>
            <a:r>
              <a:rPr lang="en-US" sz="2000" b="1" dirty="0">
                <a:solidFill>
                  <a:srgbClr val="F4F1E9"/>
                </a:solidFill>
                <a:latin typeface="Cambria" pitchFamily="34" charset="0"/>
                <a:ea typeface="Cambria" pitchFamily="34" charset="-122"/>
                <a:cs typeface="Cambria" pitchFamily="34" charset="-120"/>
              </a:rPr>
              <a:t>16 → 5</a:t>
            </a:r>
            <a:endParaRPr lang="en-US" sz="2000" dirty="0"/>
          </a:p>
        </p:txBody>
      </p:sp>
      <p:sp>
        <p:nvSpPr>
          <p:cNvPr id="16" name="Text 13"/>
          <p:cNvSpPr txBox="1"/>
          <p:nvPr/>
        </p:nvSpPr>
        <p:spPr>
          <a:xfrm>
            <a:off x="8686800" y="4389120"/>
            <a:ext cx="2651760" cy="804672"/>
          </a:xfrm>
          <a:prstGeom prst="rect">
            <a:avLst/>
          </a:prstGeom>
          <a:noFill/>
          <a:ln/>
        </p:spPr>
        <p:txBody>
          <a:bodyPr wrap="square" lIns="0" tIns="0" rIns="0" bIns="0" rtlCol="0" anchor="ctr"/>
          <a:lstStyle/>
          <a:p>
            <a:pPr indent="0" marL="0">
              <a:lnSpc>
                <a:spcPts val="1250"/>
              </a:lnSpc>
              <a:buNone/>
            </a:pPr>
            <a:r>
              <a:rPr lang="en-US" sz="950" dirty="0">
                <a:solidFill>
                  <a:srgbClr val="9CB6A9"/>
                </a:solidFill>
                <a:latin typeface="Calibri" pitchFamily="34" charset="0"/>
                <a:ea typeface="Calibri" pitchFamily="34" charset="-122"/>
                <a:cs typeface="Calibri" pitchFamily="34" charset="-120"/>
              </a:rPr>
              <a:t>Résultats retournés : on échange du rappel contre de la précision — un masque éléphant de Cleveland et deux masques du Metropolitan remontent en tête</a:t>
            </a:r>
            <a:endParaRPr lang="en-US" sz="950" dirty="0"/>
          </a:p>
        </p:txBody>
      </p:sp>
      <p:sp>
        <p:nvSpPr>
          <p:cNvPr id="17" name="l_q"/>
          <p:cNvSpPr/>
          <p:nvPr/>
        </p:nvSpPr>
        <p:spPr>
          <a:xfrm>
            <a:off x="6675120" y="5413248"/>
            <a:ext cx="4873752" cy="530352"/>
          </a:xfrm>
          <a:prstGeom prst="roundRect">
            <a:avLst>
              <a:gd name="adj" fmla="val 10345"/>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18" name="Text 15"/>
          <p:cNvSpPr txBox="1"/>
          <p:nvPr/>
        </p:nvSpPr>
        <p:spPr>
          <a:xfrm>
            <a:off x="6858000" y="5431536"/>
            <a:ext cx="4507992" cy="493776"/>
          </a:xfrm>
          <a:prstGeom prst="rect">
            <a:avLst/>
          </a:prstGeom>
          <a:noFill/>
          <a:ln/>
        </p:spPr>
        <p:txBody>
          <a:bodyPr wrap="square" lIns="0" tIns="0" rIns="0" bIns="0" rtlCol="0" anchor="ctr"/>
          <a:lstStyle/>
          <a:p>
            <a:pPr algn="ctr" indent="0" marL="0">
              <a:lnSpc>
                <a:spcPts val="1500"/>
              </a:lnSpc>
              <a:buNone/>
            </a:pPr>
            <a:r>
              <a:rPr lang="en-US" sz="1200" i="1" dirty="0">
                <a:solidFill>
                  <a:srgbClr val="F0D68A"/>
                </a:solidFill>
                <a:latin typeface="Cambria" pitchFamily="34" charset="0"/>
                <a:ea typeface="Cambria" pitchFamily="34" charset="-122"/>
                <a:cs typeface="Cambria" pitchFamily="34" charset="-120"/>
              </a:rPr>
              <a:t>« Ce n’est pas la méthode qui échouait, c’est la langue dans laquelle on la sollicitait. »</a:t>
            </a:r>
            <a:endParaRPr lang="en-US" sz="1200" dirty="0"/>
          </a:p>
        </p:txBody>
      </p:sp>
      <p:sp>
        <p:nvSpPr>
          <p:cNvPr id="19" name="Text 1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0" name="Text 1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17</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38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00"/>
                                        <p:tgtEl>
                                          <p:spTgt spid="5"/>
                                        </p:tgtEl>
                                      </p:cBhvr>
                                    </p:animEffect>
                                  </p:childTnLst>
                                </p:cTn>
                              </p:par>
                              <p:par>
                                <p:cTn id="15" presetID="42" presetClass="entr" presetSubtype="8" fill="hold" grpId="0" nodeType="withEffect">
                                  <p:stCondLst>
                                    <p:cond delay="6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additive="base">
                                        <p:cTn id="18" dur="500" fill="hold"/>
                                        <p:tgtEl>
                                          <p:spTgt spid="8"/>
                                        </p:tgtEl>
                                        <p:attrNameLst>
                                          <p:attrName>ppt_y</p:attrName>
                                        </p:attrNameLst>
                                      </p:cBhvr>
                                      <p:tavLst>
                                        <p:tav tm="0">
                                          <p:val>
                                            <p:strVal val="#ppt_y+.035"/>
                                          </p:val>
                                        </p:tav>
                                        <p:tav tm="100000">
                                          <p:val>
                                            <p:strVal val="#ppt_y"/>
                                          </p:val>
                                        </p:tav>
                                      </p:tavLst>
                                    </p:anim>
                                  </p:childTnLst>
                                </p:cTn>
                              </p:par>
                              <p:par>
                                <p:cTn id="19" presetID="42" presetClass="entr" presetSubtype="8" fill="hold" grpId="0" nodeType="withEffect">
                                  <p:stCondLst>
                                    <p:cond delay="8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anim calcmode="lin" valueType="num">
                                      <p:cBhvr additive="base">
                                        <p:cTn id="22" dur="500" fill="hold"/>
                                        <p:tgtEl>
                                          <p:spTgt spid="11"/>
                                        </p:tgtEl>
                                        <p:attrNameLst>
                                          <p:attrName>ppt_y</p:attrName>
                                        </p:attrNameLst>
                                      </p:cBhvr>
                                      <p:tavLst>
                                        <p:tav tm="0">
                                          <p:val>
                                            <p:strVal val="#ppt_y+.035"/>
                                          </p:val>
                                        </p:tav>
                                        <p:tav tm="100000">
                                          <p:val>
                                            <p:strVal val="#ppt_y"/>
                                          </p:val>
                                        </p:tav>
                                      </p:tavLst>
                                    </p:anim>
                                  </p:childTnLst>
                                </p:cTn>
                              </p:par>
                              <p:par>
                                <p:cTn id="23" presetID="42" presetClass="entr" presetSubtype="8" fill="hold" grpId="0" nodeType="withEffect">
                                  <p:stCondLst>
                                    <p:cond delay="98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additive="base">
                                        <p:cTn id="26" dur="500" fill="hold"/>
                                        <p:tgtEl>
                                          <p:spTgt spid="14"/>
                                        </p:tgtEl>
                                        <p:attrNameLst>
                                          <p:attrName>ppt_y</p:attrName>
                                        </p:attrNameLst>
                                      </p:cBhvr>
                                      <p:tavLst>
                                        <p:tav tm="0">
                                          <p:val>
                                            <p:strVal val="#ppt_y+.035"/>
                                          </p:val>
                                        </p:tav>
                                        <p:tav tm="100000">
                                          <p:val>
                                            <p:strVal val="#ppt_y"/>
                                          </p:val>
                                        </p:tav>
                                      </p:tavLst>
                                    </p:anim>
                                  </p:childTnLst>
                                </p:cTn>
                              </p:par>
                              <p:par>
                                <p:cTn id="27" presetID="10" presetClass="entr" presetSubtype="0" fill="hold" grpId="0" nodeType="withEffect">
                                  <p:stCondLst>
                                    <p:cond delay="1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8">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1828800" y="3840480"/>
            <a:ext cx="5852160" cy="5852160"/>
          </a:xfrm>
          <a:prstGeom prst="ellipse">
            <a:avLst/>
          </a:prstGeom>
          <a:solidFill>
            <a:srgbClr val="0E6B4F">
              <a:alpha val="9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FIABILITÉ DE LA PAROLE</a:t>
            </a:r>
            <a:endParaRPr lang="en-US" sz="1100" dirty="0"/>
          </a:p>
        </p:txBody>
      </p:sp>
      <p:sp>
        <p:nvSpPr>
          <p:cNvPr id="4" name="n_t"/>
          <p:cNvSpPr txBox="1"/>
          <p:nvPr/>
        </p:nvSpPr>
        <p:spPr>
          <a:xfrm>
            <a:off x="640080" y="822960"/>
            <a:ext cx="10911535" cy="1005840"/>
          </a:xfrm>
          <a:prstGeom prst="rect">
            <a:avLst/>
          </a:prstGeom>
          <a:noFill/>
          <a:ln/>
        </p:spPr>
        <p:txBody>
          <a:bodyPr wrap="square" lIns="0" tIns="0" rIns="0" bIns="0" rtlCol="0" anchor="ctr"/>
          <a:lstStyle/>
          <a:p>
            <a:pPr indent="0" marL="0">
              <a:lnSpc>
                <a:spcPts val="3600"/>
              </a:lnSpc>
              <a:buNone/>
            </a:pPr>
            <a:r>
              <a:rPr lang="en-US" sz="3000" b="1" dirty="0">
                <a:solidFill>
                  <a:srgbClr val="F4F1E9"/>
                </a:solidFill>
                <a:latin typeface="Cambria" pitchFamily="34" charset="0"/>
                <a:ea typeface="Cambria" pitchFamily="34" charset="-122"/>
                <a:cs typeface="Cambria" pitchFamily="34" charset="-120"/>
              </a:rPr>
              <a:t>On ne juge pas cet assistant à ce qu’il sait, mais à ce qu’il refuse d’affirmer</a:t>
            </a:r>
            <a:endParaRPr lang="en-US" sz="3000" dirty="0"/>
          </a:p>
        </p:txBody>
      </p:sp>
      <p:sp>
        <p:nvSpPr>
          <p:cNvPr id="5" name="n_c0"/>
          <p:cNvSpPr/>
          <p:nvPr/>
        </p:nvSpPr>
        <p:spPr>
          <a:xfrm>
            <a:off x="640080" y="2066544"/>
            <a:ext cx="3454298" cy="2578608"/>
          </a:xfrm>
          <a:prstGeom prst="roundRect">
            <a:avLst>
              <a:gd name="adj" fmla="val 212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6" name="Shape 4"/>
          <p:cNvSpPr/>
          <p:nvPr/>
        </p:nvSpPr>
        <p:spPr>
          <a:xfrm>
            <a:off x="896112" y="2286000"/>
            <a:ext cx="475488" cy="475488"/>
          </a:xfrm>
          <a:prstGeom prst="roundRect">
            <a:avLst>
              <a:gd name="adj" fmla="val 67308"/>
            </a:avLst>
          </a:prstGeom>
          <a:solidFill>
            <a:srgbClr val="0E6B4F"/>
          </a:solidFill>
          <a:ln w="12700">
            <a:solidFill>
              <a:srgbClr val="25B98C"/>
            </a:solidFill>
            <a:prstDash val="solid"/>
          </a:ln>
        </p:spPr>
      </p:sp>
      <p:sp>
        <p:nvSpPr>
          <p:cNvPr id="7" name="Text 5"/>
          <p:cNvSpPr txBox="1"/>
          <p:nvPr/>
        </p:nvSpPr>
        <p:spPr>
          <a:xfrm>
            <a:off x="896112" y="2286000"/>
            <a:ext cx="475488" cy="475488"/>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481328" y="2304288"/>
            <a:ext cx="2402738" cy="457200"/>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Le filtrage en amont</a:t>
            </a:r>
            <a:endParaRPr lang="en-US" sz="1500" dirty="0"/>
          </a:p>
        </p:txBody>
      </p:sp>
      <p:sp>
        <p:nvSpPr>
          <p:cNvPr id="9" name="Text 7"/>
          <p:cNvSpPr txBox="1"/>
          <p:nvPr/>
        </p:nvSpPr>
        <p:spPr>
          <a:xfrm>
            <a:off x="896112" y="2889504"/>
            <a:ext cx="2942234" cy="1280160"/>
          </a:xfrm>
          <a:prstGeom prst="rect">
            <a:avLst/>
          </a:prstGeom>
          <a:noFill/>
          <a:ln/>
        </p:spPr>
        <p:txBody>
          <a:bodyPr wrap="square" lIns="0" tIns="0" rIns="0" bIns="0" rtlCol="0" anchor="ctr"/>
          <a:lstStyle/>
          <a:p>
            <a:pPr indent="0" marL="0">
              <a:lnSpc>
                <a:spcPts val="1500"/>
              </a:lnSpc>
              <a:buNone/>
            </a:pPr>
            <a:r>
              <a:rPr lang="en-US" sz="1100" dirty="0">
                <a:solidFill>
                  <a:srgbClr val="9CB6A9"/>
                </a:solidFill>
                <a:latin typeface="Calibri" pitchFamily="34" charset="0"/>
                <a:ea typeface="Calibri" pitchFamily="34" charset="-122"/>
                <a:cs typeface="Calibri" pitchFamily="34" charset="-120"/>
              </a:rPr>
              <a:t>Écarter les questions manifestement hors périmètre avant même de solliciter le modèle de langue. Le plus simple des trois — et le plus efficace, à coût nul.</a:t>
            </a:r>
            <a:endParaRPr lang="en-US" sz="1100" dirty="0"/>
          </a:p>
        </p:txBody>
      </p:sp>
      <p:sp>
        <p:nvSpPr>
          <p:cNvPr id="10" name="Text 8"/>
          <p:cNvSpPr txBox="1"/>
          <p:nvPr/>
        </p:nvSpPr>
        <p:spPr>
          <a:xfrm>
            <a:off x="896112" y="4224528"/>
            <a:ext cx="2942234" cy="292608"/>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EFFICACITÉ MAXIMALE</a:t>
            </a:r>
            <a:endParaRPr lang="en-US" sz="950" dirty="0"/>
          </a:p>
        </p:txBody>
      </p:sp>
      <p:sp>
        <p:nvSpPr>
          <p:cNvPr id="11" name="n_c1"/>
          <p:cNvSpPr/>
          <p:nvPr/>
        </p:nvSpPr>
        <p:spPr>
          <a:xfrm>
            <a:off x="4368698" y="2066544"/>
            <a:ext cx="3454298" cy="2578608"/>
          </a:xfrm>
          <a:prstGeom prst="roundRect">
            <a:avLst>
              <a:gd name="adj" fmla="val 212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Shape 10"/>
          <p:cNvSpPr/>
          <p:nvPr/>
        </p:nvSpPr>
        <p:spPr>
          <a:xfrm>
            <a:off x="4624730" y="2286000"/>
            <a:ext cx="475488" cy="475488"/>
          </a:xfrm>
          <a:prstGeom prst="roundRect">
            <a:avLst>
              <a:gd name="adj" fmla="val 67308"/>
            </a:avLst>
          </a:prstGeom>
          <a:solidFill>
            <a:srgbClr val="0E6B4F"/>
          </a:solidFill>
          <a:ln w="12700">
            <a:solidFill>
              <a:srgbClr val="25B98C"/>
            </a:solidFill>
            <a:prstDash val="solid"/>
          </a:ln>
        </p:spPr>
      </p:sp>
      <p:sp>
        <p:nvSpPr>
          <p:cNvPr id="13" name="Text 11"/>
          <p:cNvSpPr txBox="1"/>
          <p:nvPr/>
        </p:nvSpPr>
        <p:spPr>
          <a:xfrm>
            <a:off x="4624730" y="2286000"/>
            <a:ext cx="475488" cy="475488"/>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2</a:t>
            </a:r>
            <a:endParaRPr lang="en-US" sz="1300" dirty="0"/>
          </a:p>
        </p:txBody>
      </p:sp>
      <p:sp>
        <p:nvSpPr>
          <p:cNvPr id="14" name="Text 12"/>
          <p:cNvSpPr txBox="1"/>
          <p:nvPr/>
        </p:nvSpPr>
        <p:spPr>
          <a:xfrm>
            <a:off x="5209946" y="2304288"/>
            <a:ext cx="2402738" cy="457200"/>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La restriction du périmètre</a:t>
            </a:r>
            <a:endParaRPr lang="en-US" sz="1500" dirty="0"/>
          </a:p>
        </p:txBody>
      </p:sp>
      <p:sp>
        <p:nvSpPr>
          <p:cNvPr id="15" name="Text 13"/>
          <p:cNvSpPr txBox="1"/>
          <p:nvPr/>
        </p:nvSpPr>
        <p:spPr>
          <a:xfrm>
            <a:off x="4624730" y="2889504"/>
            <a:ext cx="2942234" cy="1280160"/>
          </a:xfrm>
          <a:prstGeom prst="rect">
            <a:avLst/>
          </a:prstGeom>
          <a:noFill/>
          <a:ln/>
        </p:spPr>
        <p:txBody>
          <a:bodyPr wrap="square" lIns="0" tIns="0" rIns="0" bIns="0" rtlCol="0" anchor="ctr"/>
          <a:lstStyle/>
          <a:p>
            <a:pPr indent="0" marL="0">
              <a:lnSpc>
                <a:spcPts val="1500"/>
              </a:lnSpc>
              <a:buNone/>
            </a:pPr>
            <a:r>
              <a:rPr lang="en-US" sz="1100" dirty="0">
                <a:solidFill>
                  <a:srgbClr val="9CB6A9"/>
                </a:solidFill>
                <a:latin typeface="Calibri" pitchFamily="34" charset="0"/>
                <a:ea typeface="Calibri" pitchFamily="34" charset="-122"/>
                <a:cs typeface="Calibri" pitchFamily="34" charset="-120"/>
              </a:rPr>
              <a:t>La recherche est limitée au musée ou à la salle où se trouve le visiteur : le risque de confusion entre deux œuvres homonymes disparaît mécaniquement.</a:t>
            </a:r>
            <a:endParaRPr lang="en-US" sz="1100" dirty="0"/>
          </a:p>
        </p:txBody>
      </p:sp>
      <p:sp>
        <p:nvSpPr>
          <p:cNvPr id="16" name="Text 14"/>
          <p:cNvSpPr txBox="1"/>
          <p:nvPr/>
        </p:nvSpPr>
        <p:spPr>
          <a:xfrm>
            <a:off x="4624730" y="4224528"/>
            <a:ext cx="2942234" cy="292608"/>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RÉDUCTION MÉCANIQUE</a:t>
            </a:r>
            <a:endParaRPr lang="en-US" sz="950" dirty="0"/>
          </a:p>
        </p:txBody>
      </p:sp>
      <p:sp>
        <p:nvSpPr>
          <p:cNvPr id="17" name="n_c2"/>
          <p:cNvSpPr/>
          <p:nvPr/>
        </p:nvSpPr>
        <p:spPr>
          <a:xfrm>
            <a:off x="8097317" y="2066544"/>
            <a:ext cx="3454298" cy="2578608"/>
          </a:xfrm>
          <a:prstGeom prst="roundRect">
            <a:avLst>
              <a:gd name="adj" fmla="val 212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8" name="Shape 16"/>
          <p:cNvSpPr/>
          <p:nvPr/>
        </p:nvSpPr>
        <p:spPr>
          <a:xfrm>
            <a:off x="8353349" y="2286000"/>
            <a:ext cx="475488" cy="475488"/>
          </a:xfrm>
          <a:prstGeom prst="roundRect">
            <a:avLst>
              <a:gd name="adj" fmla="val 67308"/>
            </a:avLst>
          </a:prstGeom>
          <a:solidFill>
            <a:srgbClr val="0E6B4F"/>
          </a:solidFill>
          <a:ln w="12700">
            <a:solidFill>
              <a:srgbClr val="25B98C"/>
            </a:solidFill>
            <a:prstDash val="solid"/>
          </a:ln>
        </p:spPr>
      </p:sp>
      <p:sp>
        <p:nvSpPr>
          <p:cNvPr id="19" name="Text 17"/>
          <p:cNvSpPr txBox="1"/>
          <p:nvPr/>
        </p:nvSpPr>
        <p:spPr>
          <a:xfrm>
            <a:off x="8353349" y="2286000"/>
            <a:ext cx="475488" cy="475488"/>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8938565" y="2304288"/>
            <a:ext cx="2402738" cy="457200"/>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L’autorisation d’ignorer</a:t>
            </a:r>
            <a:endParaRPr lang="en-US" sz="1500" dirty="0"/>
          </a:p>
        </p:txBody>
      </p:sp>
      <p:sp>
        <p:nvSpPr>
          <p:cNvPr id="21" name="Text 19"/>
          <p:cNvSpPr txBox="1"/>
          <p:nvPr/>
        </p:nvSpPr>
        <p:spPr>
          <a:xfrm>
            <a:off x="8353349" y="2889504"/>
            <a:ext cx="2942234" cy="1280160"/>
          </a:xfrm>
          <a:prstGeom prst="rect">
            <a:avLst/>
          </a:prstGeom>
          <a:noFill/>
          <a:ln/>
        </p:spPr>
        <p:txBody>
          <a:bodyPr wrap="square" lIns="0" tIns="0" rIns="0" bIns="0" rtlCol="0" anchor="ctr"/>
          <a:lstStyle/>
          <a:p>
            <a:pPr indent="0" marL="0">
              <a:lnSpc>
                <a:spcPts val="1500"/>
              </a:lnSpc>
              <a:buNone/>
            </a:pPr>
            <a:r>
              <a:rPr lang="en-US" sz="1100" dirty="0">
                <a:solidFill>
                  <a:srgbClr val="9CB6A9"/>
                </a:solidFill>
                <a:latin typeface="Calibri" pitchFamily="34" charset="0"/>
                <a:ea typeface="Calibri" pitchFamily="34" charset="-122"/>
                <a:cs typeface="Calibri" pitchFamily="34" charset="-120"/>
              </a:rPr>
              <a:t>Le moins intuitif, le plus important. Un modèle à qui l’on demande une réponse en produira une : il faut donc lui accorder formellement le droit de n’en pas produire.</a:t>
            </a:r>
            <a:endParaRPr lang="en-US" sz="1100" dirty="0"/>
          </a:p>
        </p:txBody>
      </p:sp>
      <p:sp>
        <p:nvSpPr>
          <p:cNvPr id="22" name="Text 20"/>
          <p:cNvSpPr txBox="1"/>
          <p:nvPr/>
        </p:nvSpPr>
        <p:spPr>
          <a:xfrm>
            <a:off x="8353349" y="4224528"/>
            <a:ext cx="2942234" cy="292608"/>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SANS ELLE, LE MODÈLE COMBLE LES VIDES</a:t>
            </a:r>
            <a:endParaRPr lang="en-US" sz="950" dirty="0"/>
          </a:p>
        </p:txBody>
      </p:sp>
      <p:sp>
        <p:nvSpPr>
          <p:cNvPr id="23" name="n_j"/>
          <p:cNvSpPr/>
          <p:nvPr/>
        </p:nvSpPr>
        <p:spPr>
          <a:xfrm>
            <a:off x="640080" y="4828032"/>
            <a:ext cx="10911535" cy="1143000"/>
          </a:xfrm>
          <a:prstGeom prst="roundRect">
            <a:avLst>
              <a:gd name="adj" fmla="val 4800"/>
            </a:avLst>
          </a:prstGeom>
          <a:solidFill>
            <a:srgbClr val="0D231C"/>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4" name="Text 22"/>
          <p:cNvSpPr txBox="1"/>
          <p:nvPr/>
        </p:nvSpPr>
        <p:spPr>
          <a:xfrm>
            <a:off x="914400" y="4974336"/>
            <a:ext cx="4206240" cy="274320"/>
          </a:xfrm>
          <a:prstGeom prst="rect">
            <a:avLst/>
          </a:prstGeom>
          <a:noFill/>
          <a:ln/>
        </p:spPr>
        <p:txBody>
          <a:bodyPr wrap="square" lIns="0" tIns="0" rIns="0" bIns="0" rtlCol="0" anchor="ctr"/>
          <a:lstStyle/>
          <a:p>
            <a:pPr indent="0" marL="0">
              <a:buNone/>
            </a:pPr>
            <a:r>
              <a:rPr lang="en-US" sz="1000" b="1" spc="160" kern="0" dirty="0">
                <a:solidFill>
                  <a:srgbClr val="D4A62A"/>
                </a:solidFill>
                <a:latin typeface="Calibri" pitchFamily="34" charset="0"/>
                <a:ea typeface="Calibri" pitchFamily="34" charset="-122"/>
                <a:cs typeface="Calibri" pitchFamily="34" charset="-120"/>
              </a:rPr>
              <a:t>LE JOURNAL DES QUESTIONS SANS RÉPONSE</a:t>
            </a:r>
            <a:endParaRPr lang="en-US" sz="1000" dirty="0"/>
          </a:p>
        </p:txBody>
      </p:sp>
      <p:sp>
        <p:nvSpPr>
          <p:cNvPr id="25" name="Text 23"/>
          <p:cNvSpPr txBox="1"/>
          <p:nvPr/>
        </p:nvSpPr>
        <p:spPr>
          <a:xfrm>
            <a:off x="914400" y="5248656"/>
            <a:ext cx="10362895" cy="658368"/>
          </a:xfrm>
          <a:prstGeom prst="rect">
            <a:avLst/>
          </a:prstGeom>
          <a:noFill/>
          <a:ln/>
        </p:spPr>
        <p:txBody>
          <a:bodyPr wrap="square" lIns="0" tIns="0" rIns="0" bIns="0" rtlCol="0" anchor="ctr"/>
          <a:lstStyle/>
          <a:p>
            <a:pPr indent="0" marL="0">
              <a:lnSpc>
                <a:spcPts val="1600"/>
              </a:lnSpc>
              <a:buNone/>
            </a:pPr>
            <a:r>
              <a:rPr lang="en-US" sz="1150" dirty="0">
                <a:solidFill>
                  <a:srgbClr val="F4F1E9"/>
                </a:solidFill>
                <a:latin typeface="Calibri" pitchFamily="34" charset="0"/>
                <a:ea typeface="Calibri" pitchFamily="34" charset="-122"/>
                <a:cs typeface="Calibri" pitchFamily="34" charset="-120"/>
              </a:rPr>
              <a:t>60 réponses sur 70 questions posées (85,7 %). Les 10 restantes sont consignées de manière anonyme et classées en 8 thèmes, puis présentées au personnel sous forme de conseils : « Précisez la matière et la technique de fabrication ». Une question récurrente sans réponse ne signale pas un défaut du dispositif — elle signale une lacune de la documentation. C’est la différence entre un compteur et un conseil.</a:t>
            </a:r>
            <a:endParaRPr lang="en-US" sz="1150" dirty="0"/>
          </a:p>
        </p:txBody>
      </p:sp>
      <p:sp>
        <p:nvSpPr>
          <p:cNvPr id="26" name="Text 24"/>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27" name="Text 25"/>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18</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8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6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additive="base">
                                        <p:cTn id="16" dur="500" fill="hold"/>
                                        <p:tgtEl>
                                          <p:spTgt spid="11"/>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74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additive="base">
                                        <p:cTn id="20" dur="500" fill="hold"/>
                                        <p:tgtEl>
                                          <p:spTgt spid="17"/>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95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anim calcmode="lin" valueType="num">
                                      <p:cBhvr additive="base">
                                        <p:cTn id="24" dur="500" fill="hold"/>
                                        <p:tgtEl>
                                          <p:spTgt spid="2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19">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ARCHITECTURE · INFRASTRUCTURE EN NUAGE</a:t>
            </a:r>
            <a:endParaRPr lang="en-US" sz="1100" dirty="0"/>
          </a:p>
        </p:txBody>
      </p:sp>
      <p:sp>
        <p:nvSpPr>
          <p:cNvPr id="3" name="k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200" b="1" dirty="0">
                <a:solidFill>
                  <a:srgbClr val="F4F1E9"/>
                </a:solidFill>
                <a:latin typeface="Cambria" pitchFamily="34" charset="0"/>
                <a:ea typeface="Cambria" pitchFamily="34" charset="-122"/>
                <a:cs typeface="Cambria" pitchFamily="34" charset="-120"/>
              </a:rPr>
              <a:t>Deux chemins, et un écart qui est une trajectoire</a:t>
            </a:r>
            <a:endParaRPr lang="en-US" sz="3200" dirty="0"/>
          </a:p>
        </p:txBody>
      </p:sp>
      <p:sp>
        <p:nvSpPr>
          <p:cNvPr id="4" name="k_v"/>
          <p:cNvSpPr/>
          <p:nvPr/>
        </p:nvSpPr>
        <p:spPr>
          <a:xfrm>
            <a:off x="640080" y="1737360"/>
            <a:ext cx="10911535" cy="1572768"/>
          </a:xfrm>
          <a:prstGeom prst="roundRect">
            <a:avLst>
              <a:gd name="adj" fmla="val 348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5" name="Text 3"/>
          <p:cNvSpPr txBox="1"/>
          <p:nvPr/>
        </p:nvSpPr>
        <p:spPr>
          <a:xfrm>
            <a:off x="896112" y="1828800"/>
            <a:ext cx="4572000" cy="256032"/>
          </a:xfrm>
          <a:prstGeom prst="rect">
            <a:avLst/>
          </a:prstGeom>
          <a:noFill/>
          <a:ln/>
        </p:spPr>
        <p:txBody>
          <a:bodyPr wrap="square" lIns="0" tIns="0" rIns="0" bIns="0" rtlCol="0" anchor="ctr"/>
          <a:lstStyle/>
          <a:p>
            <a:pPr indent="0" marL="0">
              <a:buNone/>
            </a:pPr>
            <a:r>
              <a:rPr lang="en-US" sz="1000" b="1" spc="180" kern="0" dirty="0">
                <a:solidFill>
                  <a:srgbClr val="D4A62A"/>
                </a:solidFill>
                <a:latin typeface="Calibri" pitchFamily="34" charset="0"/>
                <a:ea typeface="Calibri" pitchFamily="34" charset="-122"/>
                <a:cs typeface="Calibri" pitchFamily="34" charset="-120"/>
              </a:rPr>
              <a:t>LE CHEMIN DU VISITEUR</a:t>
            </a:r>
            <a:endParaRPr lang="en-US" sz="1000" dirty="0"/>
          </a:p>
        </p:txBody>
      </p:sp>
      <p:sp>
        <p:nvSpPr>
          <p:cNvPr id="6" name="Shape 4"/>
          <p:cNvSpPr/>
          <p:nvPr/>
        </p:nvSpPr>
        <p:spPr>
          <a:xfrm>
            <a:off x="896112" y="2139696"/>
            <a:ext cx="2311832" cy="658368"/>
          </a:xfrm>
          <a:prstGeom prst="roundRect">
            <a:avLst>
              <a:gd name="adj" fmla="val 11111"/>
            </a:avLst>
          </a:prstGeom>
          <a:solidFill>
            <a:srgbClr val="0D231C"/>
          </a:solidFill>
          <a:ln w="15875">
            <a:solidFill>
              <a:srgbClr val="25B98C"/>
            </a:solidFill>
            <a:prstDash val="solid"/>
          </a:ln>
        </p:spPr>
      </p:sp>
      <p:sp>
        <p:nvSpPr>
          <p:cNvPr id="7" name="Text 5"/>
          <p:cNvSpPr txBox="1"/>
          <p:nvPr/>
        </p:nvSpPr>
        <p:spPr>
          <a:xfrm>
            <a:off x="1024128" y="219456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Navigateur</a:t>
            </a:r>
            <a:endParaRPr lang="en-US" sz="1150" dirty="0"/>
          </a:p>
        </p:txBody>
      </p:sp>
      <p:sp>
        <p:nvSpPr>
          <p:cNvPr id="8" name="Text 6"/>
          <p:cNvSpPr txBox="1"/>
          <p:nvPr/>
        </p:nvSpPr>
        <p:spPr>
          <a:xfrm>
            <a:off x="1024128" y="247802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domaine et sous-domaines</a:t>
            </a:r>
            <a:endParaRPr lang="en-US" sz="950" dirty="0"/>
          </a:p>
        </p:txBody>
      </p:sp>
      <p:sp>
        <p:nvSpPr>
          <p:cNvPr id="9" name="Text 7"/>
          <p:cNvSpPr txBox="1"/>
          <p:nvPr/>
        </p:nvSpPr>
        <p:spPr>
          <a:xfrm>
            <a:off x="3235376" y="2139696"/>
            <a:ext cx="384048" cy="658368"/>
          </a:xfrm>
          <a:prstGeom prst="rect">
            <a:avLst/>
          </a:prstGeom>
          <a:noFill/>
          <a:ln/>
        </p:spPr>
        <p:txBody>
          <a:bodyPr wrap="square" lIns="0" tIns="0" rIns="0" bIns="0" rtlCol="0" anchor="ctr"/>
          <a:lstStyle/>
          <a:p>
            <a:pPr algn="ctr" indent="0" marL="0">
              <a:buNone/>
            </a:pPr>
            <a:r>
              <a:rPr lang="en-US" sz="1700" b="1" dirty="0">
                <a:solidFill>
                  <a:srgbClr val="D4A62A"/>
                </a:solidFill>
                <a:latin typeface="Calibri" pitchFamily="34" charset="0"/>
                <a:ea typeface="Calibri" pitchFamily="34" charset="-122"/>
                <a:cs typeface="Calibri" pitchFamily="34" charset="-120"/>
              </a:rPr>
              <a:t>→</a:t>
            </a:r>
            <a:endParaRPr lang="en-US" sz="1700" dirty="0"/>
          </a:p>
        </p:txBody>
      </p:sp>
      <p:sp>
        <p:nvSpPr>
          <p:cNvPr id="10" name="Shape 8"/>
          <p:cNvSpPr/>
          <p:nvPr/>
        </p:nvSpPr>
        <p:spPr>
          <a:xfrm>
            <a:off x="3591992" y="2139696"/>
            <a:ext cx="2311832" cy="658368"/>
          </a:xfrm>
          <a:prstGeom prst="roundRect">
            <a:avLst>
              <a:gd name="adj" fmla="val 11111"/>
            </a:avLst>
          </a:prstGeom>
          <a:solidFill>
            <a:srgbClr val="0D231C"/>
          </a:solidFill>
          <a:ln w="15875">
            <a:solidFill>
              <a:srgbClr val="25B98C"/>
            </a:solidFill>
            <a:prstDash val="solid"/>
          </a:ln>
        </p:spPr>
      </p:sp>
      <p:sp>
        <p:nvSpPr>
          <p:cNvPr id="11" name="Text 9"/>
          <p:cNvSpPr txBox="1"/>
          <p:nvPr/>
        </p:nvSpPr>
        <p:spPr>
          <a:xfrm>
            <a:off x="3720008" y="219456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Route 53</a:t>
            </a:r>
            <a:endParaRPr lang="en-US" sz="1150" dirty="0"/>
          </a:p>
        </p:txBody>
      </p:sp>
      <p:sp>
        <p:nvSpPr>
          <p:cNvPr id="12" name="Text 10"/>
          <p:cNvSpPr txBox="1"/>
          <p:nvPr/>
        </p:nvSpPr>
        <p:spPr>
          <a:xfrm>
            <a:off x="3720008" y="247802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enregistrements joker</a:t>
            </a:r>
            <a:endParaRPr lang="en-US" sz="950" dirty="0"/>
          </a:p>
        </p:txBody>
      </p:sp>
      <p:sp>
        <p:nvSpPr>
          <p:cNvPr id="13" name="Text 11"/>
          <p:cNvSpPr txBox="1"/>
          <p:nvPr/>
        </p:nvSpPr>
        <p:spPr>
          <a:xfrm>
            <a:off x="5931256" y="2139696"/>
            <a:ext cx="384048" cy="658368"/>
          </a:xfrm>
          <a:prstGeom prst="rect">
            <a:avLst/>
          </a:prstGeom>
          <a:noFill/>
          <a:ln/>
        </p:spPr>
        <p:txBody>
          <a:bodyPr wrap="square" lIns="0" tIns="0" rIns="0" bIns="0" rtlCol="0" anchor="ctr"/>
          <a:lstStyle/>
          <a:p>
            <a:pPr algn="ctr" indent="0" marL="0">
              <a:buNone/>
            </a:pPr>
            <a:r>
              <a:rPr lang="en-US" sz="1700" b="1" dirty="0">
                <a:solidFill>
                  <a:srgbClr val="D4A62A"/>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6287872" y="2139696"/>
            <a:ext cx="2311832" cy="658368"/>
          </a:xfrm>
          <a:prstGeom prst="roundRect">
            <a:avLst>
              <a:gd name="adj" fmla="val 11111"/>
            </a:avLst>
          </a:prstGeom>
          <a:solidFill>
            <a:srgbClr val="0D231C"/>
          </a:solidFill>
          <a:ln w="15875">
            <a:solidFill>
              <a:srgbClr val="25B98C"/>
            </a:solidFill>
            <a:prstDash val="solid"/>
          </a:ln>
        </p:spPr>
      </p:sp>
      <p:sp>
        <p:nvSpPr>
          <p:cNvPr id="15" name="Text 13"/>
          <p:cNvSpPr txBox="1"/>
          <p:nvPr/>
        </p:nvSpPr>
        <p:spPr>
          <a:xfrm>
            <a:off x="6415888" y="219456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CloudFront + ACM</a:t>
            </a:r>
            <a:endParaRPr lang="en-US" sz="1150" dirty="0"/>
          </a:p>
        </p:txBody>
      </p:sp>
      <p:sp>
        <p:nvSpPr>
          <p:cNvPr id="16" name="Text 14"/>
          <p:cNvSpPr txBox="1"/>
          <p:nvPr/>
        </p:nvSpPr>
        <p:spPr>
          <a:xfrm>
            <a:off x="6415888" y="247802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certificat, cache différencié</a:t>
            </a:r>
            <a:endParaRPr lang="en-US" sz="950" dirty="0"/>
          </a:p>
        </p:txBody>
      </p:sp>
      <p:sp>
        <p:nvSpPr>
          <p:cNvPr id="17" name="Text 15"/>
          <p:cNvSpPr txBox="1"/>
          <p:nvPr/>
        </p:nvSpPr>
        <p:spPr>
          <a:xfrm>
            <a:off x="8627135" y="2139696"/>
            <a:ext cx="384048" cy="658368"/>
          </a:xfrm>
          <a:prstGeom prst="rect">
            <a:avLst/>
          </a:prstGeom>
          <a:noFill/>
          <a:ln/>
        </p:spPr>
        <p:txBody>
          <a:bodyPr wrap="square" lIns="0" tIns="0" rIns="0" bIns="0" rtlCol="0" anchor="ctr"/>
          <a:lstStyle/>
          <a:p>
            <a:pPr algn="ctr" indent="0" marL="0">
              <a:buNone/>
            </a:pPr>
            <a:r>
              <a:rPr lang="en-US" sz="1700" b="1" dirty="0">
                <a:solidFill>
                  <a:srgbClr val="D4A62A"/>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8983751" y="2139696"/>
            <a:ext cx="2311832" cy="658368"/>
          </a:xfrm>
          <a:prstGeom prst="roundRect">
            <a:avLst>
              <a:gd name="adj" fmla="val 11111"/>
            </a:avLst>
          </a:prstGeom>
          <a:solidFill>
            <a:srgbClr val="0D231C"/>
          </a:solidFill>
          <a:ln w="15875">
            <a:solidFill>
              <a:srgbClr val="25B98C"/>
            </a:solidFill>
            <a:prstDash val="solid"/>
          </a:ln>
        </p:spPr>
      </p:sp>
      <p:sp>
        <p:nvSpPr>
          <p:cNvPr id="19" name="Text 17"/>
          <p:cNvSpPr txBox="1"/>
          <p:nvPr/>
        </p:nvSpPr>
        <p:spPr>
          <a:xfrm>
            <a:off x="9111767" y="219456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Amazon S3</a:t>
            </a:r>
            <a:endParaRPr lang="en-US" sz="1150" dirty="0"/>
          </a:p>
        </p:txBody>
      </p:sp>
      <p:sp>
        <p:nvSpPr>
          <p:cNvPr id="20" name="Text 18"/>
          <p:cNvSpPr txBox="1"/>
          <p:nvPr/>
        </p:nvSpPr>
        <p:spPr>
          <a:xfrm>
            <a:off x="9111767" y="247802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privé, chiffré, versionné</a:t>
            </a:r>
            <a:endParaRPr lang="en-US" sz="950" dirty="0"/>
          </a:p>
        </p:txBody>
      </p:sp>
      <p:sp>
        <p:nvSpPr>
          <p:cNvPr id="21" name="Text 19"/>
          <p:cNvSpPr txBox="1"/>
          <p:nvPr/>
        </p:nvSpPr>
        <p:spPr>
          <a:xfrm>
            <a:off x="896112" y="2871216"/>
            <a:ext cx="10399471" cy="320040"/>
          </a:xfrm>
          <a:prstGeom prst="rect">
            <a:avLst/>
          </a:prstGeom>
          <a:noFill/>
          <a:ln/>
        </p:spPr>
        <p:txBody>
          <a:bodyPr wrap="square" lIns="0" tIns="0" rIns="0" bIns="0" rtlCol="0" anchor="ctr"/>
          <a:lstStyle/>
          <a:p>
            <a:pPr indent="0" marL="0">
              <a:buNone/>
            </a:pPr>
            <a:r>
              <a:rPr lang="en-US" sz="1000" i="1" dirty="0">
                <a:solidFill>
                  <a:srgbClr val="9CB6A9"/>
                </a:solidFill>
                <a:latin typeface="Calibri" pitchFamily="34" charset="0"/>
                <a:ea typeface="Calibri" pitchFamily="34" charset="-122"/>
                <a:cs typeface="Calibri" pitchFamily="34" charset="-120"/>
              </a:rPr>
              <a:t>CloudFront est le seul autorisé à lire le compartiment, au moyen d’un contrôle d’accès à l’origine : le stockage n’est jamais exposé directement.</a:t>
            </a:r>
            <a:endParaRPr lang="en-US" sz="1000" dirty="0"/>
          </a:p>
        </p:txBody>
      </p:sp>
      <p:sp>
        <p:nvSpPr>
          <p:cNvPr id="22" name="k_d"/>
          <p:cNvSpPr/>
          <p:nvPr/>
        </p:nvSpPr>
        <p:spPr>
          <a:xfrm>
            <a:off x="640080" y="3429000"/>
            <a:ext cx="10911535" cy="1572768"/>
          </a:xfrm>
          <a:prstGeom prst="roundRect">
            <a:avLst>
              <a:gd name="adj" fmla="val 348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3" name="Text 21"/>
          <p:cNvSpPr txBox="1"/>
          <p:nvPr/>
        </p:nvSpPr>
        <p:spPr>
          <a:xfrm>
            <a:off x="896112" y="3520440"/>
            <a:ext cx="4572000" cy="256032"/>
          </a:xfrm>
          <a:prstGeom prst="rect">
            <a:avLst/>
          </a:prstGeom>
          <a:noFill/>
          <a:ln/>
        </p:spPr>
        <p:txBody>
          <a:bodyPr wrap="square" lIns="0" tIns="0" rIns="0" bIns="0" rtlCol="0" anchor="ctr"/>
          <a:lstStyle/>
          <a:p>
            <a:pPr indent="0" marL="0">
              <a:buNone/>
            </a:pPr>
            <a:r>
              <a:rPr lang="en-US" sz="1000" b="1" spc="180" kern="0" dirty="0">
                <a:solidFill>
                  <a:srgbClr val="D4A62A"/>
                </a:solidFill>
                <a:latin typeface="Calibri" pitchFamily="34" charset="0"/>
                <a:ea typeface="Calibri" pitchFamily="34" charset="-122"/>
                <a:cs typeface="Calibri" pitchFamily="34" charset="-120"/>
              </a:rPr>
              <a:t>LE CHEMIN DE LA LIVRAISON</a:t>
            </a:r>
            <a:endParaRPr lang="en-US" sz="1000" dirty="0"/>
          </a:p>
        </p:txBody>
      </p:sp>
      <p:sp>
        <p:nvSpPr>
          <p:cNvPr id="24" name="Shape 22"/>
          <p:cNvSpPr/>
          <p:nvPr/>
        </p:nvSpPr>
        <p:spPr>
          <a:xfrm>
            <a:off x="896112" y="3831336"/>
            <a:ext cx="2311832" cy="658368"/>
          </a:xfrm>
          <a:prstGeom prst="roundRect">
            <a:avLst>
              <a:gd name="adj" fmla="val 11111"/>
            </a:avLst>
          </a:prstGeom>
          <a:solidFill>
            <a:srgbClr val="0D231C"/>
          </a:solidFill>
          <a:ln w="15875">
            <a:solidFill>
              <a:srgbClr val="D4A62A"/>
            </a:solidFill>
            <a:prstDash val="solid"/>
          </a:ln>
        </p:spPr>
      </p:sp>
      <p:sp>
        <p:nvSpPr>
          <p:cNvPr id="25" name="Text 23"/>
          <p:cNvSpPr txBox="1"/>
          <p:nvPr/>
        </p:nvSpPr>
        <p:spPr>
          <a:xfrm>
            <a:off x="1024128" y="388620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Dépôt de code</a:t>
            </a:r>
            <a:endParaRPr lang="en-US" sz="1150" dirty="0"/>
          </a:p>
        </p:txBody>
      </p:sp>
      <p:sp>
        <p:nvSpPr>
          <p:cNvPr id="26" name="Text 24"/>
          <p:cNvSpPr txBox="1"/>
          <p:nvPr/>
        </p:nvSpPr>
        <p:spPr>
          <a:xfrm>
            <a:off x="1024128" y="416966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toute modification déclenche</a:t>
            </a:r>
            <a:endParaRPr lang="en-US" sz="950" dirty="0"/>
          </a:p>
        </p:txBody>
      </p:sp>
      <p:sp>
        <p:nvSpPr>
          <p:cNvPr id="27" name="Text 25"/>
          <p:cNvSpPr txBox="1"/>
          <p:nvPr/>
        </p:nvSpPr>
        <p:spPr>
          <a:xfrm>
            <a:off x="3235376" y="3831336"/>
            <a:ext cx="384048" cy="658368"/>
          </a:xfrm>
          <a:prstGeom prst="rect">
            <a:avLst/>
          </a:prstGeom>
          <a:noFill/>
          <a:ln/>
        </p:spPr>
        <p:txBody>
          <a:bodyPr wrap="square" lIns="0" tIns="0" rIns="0" bIns="0" rtlCol="0" anchor="ctr"/>
          <a:lstStyle/>
          <a:p>
            <a:pPr algn="ctr" indent="0" marL="0">
              <a:buNone/>
            </a:pPr>
            <a:r>
              <a:rPr lang="en-US" sz="1700" b="1" dirty="0">
                <a:solidFill>
                  <a:srgbClr val="D4A62A"/>
                </a:solidFill>
                <a:latin typeface="Calibri" pitchFamily="34" charset="0"/>
                <a:ea typeface="Calibri" pitchFamily="34" charset="-122"/>
                <a:cs typeface="Calibri" pitchFamily="34" charset="-120"/>
              </a:rPr>
              <a:t>→</a:t>
            </a:r>
            <a:endParaRPr lang="en-US" sz="1700" dirty="0"/>
          </a:p>
        </p:txBody>
      </p:sp>
      <p:sp>
        <p:nvSpPr>
          <p:cNvPr id="28" name="Shape 26"/>
          <p:cNvSpPr/>
          <p:nvPr/>
        </p:nvSpPr>
        <p:spPr>
          <a:xfrm>
            <a:off x="3591992" y="3831336"/>
            <a:ext cx="2311832" cy="658368"/>
          </a:xfrm>
          <a:prstGeom prst="roundRect">
            <a:avLst>
              <a:gd name="adj" fmla="val 11111"/>
            </a:avLst>
          </a:prstGeom>
          <a:solidFill>
            <a:srgbClr val="0D231C"/>
          </a:solidFill>
          <a:ln w="15875">
            <a:solidFill>
              <a:srgbClr val="D4A62A"/>
            </a:solidFill>
            <a:prstDash val="solid"/>
          </a:ln>
        </p:spPr>
      </p:sp>
      <p:sp>
        <p:nvSpPr>
          <p:cNvPr id="29" name="Text 27"/>
          <p:cNvSpPr txBox="1"/>
          <p:nvPr/>
        </p:nvSpPr>
        <p:spPr>
          <a:xfrm>
            <a:off x="3720008" y="388620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GitHub Actions</a:t>
            </a:r>
            <a:endParaRPr lang="en-US" sz="1150" dirty="0"/>
          </a:p>
        </p:txBody>
      </p:sp>
      <p:sp>
        <p:nvSpPr>
          <p:cNvPr id="30" name="Text 28"/>
          <p:cNvSpPr txBox="1"/>
          <p:nvPr/>
        </p:nvSpPr>
        <p:spPr>
          <a:xfrm>
            <a:off x="3720008" y="416966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compilation et contrôles</a:t>
            </a:r>
            <a:endParaRPr lang="en-US" sz="950" dirty="0"/>
          </a:p>
        </p:txBody>
      </p:sp>
      <p:sp>
        <p:nvSpPr>
          <p:cNvPr id="31" name="Text 29"/>
          <p:cNvSpPr txBox="1"/>
          <p:nvPr/>
        </p:nvSpPr>
        <p:spPr>
          <a:xfrm>
            <a:off x="5931256" y="3831336"/>
            <a:ext cx="384048" cy="658368"/>
          </a:xfrm>
          <a:prstGeom prst="rect">
            <a:avLst/>
          </a:prstGeom>
          <a:noFill/>
          <a:ln/>
        </p:spPr>
        <p:txBody>
          <a:bodyPr wrap="square" lIns="0" tIns="0" rIns="0" bIns="0" rtlCol="0" anchor="ctr"/>
          <a:lstStyle/>
          <a:p>
            <a:pPr algn="ctr" indent="0" marL="0">
              <a:buNone/>
            </a:pPr>
            <a:r>
              <a:rPr lang="en-US" sz="1700" b="1" dirty="0">
                <a:solidFill>
                  <a:srgbClr val="D4A62A"/>
                </a:solidFill>
                <a:latin typeface="Calibri" pitchFamily="34" charset="0"/>
                <a:ea typeface="Calibri" pitchFamily="34" charset="-122"/>
                <a:cs typeface="Calibri" pitchFamily="34" charset="-120"/>
              </a:rPr>
              <a:t>→</a:t>
            </a:r>
            <a:endParaRPr lang="en-US" sz="1700" dirty="0"/>
          </a:p>
        </p:txBody>
      </p:sp>
      <p:sp>
        <p:nvSpPr>
          <p:cNvPr id="32" name="Shape 30"/>
          <p:cNvSpPr/>
          <p:nvPr/>
        </p:nvSpPr>
        <p:spPr>
          <a:xfrm>
            <a:off x="6287872" y="3831336"/>
            <a:ext cx="2311832" cy="658368"/>
          </a:xfrm>
          <a:prstGeom prst="roundRect">
            <a:avLst>
              <a:gd name="adj" fmla="val 11111"/>
            </a:avLst>
          </a:prstGeom>
          <a:solidFill>
            <a:srgbClr val="0D231C"/>
          </a:solidFill>
          <a:ln w="15875">
            <a:solidFill>
              <a:srgbClr val="D4A62A"/>
            </a:solidFill>
            <a:prstDash val="solid"/>
          </a:ln>
        </p:spPr>
      </p:sp>
      <p:sp>
        <p:nvSpPr>
          <p:cNvPr id="33" name="Text 31"/>
          <p:cNvSpPr txBox="1"/>
          <p:nvPr/>
        </p:nvSpPr>
        <p:spPr>
          <a:xfrm>
            <a:off x="6415888" y="388620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Docker Hub · ECR</a:t>
            </a:r>
            <a:endParaRPr lang="en-US" sz="1150" dirty="0"/>
          </a:p>
        </p:txBody>
      </p:sp>
      <p:sp>
        <p:nvSpPr>
          <p:cNvPr id="34" name="Text 32"/>
          <p:cNvSpPr txBox="1"/>
          <p:nvPr/>
        </p:nvSpPr>
        <p:spPr>
          <a:xfrm>
            <a:off x="6415888" y="416966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image construite et déposée</a:t>
            </a:r>
            <a:endParaRPr lang="en-US" sz="950" dirty="0"/>
          </a:p>
        </p:txBody>
      </p:sp>
      <p:sp>
        <p:nvSpPr>
          <p:cNvPr id="35" name="Text 33"/>
          <p:cNvSpPr txBox="1"/>
          <p:nvPr/>
        </p:nvSpPr>
        <p:spPr>
          <a:xfrm>
            <a:off x="8627135" y="3831336"/>
            <a:ext cx="384048" cy="658368"/>
          </a:xfrm>
          <a:prstGeom prst="rect">
            <a:avLst/>
          </a:prstGeom>
          <a:noFill/>
          <a:ln/>
        </p:spPr>
        <p:txBody>
          <a:bodyPr wrap="square" lIns="0" tIns="0" rIns="0" bIns="0" rtlCol="0" anchor="ctr"/>
          <a:lstStyle/>
          <a:p>
            <a:pPr algn="ctr" indent="0" marL="0">
              <a:buNone/>
            </a:pPr>
            <a:r>
              <a:rPr lang="en-US" sz="1700" b="1" dirty="0">
                <a:solidFill>
                  <a:srgbClr val="D4A62A"/>
                </a:solidFill>
                <a:latin typeface="Calibri" pitchFamily="34" charset="0"/>
                <a:ea typeface="Calibri" pitchFamily="34" charset="-122"/>
                <a:cs typeface="Calibri" pitchFamily="34" charset="-120"/>
              </a:rPr>
              <a:t>→</a:t>
            </a:r>
            <a:endParaRPr lang="en-US" sz="1700" dirty="0"/>
          </a:p>
        </p:txBody>
      </p:sp>
      <p:sp>
        <p:nvSpPr>
          <p:cNvPr id="36" name="Shape 34"/>
          <p:cNvSpPr/>
          <p:nvPr/>
        </p:nvSpPr>
        <p:spPr>
          <a:xfrm>
            <a:off x="8983751" y="3831336"/>
            <a:ext cx="2311832" cy="658368"/>
          </a:xfrm>
          <a:prstGeom prst="roundRect">
            <a:avLst>
              <a:gd name="adj" fmla="val 11111"/>
            </a:avLst>
          </a:prstGeom>
          <a:solidFill>
            <a:srgbClr val="0D231C"/>
          </a:solidFill>
          <a:ln w="15875">
            <a:solidFill>
              <a:srgbClr val="D4A62A"/>
            </a:solidFill>
            <a:prstDash val="solid"/>
          </a:ln>
        </p:spPr>
      </p:sp>
      <p:sp>
        <p:nvSpPr>
          <p:cNvPr id="37" name="Text 35"/>
          <p:cNvSpPr txBox="1"/>
          <p:nvPr/>
        </p:nvSpPr>
        <p:spPr>
          <a:xfrm>
            <a:off x="9111767" y="3886200"/>
            <a:ext cx="205580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Publication + purge</a:t>
            </a:r>
            <a:endParaRPr lang="en-US" sz="1150" dirty="0"/>
          </a:p>
        </p:txBody>
      </p:sp>
      <p:sp>
        <p:nvSpPr>
          <p:cNvPr id="38" name="Text 36"/>
          <p:cNvSpPr txBox="1"/>
          <p:nvPr/>
        </p:nvSpPr>
        <p:spPr>
          <a:xfrm>
            <a:off x="9111767" y="4169664"/>
            <a:ext cx="2055800" cy="274320"/>
          </a:xfrm>
          <a:prstGeom prst="rect">
            <a:avLst/>
          </a:prstGeom>
          <a:noFill/>
          <a:ln/>
        </p:spPr>
        <p:txBody>
          <a:bodyPr wrap="square" lIns="0" tIns="0" rIns="0" bIns="0" rtlCol="0" anchor="ctr"/>
          <a:lstStyle/>
          <a:p>
            <a:pPr indent="0" marL="0">
              <a:buNone/>
            </a:pPr>
            <a:r>
              <a:rPr lang="en-US" sz="950" dirty="0">
                <a:solidFill>
                  <a:srgbClr val="9CB6A9"/>
                </a:solidFill>
                <a:latin typeface="Calibri" pitchFamily="34" charset="0"/>
                <a:ea typeface="Calibri" pitchFamily="34" charset="-122"/>
                <a:cs typeface="Calibri" pitchFamily="34" charset="-120"/>
              </a:rPr>
              <a:t>puis vérification en ligne</a:t>
            </a:r>
            <a:endParaRPr lang="en-US" sz="950" dirty="0"/>
          </a:p>
        </p:txBody>
      </p:sp>
      <p:sp>
        <p:nvSpPr>
          <p:cNvPr id="39" name="Text 37"/>
          <p:cNvSpPr txBox="1"/>
          <p:nvPr/>
        </p:nvSpPr>
        <p:spPr>
          <a:xfrm>
            <a:off x="896112" y="4562856"/>
            <a:ext cx="10399471" cy="320040"/>
          </a:xfrm>
          <a:prstGeom prst="rect">
            <a:avLst/>
          </a:prstGeom>
          <a:noFill/>
          <a:ln/>
        </p:spPr>
        <p:txBody>
          <a:bodyPr wrap="square" lIns="0" tIns="0" rIns="0" bIns="0" rtlCol="0" anchor="ctr"/>
          <a:lstStyle/>
          <a:p>
            <a:pPr indent="0" marL="0">
              <a:buNone/>
            </a:pPr>
            <a:r>
              <a:rPr lang="en-US" sz="1000" i="1" dirty="0">
                <a:solidFill>
                  <a:srgbClr val="9CB6A9"/>
                </a:solidFill>
                <a:latin typeface="Calibri" pitchFamily="34" charset="0"/>
                <a:ea typeface="Calibri" pitchFamily="34" charset="-122"/>
                <a:cs typeface="Calibri" pitchFamily="34" charset="-120"/>
              </a:rPr>
              <a:t>IAM : un jeton de courte durée est présenté à chaque exécution, jamais une clé permanente ; le rôle est restreint à ce dépôt, ce stockage et cette distribution.</a:t>
            </a:r>
            <a:endParaRPr lang="en-US" sz="1000" dirty="0"/>
          </a:p>
        </p:txBody>
      </p:sp>
      <p:sp>
        <p:nvSpPr>
          <p:cNvPr id="40" name="k_s"/>
          <p:cNvSpPr/>
          <p:nvPr/>
        </p:nvSpPr>
        <p:spPr>
          <a:xfrm>
            <a:off x="640080" y="5120640"/>
            <a:ext cx="6263640" cy="1005840"/>
          </a:xfrm>
          <a:prstGeom prst="roundRect">
            <a:avLst>
              <a:gd name="adj" fmla="val 545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41" name="Text 39"/>
          <p:cNvSpPr txBox="1"/>
          <p:nvPr/>
        </p:nvSpPr>
        <p:spPr>
          <a:xfrm>
            <a:off x="896112" y="5212080"/>
            <a:ext cx="3657600" cy="256032"/>
          </a:xfrm>
          <a:prstGeom prst="rect">
            <a:avLst/>
          </a:prstGeom>
          <a:noFill/>
          <a:ln/>
        </p:spPr>
        <p:txBody>
          <a:bodyPr wrap="square" lIns="0" tIns="0" rIns="0" bIns="0" rtlCol="0" anchor="ctr"/>
          <a:lstStyle/>
          <a:p>
            <a:pPr indent="0" marL="0">
              <a:buNone/>
            </a:pPr>
            <a:r>
              <a:rPr lang="en-US" sz="1000" b="1" spc="180" kern="0" dirty="0">
                <a:solidFill>
                  <a:srgbClr val="D4A62A"/>
                </a:solidFill>
                <a:latin typeface="Calibri" pitchFamily="34" charset="0"/>
                <a:ea typeface="Calibri" pitchFamily="34" charset="-122"/>
                <a:cs typeface="Calibri" pitchFamily="34" charset="-120"/>
              </a:rPr>
              <a:t>SERVICES DE SUPPORT</a:t>
            </a:r>
            <a:endParaRPr lang="en-US" sz="1000" dirty="0"/>
          </a:p>
        </p:txBody>
      </p:sp>
      <p:sp>
        <p:nvSpPr>
          <p:cNvPr id="42" name="Text 40"/>
          <p:cNvSpPr txBox="1"/>
          <p:nvPr/>
        </p:nvSpPr>
        <p:spPr>
          <a:xfrm>
            <a:off x="896112" y="5486400"/>
            <a:ext cx="5760720" cy="54864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Secrets Manager · SES (courriel) · CloudWatch et SNS (surveillance et alerte). Hors du nuage AWS, Supabase porte la base, l’authentification et les fonctions serveur.</a:t>
            </a:r>
            <a:endParaRPr lang="en-US" sz="1050" dirty="0"/>
          </a:p>
        </p:txBody>
      </p:sp>
      <p:sp>
        <p:nvSpPr>
          <p:cNvPr id="43" name="k_g"/>
          <p:cNvSpPr/>
          <p:nvPr/>
        </p:nvSpPr>
        <p:spPr>
          <a:xfrm>
            <a:off x="7086600" y="5120640"/>
            <a:ext cx="4462272" cy="1005840"/>
          </a:xfrm>
          <a:prstGeom prst="roundRect">
            <a:avLst>
              <a:gd name="adj" fmla="val 5455"/>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44" name="Text 42"/>
          <p:cNvSpPr txBox="1"/>
          <p:nvPr/>
        </p:nvSpPr>
        <p:spPr>
          <a:xfrm>
            <a:off x="7315200" y="5212080"/>
            <a:ext cx="4023360" cy="365760"/>
          </a:xfrm>
          <a:prstGeom prst="rect">
            <a:avLst/>
          </a:prstGeom>
          <a:noFill/>
          <a:ln/>
        </p:spPr>
        <p:txBody>
          <a:bodyPr wrap="square" lIns="0" tIns="0" rIns="0" bIns="0" rtlCol="0" anchor="ctr"/>
          <a:lstStyle/>
          <a:p>
            <a:pPr indent="0" marL="0">
              <a:buNone/>
            </a:pPr>
            <a:r>
              <a:rPr lang="en-US" sz="1800" b="1" dirty="0">
                <a:solidFill>
                  <a:srgbClr val="F0D68A"/>
                </a:solidFill>
                <a:latin typeface="Cambria" pitchFamily="34" charset="0"/>
                <a:ea typeface="Cambria" pitchFamily="34" charset="-122"/>
                <a:cs typeface="Cambria" pitchFamily="34" charset="-120"/>
              </a:rPr>
              <a:t>29 </a:t>
            </a:r>
            <a:pPr indent="0" marL="0">
              <a:buNone/>
            </a:pPr>
            <a:r>
              <a:rPr lang="en-US" sz="1050" dirty="0">
                <a:solidFill>
                  <a:srgbClr val="9CB6A9"/>
                </a:solidFill>
                <a:latin typeface="Calibri" pitchFamily="34" charset="0"/>
                <a:ea typeface="Calibri" pitchFamily="34" charset="-122"/>
                <a:cs typeface="Calibri" pitchFamily="34" charset="-120"/>
              </a:rPr>
              <a:t>ressources décrites    </a:t>
            </a:r>
            <a:pPr indent="0" marL="0">
              <a:buNone/>
            </a:pPr>
            <a:r>
              <a:rPr lang="en-US" sz="1800" b="1" dirty="0">
                <a:solidFill>
                  <a:srgbClr val="25B98C"/>
                </a:solidFill>
                <a:latin typeface="Cambria" pitchFamily="34" charset="0"/>
                <a:ea typeface="Cambria" pitchFamily="34" charset="-122"/>
                <a:cs typeface="Cambria" pitchFamily="34" charset="-120"/>
              </a:rPr>
              <a:t>19 </a:t>
            </a:r>
            <a:pPr indent="0" marL="0">
              <a:buNone/>
            </a:pPr>
            <a:r>
              <a:rPr lang="en-US" sz="1050" dirty="0">
                <a:solidFill>
                  <a:srgbClr val="9CB6A9"/>
                </a:solidFill>
                <a:latin typeface="Calibri" pitchFamily="34" charset="0"/>
                <a:ea typeface="Calibri" pitchFamily="34" charset="-122"/>
                <a:cs typeface="Calibri" pitchFamily="34" charset="-120"/>
              </a:rPr>
              <a:t>appliquées</a:t>
            </a:r>
            <a:endParaRPr lang="en-US" sz="1800" dirty="0"/>
          </a:p>
        </p:txBody>
      </p:sp>
      <p:sp>
        <p:nvSpPr>
          <p:cNvPr id="45" name="Text 43"/>
          <p:cNvSpPr txBox="1"/>
          <p:nvPr/>
        </p:nvSpPr>
        <p:spPr>
          <a:xfrm>
            <a:off x="7315200" y="5541264"/>
            <a:ext cx="4023360" cy="502920"/>
          </a:xfrm>
          <a:prstGeom prst="rect">
            <a:avLst/>
          </a:prstGeom>
          <a:noFill/>
          <a:ln/>
        </p:spPr>
        <p:txBody>
          <a:bodyPr wrap="square" lIns="0" tIns="0" rIns="0" bIns="0" rtlCol="0" anchor="ctr"/>
          <a:lstStyle/>
          <a:p>
            <a:pPr indent="0" marL="0">
              <a:lnSpc>
                <a:spcPts val="1300"/>
              </a:lnSpc>
              <a:buNone/>
            </a:pPr>
            <a:r>
              <a:rPr lang="en-US" sz="1000" dirty="0">
                <a:solidFill>
                  <a:srgbClr val="F4F1E9"/>
                </a:solidFill>
                <a:latin typeface="Calibri" pitchFamily="34" charset="0"/>
                <a:ea typeface="Calibri" pitchFamily="34" charset="-122"/>
                <a:cs typeface="Calibri" pitchFamily="34" charset="-120"/>
              </a:rPr>
              <a:t>VPC, répartiteur de charge, ECS Fargate, EKS : écrits, validés, délibérément non appliqués. L’écart est la trajectoire.</a:t>
            </a:r>
            <a:endParaRPr lang="en-US" sz="1000" dirty="0"/>
          </a:p>
        </p:txBody>
      </p:sp>
      <p:sp>
        <p:nvSpPr>
          <p:cNvPr id="46" name="Text 44"/>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47" name="Text 45"/>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19</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anim calcmode="lin" valueType="num">
                                      <p:cBhvr additive="base">
                                        <p:cTn id="12" dur="500" fill="hold"/>
                                        <p:tgtEl>
                                          <p:spTgt spid="4"/>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48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anim calcmode="lin" valueType="num">
                                      <p:cBhvr additive="base">
                                        <p:cTn id="16" dur="500" fill="hold"/>
                                        <p:tgtEl>
                                          <p:spTgt spid="22"/>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4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anim calcmode="lin" valueType="num">
                                      <p:cBhvr additive="base">
                                        <p:cTn id="20" dur="500" fill="hold"/>
                                        <p:tgtEl>
                                          <p:spTgt spid="40"/>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80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anim calcmode="lin" valueType="num">
                                      <p:cBhvr additive="base">
                                        <p:cTn id="24" dur="500" fill="hold"/>
                                        <p:tgtEl>
                                          <p:spTgt spid="4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0">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8778240" y="3291840"/>
            <a:ext cx="5852160" cy="5852160"/>
          </a:xfrm>
          <a:prstGeom prst="ellipse">
            <a:avLst/>
          </a:prstGeom>
          <a:solidFill>
            <a:srgbClr val="D4A62A">
              <a:alpha val="6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FINOPS · MAÎTRISE DE LA DÉPENSE</a:t>
            </a:r>
            <a:endParaRPr lang="en-US" sz="1100" dirty="0"/>
          </a:p>
        </p:txBody>
      </p:sp>
      <p:sp>
        <p:nvSpPr>
          <p:cNvPr id="4" name="fo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100" b="1" dirty="0">
                <a:solidFill>
                  <a:srgbClr val="F4F1E9"/>
                </a:solidFill>
                <a:latin typeface="Cambria" pitchFamily="34" charset="0"/>
                <a:ea typeface="Cambria" pitchFamily="34" charset="-122"/>
                <a:cs typeface="Cambria" pitchFamily="34" charset="-120"/>
              </a:rPr>
              <a:t>« Combien cela coûtera-t-il une fois le stagiaire parti ? »</a:t>
            </a:r>
            <a:endParaRPr lang="en-US" sz="3100" dirty="0"/>
          </a:p>
        </p:txBody>
      </p:sp>
      <p:sp>
        <p:nvSpPr>
          <p:cNvPr id="5" name="fo_h"/>
          <p:cNvSpPr/>
          <p:nvPr/>
        </p:nvSpPr>
        <p:spPr>
          <a:xfrm>
            <a:off x="640080" y="1874520"/>
            <a:ext cx="4480560" cy="2148840"/>
          </a:xfrm>
          <a:prstGeom prst="roundRect">
            <a:avLst>
              <a:gd name="adj" fmla="val 2553"/>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6" name="Text 4"/>
          <p:cNvSpPr txBox="1"/>
          <p:nvPr/>
        </p:nvSpPr>
        <p:spPr>
          <a:xfrm>
            <a:off x="914400" y="2057400"/>
            <a:ext cx="2194560" cy="1051560"/>
          </a:xfrm>
          <a:prstGeom prst="rect">
            <a:avLst/>
          </a:prstGeom>
          <a:noFill/>
          <a:ln/>
        </p:spPr>
        <p:txBody>
          <a:bodyPr wrap="square" lIns="0" tIns="0" rIns="0" bIns="0" rtlCol="0" anchor="ctr"/>
          <a:lstStyle/>
          <a:p>
            <a:pPr indent="0" marL="0">
              <a:buNone/>
            </a:pPr>
            <a:r>
              <a:rPr lang="en-US" sz="6200" b="1" dirty="0">
                <a:solidFill>
                  <a:srgbClr val="F0D68A"/>
                </a:solidFill>
                <a:latin typeface="Cambria" pitchFamily="34" charset="0"/>
                <a:ea typeface="Cambria" pitchFamily="34" charset="-122"/>
                <a:cs typeface="Cambria" pitchFamily="34" charset="-120"/>
              </a:rPr>
              <a:t>730</a:t>
            </a:r>
            <a:endParaRPr lang="en-US" sz="6200" dirty="0"/>
          </a:p>
        </p:txBody>
      </p:sp>
      <p:sp>
        <p:nvSpPr>
          <p:cNvPr id="7" name="Text 5"/>
          <p:cNvSpPr txBox="1"/>
          <p:nvPr/>
        </p:nvSpPr>
        <p:spPr>
          <a:xfrm>
            <a:off x="2971800" y="2331720"/>
            <a:ext cx="1280160" cy="731520"/>
          </a:xfrm>
          <a:prstGeom prst="rect">
            <a:avLst/>
          </a:prstGeom>
          <a:noFill/>
          <a:ln/>
        </p:spPr>
        <p:txBody>
          <a:bodyPr wrap="square" lIns="0" tIns="0" rIns="0" bIns="0" rtlCol="0" anchor="ctr"/>
          <a:lstStyle/>
          <a:p>
            <a:pPr indent="0" marL="0">
              <a:lnSpc>
                <a:spcPts val="1600"/>
              </a:lnSpc>
              <a:buNone/>
            </a:pPr>
            <a:r>
              <a:rPr lang="en-US" sz="1300" b="1" dirty="0">
                <a:solidFill>
                  <a:srgbClr val="D4A62A"/>
                </a:solidFill>
                <a:latin typeface="Calibri" pitchFamily="34" charset="0"/>
                <a:ea typeface="Calibri" pitchFamily="34" charset="-122"/>
                <a:cs typeface="Calibri" pitchFamily="34" charset="-120"/>
              </a:rPr>
              <a:t>FCFA</a:t>
            </a:r>
            <a:endParaRPr lang="en-US" sz="1300" dirty="0"/>
          </a:p>
          <a:p>
            <a:pPr indent="0" marL="0">
              <a:lnSpc>
                <a:spcPts val="1600"/>
              </a:lnSpc>
              <a:buNone/>
            </a:pPr>
            <a:r>
              <a:rPr lang="en-US" sz="1300" b="1" dirty="0">
                <a:solidFill>
                  <a:srgbClr val="D4A62A"/>
                </a:solidFill>
                <a:latin typeface="Calibri" pitchFamily="34" charset="0"/>
                <a:ea typeface="Calibri" pitchFamily="34" charset="-122"/>
                <a:cs typeface="Calibri" pitchFamily="34" charset="-120"/>
              </a:rPr>
              <a:t>par mois</a:t>
            </a:r>
            <a:endParaRPr lang="en-US" sz="1300" dirty="0"/>
          </a:p>
        </p:txBody>
      </p:sp>
      <p:sp>
        <p:nvSpPr>
          <p:cNvPr id="8" name="Text 6"/>
          <p:cNvSpPr txBox="1"/>
          <p:nvPr/>
        </p:nvSpPr>
        <p:spPr>
          <a:xfrm>
            <a:off x="914400" y="3127248"/>
            <a:ext cx="3931920" cy="777240"/>
          </a:xfrm>
          <a:prstGeom prst="rect">
            <a:avLst/>
          </a:prstGeom>
          <a:noFill/>
          <a:ln/>
        </p:spPr>
        <p:txBody>
          <a:bodyPr wrap="square" lIns="0" tIns="0" rIns="0" bIns="0" rtlCol="0" anchor="ctr"/>
          <a:lstStyle/>
          <a:p>
            <a:pPr indent="0" marL="0">
              <a:lnSpc>
                <a:spcPts val="1500"/>
              </a:lnSpc>
              <a:buNone/>
            </a:pPr>
            <a:r>
              <a:rPr lang="en-US" sz="1100" dirty="0">
                <a:solidFill>
                  <a:srgbClr val="F4F1E9"/>
                </a:solidFill>
                <a:latin typeface="Calibri" pitchFamily="34" charset="0"/>
                <a:ea typeface="Calibri" pitchFamily="34" charset="-122"/>
                <a:cs typeface="Calibri" pitchFamily="34" charset="-120"/>
              </a:rPr>
              <a:t>Coût récurrent de l’hébergement — moins de 9 000 FCFA par an. Aucun serveur en fonctionnement permanent : un site statique servi par un réseau de diffusion.</a:t>
            </a:r>
            <a:endParaRPr lang="en-US" sz="1100" dirty="0"/>
          </a:p>
        </p:txBody>
      </p:sp>
      <p:sp>
        <p:nvSpPr>
          <p:cNvPr id="9" name="fo_d"/>
          <p:cNvSpPr/>
          <p:nvPr/>
        </p:nvSpPr>
        <p:spPr>
          <a:xfrm>
            <a:off x="640080" y="4206240"/>
            <a:ext cx="4480560" cy="1719072"/>
          </a:xfrm>
          <a:prstGeom prst="roundRect">
            <a:avLst>
              <a:gd name="adj" fmla="val 3191"/>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0" name="Text 8"/>
          <p:cNvSpPr txBox="1"/>
          <p:nvPr/>
        </p:nvSpPr>
        <p:spPr>
          <a:xfrm>
            <a:off x="914400" y="4343400"/>
            <a:ext cx="3931920" cy="256032"/>
          </a:xfrm>
          <a:prstGeom prst="rect">
            <a:avLst/>
          </a:prstGeom>
          <a:noFill/>
          <a:ln/>
        </p:spPr>
        <p:txBody>
          <a:bodyPr wrap="square" lIns="0" tIns="0" rIns="0" bIns="0" rtlCol="0" anchor="ctr"/>
          <a:lstStyle/>
          <a:p>
            <a:pPr indent="0" marL="0">
              <a:buNone/>
            </a:pPr>
            <a:r>
              <a:rPr lang="en-US" sz="950" b="1" spc="160" kern="0" dirty="0">
                <a:solidFill>
                  <a:srgbClr val="D4A62A"/>
                </a:solidFill>
                <a:latin typeface="Calibri" pitchFamily="34" charset="0"/>
                <a:ea typeface="Calibri" pitchFamily="34" charset="-122"/>
                <a:cs typeface="Calibri" pitchFamily="34" charset="-120"/>
              </a:rPr>
              <a:t>DÉTAIL MENSUEL (FCFA)</a:t>
            </a:r>
            <a:endParaRPr lang="en-US" sz="950" dirty="0"/>
          </a:p>
        </p:txBody>
      </p:sp>
      <p:sp>
        <p:nvSpPr>
          <p:cNvPr id="11" name="Text 9"/>
          <p:cNvSpPr txBox="1"/>
          <p:nvPr/>
        </p:nvSpPr>
        <p:spPr>
          <a:xfrm>
            <a:off x="914400" y="4645152"/>
            <a:ext cx="2743200" cy="274320"/>
          </a:xfrm>
          <a:prstGeom prst="rect">
            <a:avLst/>
          </a:prstGeom>
          <a:noFill/>
          <a:ln/>
        </p:spPr>
        <p:txBody>
          <a:bodyPr wrap="square" lIns="0" tIns="0" rIns="0" bIns="0" rtlCol="0" anchor="ctr"/>
          <a:lstStyle/>
          <a:p>
            <a:pPr indent="0" marL="0">
              <a:buNone/>
            </a:pPr>
            <a:r>
              <a:rPr lang="en-US" sz="1100" dirty="0">
                <a:solidFill>
                  <a:srgbClr val="F4F1E9"/>
                </a:solidFill>
                <a:latin typeface="Calibri" pitchFamily="34" charset="0"/>
                <a:ea typeface="Calibri" pitchFamily="34" charset="-122"/>
                <a:cs typeface="Calibri" pitchFamily="34" charset="-120"/>
              </a:rPr>
              <a:t>Route 53</a:t>
            </a:r>
            <a:endParaRPr lang="en-US" sz="1100" dirty="0"/>
          </a:p>
        </p:txBody>
      </p:sp>
      <p:sp>
        <p:nvSpPr>
          <p:cNvPr id="12" name="Text 10"/>
          <p:cNvSpPr txBox="1"/>
          <p:nvPr/>
        </p:nvSpPr>
        <p:spPr>
          <a:xfrm>
            <a:off x="3657600" y="4645152"/>
            <a:ext cx="1188720" cy="274320"/>
          </a:xfrm>
          <a:prstGeom prst="rect">
            <a:avLst/>
          </a:prstGeom>
          <a:noFill/>
          <a:ln/>
        </p:spPr>
        <p:txBody>
          <a:bodyPr wrap="square" lIns="0" tIns="0" rIns="0" bIns="0" rtlCol="0" anchor="ctr"/>
          <a:lstStyle/>
          <a:p>
            <a:pPr algn="r" indent="0" marL="0">
              <a:buNone/>
            </a:pPr>
            <a:r>
              <a:rPr lang="en-US" sz="1100" b="1" dirty="0">
                <a:solidFill>
                  <a:srgbClr val="25B98C"/>
                </a:solidFill>
                <a:latin typeface="Calibri" pitchFamily="34" charset="0"/>
                <a:ea typeface="Calibri" pitchFamily="34" charset="-122"/>
                <a:cs typeface="Calibri" pitchFamily="34" charset="-120"/>
              </a:rPr>
              <a:t>310</a:t>
            </a:r>
            <a:endParaRPr lang="en-US" sz="1100" dirty="0"/>
          </a:p>
        </p:txBody>
      </p:sp>
      <p:sp>
        <p:nvSpPr>
          <p:cNvPr id="13" name="Text 11"/>
          <p:cNvSpPr txBox="1"/>
          <p:nvPr/>
        </p:nvSpPr>
        <p:spPr>
          <a:xfrm>
            <a:off x="914400" y="4937760"/>
            <a:ext cx="2743200" cy="274320"/>
          </a:xfrm>
          <a:prstGeom prst="rect">
            <a:avLst/>
          </a:prstGeom>
          <a:noFill/>
          <a:ln/>
        </p:spPr>
        <p:txBody>
          <a:bodyPr wrap="square" lIns="0" tIns="0" rIns="0" bIns="0" rtlCol="0" anchor="ctr"/>
          <a:lstStyle/>
          <a:p>
            <a:pPr indent="0" marL="0">
              <a:buNone/>
            </a:pPr>
            <a:r>
              <a:rPr lang="en-US" sz="1100" dirty="0">
                <a:solidFill>
                  <a:srgbClr val="F4F1E9"/>
                </a:solidFill>
                <a:latin typeface="Calibri" pitchFamily="34" charset="0"/>
                <a:ea typeface="Calibri" pitchFamily="34" charset="-122"/>
                <a:cs typeface="Calibri" pitchFamily="34" charset="-120"/>
              </a:rPr>
              <a:t>Amazon S3</a:t>
            </a:r>
            <a:endParaRPr lang="en-US" sz="1100" dirty="0"/>
          </a:p>
        </p:txBody>
      </p:sp>
      <p:sp>
        <p:nvSpPr>
          <p:cNvPr id="14" name="Text 12"/>
          <p:cNvSpPr txBox="1"/>
          <p:nvPr/>
        </p:nvSpPr>
        <p:spPr>
          <a:xfrm>
            <a:off x="3657600" y="4937760"/>
            <a:ext cx="1188720" cy="274320"/>
          </a:xfrm>
          <a:prstGeom prst="rect">
            <a:avLst/>
          </a:prstGeom>
          <a:noFill/>
          <a:ln/>
        </p:spPr>
        <p:txBody>
          <a:bodyPr wrap="square" lIns="0" tIns="0" rIns="0" bIns="0" rtlCol="0" anchor="ctr"/>
          <a:lstStyle/>
          <a:p>
            <a:pPr algn="r" indent="0" marL="0">
              <a:buNone/>
            </a:pPr>
            <a:r>
              <a:rPr lang="en-US" sz="1100" b="1" dirty="0">
                <a:solidFill>
                  <a:srgbClr val="25B98C"/>
                </a:solidFill>
                <a:latin typeface="Calibri" pitchFamily="34" charset="0"/>
                <a:ea typeface="Calibri" pitchFamily="34" charset="-122"/>
                <a:cs typeface="Calibri" pitchFamily="34" charset="-120"/>
              </a:rPr>
              <a:t>90</a:t>
            </a:r>
            <a:endParaRPr lang="en-US" sz="1100" dirty="0"/>
          </a:p>
        </p:txBody>
      </p:sp>
      <p:sp>
        <p:nvSpPr>
          <p:cNvPr id="15" name="Text 13"/>
          <p:cNvSpPr txBox="1"/>
          <p:nvPr/>
        </p:nvSpPr>
        <p:spPr>
          <a:xfrm>
            <a:off x="914400" y="5230368"/>
            <a:ext cx="2743200" cy="274320"/>
          </a:xfrm>
          <a:prstGeom prst="rect">
            <a:avLst/>
          </a:prstGeom>
          <a:noFill/>
          <a:ln/>
        </p:spPr>
        <p:txBody>
          <a:bodyPr wrap="square" lIns="0" tIns="0" rIns="0" bIns="0" rtlCol="0" anchor="ctr"/>
          <a:lstStyle/>
          <a:p>
            <a:pPr indent="0" marL="0">
              <a:buNone/>
            </a:pPr>
            <a:r>
              <a:rPr lang="en-US" sz="1100" dirty="0">
                <a:solidFill>
                  <a:srgbClr val="F4F1E9"/>
                </a:solidFill>
                <a:latin typeface="Calibri" pitchFamily="34" charset="0"/>
                <a:ea typeface="Calibri" pitchFamily="34" charset="-122"/>
                <a:cs typeface="Calibri" pitchFamily="34" charset="-120"/>
              </a:rPr>
              <a:t>CloudFront</a:t>
            </a:r>
            <a:endParaRPr lang="en-US" sz="1100" dirty="0"/>
          </a:p>
        </p:txBody>
      </p:sp>
      <p:sp>
        <p:nvSpPr>
          <p:cNvPr id="16" name="Text 14"/>
          <p:cNvSpPr txBox="1"/>
          <p:nvPr/>
        </p:nvSpPr>
        <p:spPr>
          <a:xfrm>
            <a:off x="3657600" y="5230368"/>
            <a:ext cx="1188720" cy="274320"/>
          </a:xfrm>
          <a:prstGeom prst="rect">
            <a:avLst/>
          </a:prstGeom>
          <a:noFill/>
          <a:ln/>
        </p:spPr>
        <p:txBody>
          <a:bodyPr wrap="square" lIns="0" tIns="0" rIns="0" bIns="0" rtlCol="0" anchor="ctr"/>
          <a:lstStyle/>
          <a:p>
            <a:pPr algn="r" indent="0" marL="0">
              <a:buNone/>
            </a:pPr>
            <a:r>
              <a:rPr lang="en-US" sz="1100" b="1" dirty="0">
                <a:solidFill>
                  <a:srgbClr val="25B98C"/>
                </a:solidFill>
                <a:latin typeface="Calibri" pitchFamily="34" charset="0"/>
                <a:ea typeface="Calibri" pitchFamily="34" charset="-122"/>
                <a:cs typeface="Calibri" pitchFamily="34" charset="-120"/>
              </a:rPr>
              <a:t>330</a:t>
            </a:r>
            <a:endParaRPr lang="en-US" sz="1100" dirty="0"/>
          </a:p>
        </p:txBody>
      </p:sp>
      <p:sp>
        <p:nvSpPr>
          <p:cNvPr id="17" name="Text 15"/>
          <p:cNvSpPr txBox="1"/>
          <p:nvPr/>
        </p:nvSpPr>
        <p:spPr>
          <a:xfrm>
            <a:off x="914400" y="5522976"/>
            <a:ext cx="2743200" cy="274320"/>
          </a:xfrm>
          <a:prstGeom prst="rect">
            <a:avLst/>
          </a:prstGeom>
          <a:noFill/>
          <a:ln/>
        </p:spPr>
        <p:txBody>
          <a:bodyPr wrap="square" lIns="0" tIns="0" rIns="0" bIns="0" rtlCol="0" anchor="ctr"/>
          <a:lstStyle/>
          <a:p>
            <a:pPr indent="0" marL="0">
              <a:buNone/>
            </a:pPr>
            <a:r>
              <a:rPr lang="en-US" sz="1100" dirty="0">
                <a:solidFill>
                  <a:srgbClr val="F4F1E9"/>
                </a:solidFill>
                <a:latin typeface="Calibri" pitchFamily="34" charset="0"/>
                <a:ea typeface="Calibri" pitchFamily="34" charset="-122"/>
                <a:cs typeface="Calibri" pitchFamily="34" charset="-120"/>
              </a:rPr>
              <a:t>Certificate Manager</a:t>
            </a:r>
            <a:endParaRPr lang="en-US" sz="1100" dirty="0"/>
          </a:p>
        </p:txBody>
      </p:sp>
      <p:sp>
        <p:nvSpPr>
          <p:cNvPr id="18" name="Text 16"/>
          <p:cNvSpPr txBox="1"/>
          <p:nvPr/>
        </p:nvSpPr>
        <p:spPr>
          <a:xfrm>
            <a:off x="3657600" y="5522976"/>
            <a:ext cx="1188720" cy="274320"/>
          </a:xfrm>
          <a:prstGeom prst="rect">
            <a:avLst/>
          </a:prstGeom>
          <a:noFill/>
          <a:ln/>
        </p:spPr>
        <p:txBody>
          <a:bodyPr wrap="square" lIns="0" tIns="0" rIns="0" bIns="0" rtlCol="0" anchor="ctr"/>
          <a:lstStyle/>
          <a:p>
            <a:pPr algn="r" indent="0" marL="0">
              <a:buNone/>
            </a:pPr>
            <a:r>
              <a:rPr lang="en-US" sz="1100" b="1" dirty="0">
                <a:solidFill>
                  <a:srgbClr val="25B98C"/>
                </a:solidFill>
                <a:latin typeface="Calibri" pitchFamily="34" charset="0"/>
                <a:ea typeface="Calibri" pitchFamily="34" charset="-122"/>
                <a:cs typeface="Calibri" pitchFamily="34" charset="-120"/>
              </a:rPr>
              <a:t>gratuit</a:t>
            </a:r>
            <a:endParaRPr lang="en-US" sz="1100" dirty="0"/>
          </a:p>
        </p:txBody>
      </p:sp>
      <p:sp>
        <p:nvSpPr>
          <p:cNvPr id="19" name="fo_i"/>
          <p:cNvSpPr/>
          <p:nvPr/>
        </p:nvSpPr>
        <p:spPr>
          <a:xfrm>
            <a:off x="5349240" y="1874520"/>
            <a:ext cx="6199632" cy="4050792"/>
          </a:xfrm>
          <a:prstGeom prst="roundRect">
            <a:avLst>
              <a:gd name="adj" fmla="val 135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0" name="Text 18"/>
          <p:cNvSpPr txBox="1"/>
          <p:nvPr/>
        </p:nvSpPr>
        <p:spPr>
          <a:xfrm>
            <a:off x="5623560" y="2057400"/>
            <a:ext cx="5669280" cy="274320"/>
          </a:xfrm>
          <a:prstGeom prst="rect">
            <a:avLst/>
          </a:prstGeom>
          <a:noFill/>
          <a:ln/>
        </p:spPr>
        <p:txBody>
          <a:bodyPr wrap="square" lIns="0" tIns="0" rIns="0" bIns="0" rtlCol="0" anchor="ctr"/>
          <a:lstStyle/>
          <a:p>
            <a:pPr indent="0" marL="0">
              <a:buNone/>
            </a:pPr>
            <a:r>
              <a:rPr lang="en-US" sz="1000" b="1" spc="140" kern="0" dirty="0">
                <a:solidFill>
                  <a:srgbClr val="D4A62A"/>
                </a:solidFill>
                <a:latin typeface="Calibri" pitchFamily="34" charset="0"/>
                <a:ea typeface="Calibri" pitchFamily="34" charset="-122"/>
                <a:cs typeface="Calibri" pitchFamily="34" charset="-120"/>
              </a:rPr>
              <a:t>POURQUOI INFRACOST PLUTÔT QU’UN RELEVÉ DE FACTURATION</a:t>
            </a:r>
            <a:endParaRPr lang="en-US" sz="1000" dirty="0"/>
          </a:p>
        </p:txBody>
      </p:sp>
      <p:sp>
        <p:nvSpPr>
          <p:cNvPr id="21" name="Shape 19"/>
          <p:cNvSpPr/>
          <p:nvPr/>
        </p:nvSpPr>
        <p:spPr>
          <a:xfrm>
            <a:off x="5623560" y="2468880"/>
            <a:ext cx="402336" cy="402336"/>
          </a:xfrm>
          <a:prstGeom prst="roundRect">
            <a:avLst>
              <a:gd name="adj" fmla="val 79545"/>
            </a:avLst>
          </a:prstGeom>
          <a:solidFill>
            <a:srgbClr val="0E6B4F"/>
          </a:solidFill>
          <a:ln w="12700">
            <a:solidFill>
              <a:srgbClr val="25B98C"/>
            </a:solidFill>
            <a:prstDash val="solid"/>
          </a:ln>
        </p:spPr>
      </p:sp>
      <p:sp>
        <p:nvSpPr>
          <p:cNvPr id="22" name="Text 20"/>
          <p:cNvSpPr txBox="1"/>
          <p:nvPr/>
        </p:nvSpPr>
        <p:spPr>
          <a:xfrm>
            <a:off x="5623560" y="2468880"/>
            <a:ext cx="402336" cy="402336"/>
          </a:xfrm>
          <a:prstGeom prst="rect">
            <a:avLst/>
          </a:prstGeom>
          <a:noFill/>
          <a:ln/>
        </p:spPr>
        <p:txBody>
          <a:bodyPr wrap="square" lIns="0" tIns="0" rIns="0" bIns="0" rtlCol="0" anchor="ctr"/>
          <a:lstStyle/>
          <a:p>
            <a:pPr algn="ctr" indent="0" marL="0">
              <a:buNone/>
            </a:pPr>
            <a:r>
              <a:rPr lang="en-US" sz="1100" b="1" dirty="0">
                <a:solidFill>
                  <a:srgbClr val="F0D68A"/>
                </a:solidFill>
                <a:latin typeface="Cambria" pitchFamily="34" charset="0"/>
                <a:ea typeface="Cambria" pitchFamily="34" charset="-122"/>
                <a:cs typeface="Cambria" pitchFamily="34" charset="-120"/>
              </a:rPr>
              <a:t>1</a:t>
            </a:r>
            <a:endParaRPr lang="en-US" sz="1100" dirty="0"/>
          </a:p>
        </p:txBody>
      </p:sp>
      <p:sp>
        <p:nvSpPr>
          <p:cNvPr id="23" name="Text 21"/>
          <p:cNvSpPr txBox="1"/>
          <p:nvPr/>
        </p:nvSpPr>
        <p:spPr>
          <a:xfrm>
            <a:off x="6144768" y="2450592"/>
            <a:ext cx="5120640" cy="292608"/>
          </a:xfrm>
          <a:prstGeom prst="rect">
            <a:avLst/>
          </a:prstGeom>
          <a:noFill/>
          <a:ln/>
        </p:spPr>
        <p:txBody>
          <a:bodyPr wrap="square" lIns="0" tIns="0" rIns="0" bIns="0" rtlCol="0" anchor="ctr"/>
          <a:lstStyle/>
          <a:p>
            <a:pPr indent="0" marL="0">
              <a:buNone/>
            </a:pPr>
            <a:r>
              <a:rPr lang="en-US" sz="1250" b="1" dirty="0">
                <a:solidFill>
                  <a:srgbClr val="F4F1E9"/>
                </a:solidFill>
                <a:latin typeface="Calibri" pitchFamily="34" charset="0"/>
                <a:ea typeface="Calibri" pitchFamily="34" charset="-122"/>
                <a:cs typeface="Calibri" pitchFamily="34" charset="-120"/>
              </a:rPr>
              <a:t>Le moment de la mesure</a:t>
            </a:r>
            <a:endParaRPr lang="en-US" sz="1250" dirty="0"/>
          </a:p>
        </p:txBody>
      </p:sp>
      <p:sp>
        <p:nvSpPr>
          <p:cNvPr id="24" name="Text 22"/>
          <p:cNvSpPr txBox="1"/>
          <p:nvPr/>
        </p:nvSpPr>
        <p:spPr>
          <a:xfrm>
            <a:off x="6144768" y="2743200"/>
            <a:ext cx="5138928" cy="786384"/>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Une console de facturation constate une dépense déjà engagée. Infracost chiffre la modification avant qu’elle ne soit appliquée — au moment où l’on peut encore y renoncer. Ajouter une passerelle NAT paraît anodin ; savoir que le geste engage des dizaines de dollars par mois change la décision.</a:t>
            </a:r>
            <a:endParaRPr lang="en-US" sz="1050" dirty="0"/>
          </a:p>
        </p:txBody>
      </p:sp>
      <p:sp>
        <p:nvSpPr>
          <p:cNvPr id="25" name="Shape 23"/>
          <p:cNvSpPr/>
          <p:nvPr/>
        </p:nvSpPr>
        <p:spPr>
          <a:xfrm>
            <a:off x="5623560" y="3602736"/>
            <a:ext cx="402336" cy="402336"/>
          </a:xfrm>
          <a:prstGeom prst="roundRect">
            <a:avLst>
              <a:gd name="adj" fmla="val 79545"/>
            </a:avLst>
          </a:prstGeom>
          <a:solidFill>
            <a:srgbClr val="0E6B4F"/>
          </a:solidFill>
          <a:ln w="12700">
            <a:solidFill>
              <a:srgbClr val="25B98C"/>
            </a:solidFill>
            <a:prstDash val="solid"/>
          </a:ln>
        </p:spPr>
      </p:sp>
      <p:sp>
        <p:nvSpPr>
          <p:cNvPr id="26" name="Text 24"/>
          <p:cNvSpPr txBox="1"/>
          <p:nvPr/>
        </p:nvSpPr>
        <p:spPr>
          <a:xfrm>
            <a:off x="5623560" y="3602736"/>
            <a:ext cx="402336" cy="402336"/>
          </a:xfrm>
          <a:prstGeom prst="rect">
            <a:avLst/>
          </a:prstGeom>
          <a:noFill/>
          <a:ln/>
        </p:spPr>
        <p:txBody>
          <a:bodyPr wrap="square" lIns="0" tIns="0" rIns="0" bIns="0" rtlCol="0" anchor="ctr"/>
          <a:lstStyle/>
          <a:p>
            <a:pPr algn="ctr" indent="0" marL="0">
              <a:buNone/>
            </a:pPr>
            <a:r>
              <a:rPr lang="en-US" sz="1100" b="1" dirty="0">
                <a:solidFill>
                  <a:srgbClr val="F0D68A"/>
                </a:solidFill>
                <a:latin typeface="Cambria" pitchFamily="34" charset="0"/>
                <a:ea typeface="Cambria" pitchFamily="34" charset="-122"/>
                <a:cs typeface="Cambria" pitchFamily="34" charset="-120"/>
              </a:rPr>
              <a:t>2</a:t>
            </a:r>
            <a:endParaRPr lang="en-US" sz="1100" dirty="0"/>
          </a:p>
        </p:txBody>
      </p:sp>
      <p:sp>
        <p:nvSpPr>
          <p:cNvPr id="27" name="Text 25"/>
          <p:cNvSpPr txBox="1"/>
          <p:nvPr/>
        </p:nvSpPr>
        <p:spPr>
          <a:xfrm>
            <a:off x="6144768" y="3584448"/>
            <a:ext cx="5120640" cy="292608"/>
          </a:xfrm>
          <a:prstGeom prst="rect">
            <a:avLst/>
          </a:prstGeom>
          <a:noFill/>
          <a:ln/>
        </p:spPr>
        <p:txBody>
          <a:bodyPr wrap="square" lIns="0" tIns="0" rIns="0" bIns="0" rtlCol="0" anchor="ctr"/>
          <a:lstStyle/>
          <a:p>
            <a:pPr indent="0" marL="0">
              <a:buNone/>
            </a:pPr>
            <a:r>
              <a:rPr lang="en-US" sz="1250" b="1" dirty="0">
                <a:solidFill>
                  <a:srgbClr val="F4F1E9"/>
                </a:solidFill>
                <a:latin typeface="Calibri" pitchFamily="34" charset="0"/>
                <a:ea typeface="Calibri" pitchFamily="34" charset="-122"/>
                <a:cs typeface="Calibri" pitchFamily="34" charset="-120"/>
              </a:rPr>
              <a:t>La reproductibilité</a:t>
            </a:r>
            <a:endParaRPr lang="en-US" sz="1250" dirty="0"/>
          </a:p>
        </p:txBody>
      </p:sp>
      <p:sp>
        <p:nvSpPr>
          <p:cNvPr id="28" name="Text 26"/>
          <p:cNvSpPr txBox="1"/>
          <p:nvPr/>
        </p:nvSpPr>
        <p:spPr>
          <a:xfrm>
            <a:off x="6144768" y="3877056"/>
            <a:ext cx="5138928" cy="786384"/>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L’estimation se déduit des seuls fichiers versionnés : n’importe qui, muni du dépôt, obtient le même chiffre. C’est ce qui rend le coût annoncé dans le rapport vérifiable par un tiers.</a:t>
            </a:r>
            <a:endParaRPr lang="en-US" sz="1050" dirty="0"/>
          </a:p>
        </p:txBody>
      </p:sp>
      <p:sp>
        <p:nvSpPr>
          <p:cNvPr id="29" name="Shape 27"/>
          <p:cNvSpPr/>
          <p:nvPr/>
        </p:nvSpPr>
        <p:spPr>
          <a:xfrm>
            <a:off x="5623560" y="4736592"/>
            <a:ext cx="402336" cy="402336"/>
          </a:xfrm>
          <a:prstGeom prst="roundRect">
            <a:avLst>
              <a:gd name="adj" fmla="val 79545"/>
            </a:avLst>
          </a:prstGeom>
          <a:solidFill>
            <a:srgbClr val="0E6B4F"/>
          </a:solidFill>
          <a:ln w="12700">
            <a:solidFill>
              <a:srgbClr val="25B98C"/>
            </a:solidFill>
            <a:prstDash val="solid"/>
          </a:ln>
        </p:spPr>
      </p:sp>
      <p:sp>
        <p:nvSpPr>
          <p:cNvPr id="30" name="Text 28"/>
          <p:cNvSpPr txBox="1"/>
          <p:nvPr/>
        </p:nvSpPr>
        <p:spPr>
          <a:xfrm>
            <a:off x="5623560" y="4736592"/>
            <a:ext cx="402336" cy="402336"/>
          </a:xfrm>
          <a:prstGeom prst="rect">
            <a:avLst/>
          </a:prstGeom>
          <a:noFill/>
          <a:ln/>
        </p:spPr>
        <p:txBody>
          <a:bodyPr wrap="square" lIns="0" tIns="0" rIns="0" bIns="0" rtlCol="0" anchor="ctr"/>
          <a:lstStyle/>
          <a:p>
            <a:pPr algn="ctr" indent="0" marL="0">
              <a:buNone/>
            </a:pPr>
            <a:r>
              <a:rPr lang="en-US" sz="1100" b="1" dirty="0">
                <a:solidFill>
                  <a:srgbClr val="F0D68A"/>
                </a:solidFill>
                <a:latin typeface="Cambria" pitchFamily="34" charset="0"/>
                <a:ea typeface="Cambria" pitchFamily="34" charset="-122"/>
                <a:cs typeface="Cambria" pitchFamily="34" charset="-120"/>
              </a:rPr>
              <a:t>3</a:t>
            </a:r>
            <a:endParaRPr lang="en-US" sz="1100" dirty="0"/>
          </a:p>
        </p:txBody>
      </p:sp>
      <p:sp>
        <p:nvSpPr>
          <p:cNvPr id="31" name="Text 29"/>
          <p:cNvSpPr txBox="1"/>
          <p:nvPr/>
        </p:nvSpPr>
        <p:spPr>
          <a:xfrm>
            <a:off x="6144768" y="4718304"/>
            <a:ext cx="5120640" cy="292608"/>
          </a:xfrm>
          <a:prstGeom prst="rect">
            <a:avLst/>
          </a:prstGeom>
          <a:noFill/>
          <a:ln/>
        </p:spPr>
        <p:txBody>
          <a:bodyPr wrap="square" lIns="0" tIns="0" rIns="0" bIns="0" rtlCol="0" anchor="ctr"/>
          <a:lstStyle/>
          <a:p>
            <a:pPr indent="0" marL="0">
              <a:buNone/>
            </a:pPr>
            <a:r>
              <a:rPr lang="en-US" sz="1250" b="1" dirty="0">
                <a:solidFill>
                  <a:srgbClr val="F4F1E9"/>
                </a:solidFill>
                <a:latin typeface="Calibri" pitchFamily="34" charset="0"/>
                <a:ea typeface="Calibri" pitchFamily="34" charset="-122"/>
                <a:cs typeface="Calibri" pitchFamily="34" charset="-120"/>
              </a:rPr>
              <a:t>L’inscription dans la chaîne</a:t>
            </a:r>
            <a:endParaRPr lang="en-US" sz="1250" dirty="0"/>
          </a:p>
        </p:txBody>
      </p:sp>
      <p:sp>
        <p:nvSpPr>
          <p:cNvPr id="32" name="Text 30"/>
          <p:cNvSpPr txBox="1"/>
          <p:nvPr/>
        </p:nvSpPr>
        <p:spPr>
          <a:xfrm>
            <a:off x="6144768" y="5010912"/>
            <a:ext cx="5138928" cy="786384"/>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L’outil s’exécute à chaque proposition de modification de l’infrastructure et en publie l’écart de coût. La maîtrise de la dépense cesse d’être un audit ponctuel pour devenir un contrôle permanent.</a:t>
            </a:r>
            <a:endParaRPr lang="en-US" sz="1050" dirty="0"/>
          </a:p>
        </p:txBody>
      </p:sp>
      <p:sp>
        <p:nvSpPr>
          <p:cNvPr id="33" name="Text 31"/>
          <p:cNvSpPr txBox="1"/>
          <p:nvPr/>
        </p:nvSpPr>
        <p:spPr>
          <a:xfrm>
            <a:off x="5623560" y="5504688"/>
            <a:ext cx="5669280" cy="365760"/>
          </a:xfrm>
          <a:prstGeom prst="rect">
            <a:avLst/>
          </a:prstGeom>
          <a:noFill/>
          <a:ln/>
        </p:spPr>
        <p:txBody>
          <a:bodyPr wrap="square" lIns="0" tIns="0" rIns="0" bIns="0" rtlCol="0" anchor="ctr"/>
          <a:lstStyle/>
          <a:p>
            <a:pPr indent="0" marL="0">
              <a:lnSpc>
                <a:spcPts val="1200"/>
              </a:lnSpc>
              <a:buNone/>
            </a:pPr>
            <a:r>
              <a:rPr lang="en-US" sz="950" i="1" dirty="0">
                <a:solidFill>
                  <a:srgbClr val="E08A3C"/>
                </a:solidFill>
                <a:latin typeface="Calibri" pitchFamily="34" charset="0"/>
                <a:ea typeface="Calibri" pitchFamily="34" charset="-122"/>
                <a:cs typeface="Calibri" pitchFamily="34" charset="-120"/>
              </a:rPr>
              <a:t>Réserve : Infracost évalue le coût structurel des ressources déclarées, non les postes proportionnels à la consommation. Les montants du rapport combinent les deux sources.</a:t>
            </a:r>
            <a:endParaRPr lang="en-US" sz="950" dirty="0"/>
          </a:p>
        </p:txBody>
      </p:sp>
      <p:sp>
        <p:nvSpPr>
          <p:cNvPr id="34" name="Text 32"/>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5" name="Text 33"/>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20</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46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anim calcmode="lin" valueType="num">
                                      <p:cBhvr additive="base">
                                        <p:cTn id="16" dur="500" fill="hold"/>
                                        <p:tgtEl>
                                          <p:spTgt spid="9"/>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anim calcmode="lin" valueType="num">
                                      <p:cBhvr additive="base">
                                        <p:cTn id="20" dur="500" fill="hold"/>
                                        <p:tgtEl>
                                          <p:spTgt spid="1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1">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194560" y="2011680"/>
            <a:ext cx="6858000" cy="6858000"/>
          </a:xfrm>
          <a:prstGeom prst="ellipse">
            <a:avLst/>
          </a:prstGeom>
          <a:solidFill>
            <a:srgbClr val="0E6B4F">
              <a:alpha val="12000"/>
            </a:srgbClr>
          </a:solidFill>
          <a:ln/>
        </p:spPr>
      </p:sp>
      <p:sp>
        <p:nvSpPr>
          <p:cNvPr id="3" name="Shape 1"/>
          <p:cNvSpPr/>
          <p:nvPr/>
        </p:nvSpPr>
        <p:spPr>
          <a:xfrm>
            <a:off x="9326880" y="-1828800"/>
            <a:ext cx="5943600" cy="5943600"/>
          </a:xfrm>
          <a:prstGeom prst="ellipse">
            <a:avLst/>
          </a:prstGeom>
          <a:solidFill>
            <a:srgbClr val="D4A62A">
              <a:alpha val="6000"/>
            </a:srgbClr>
          </a:solidFill>
          <a:ln/>
        </p:spPr>
      </p:sp>
      <p:sp>
        <p:nvSpPr>
          <p:cNvPr id="4" name="!!num4b"/>
          <p:cNvSpPr/>
          <p:nvPr/>
        </p:nvSpPr>
        <p:spPr>
          <a:xfrm>
            <a:off x="1051560" y="2331720"/>
            <a:ext cx="2194560" cy="2194560"/>
          </a:xfrm>
          <a:prstGeom prst="roundRect">
            <a:avLst>
              <a:gd name="adj" fmla="val 14583"/>
            </a:avLst>
          </a:prstGeom>
          <a:solidFill>
            <a:srgbClr val="0E6B4F"/>
          </a:solidFill>
          <a:ln w="12700">
            <a:solidFill>
              <a:srgbClr val="25B98C"/>
            </a:solidFill>
            <a:prstDash val="solid"/>
          </a:ln>
        </p:spPr>
      </p:sp>
      <p:sp>
        <p:nvSpPr>
          <p:cNvPr id="5" name="!!num4"/>
          <p:cNvSpPr txBox="1"/>
          <p:nvPr/>
        </p:nvSpPr>
        <p:spPr>
          <a:xfrm>
            <a:off x="1051560" y="2331720"/>
            <a:ext cx="2194560" cy="2194560"/>
          </a:xfrm>
          <a:prstGeom prst="rect">
            <a:avLst/>
          </a:prstGeom>
          <a:noFill/>
          <a:ln/>
        </p:spPr>
        <p:txBody>
          <a:bodyPr wrap="square" lIns="0" tIns="0" rIns="0" bIns="0" rtlCol="0" anchor="ctr"/>
          <a:lstStyle/>
          <a:p>
            <a:pPr algn="ctr" indent="0" marL="0">
              <a:buNone/>
            </a:pPr>
            <a:r>
              <a:rPr lang="en-US" sz="6600" b="1" dirty="0">
                <a:solidFill>
                  <a:srgbClr val="F0D68A"/>
                </a:solidFill>
                <a:latin typeface="Cambria" pitchFamily="34" charset="0"/>
                <a:ea typeface="Cambria" pitchFamily="34" charset="-122"/>
                <a:cs typeface="Cambria" pitchFamily="34" charset="-120"/>
              </a:rPr>
              <a:t>IV</a:t>
            </a:r>
            <a:endParaRPr lang="en-US" sz="6600" dirty="0"/>
          </a:p>
        </p:txBody>
      </p:sp>
      <p:sp>
        <p:nvSpPr>
          <p:cNvPr id="6" name="!!sec4"/>
          <p:cNvSpPr txBox="1"/>
          <p:nvPr/>
        </p:nvSpPr>
        <p:spPr>
          <a:xfrm>
            <a:off x="3977640" y="2606040"/>
            <a:ext cx="7589520" cy="914400"/>
          </a:xfrm>
          <a:prstGeom prst="rect">
            <a:avLst/>
          </a:prstGeom>
          <a:noFill/>
          <a:ln/>
        </p:spPr>
        <p:txBody>
          <a:bodyPr wrap="square" lIns="0" tIns="0" rIns="0" bIns="0" rtlCol="0" anchor="ctr"/>
          <a:lstStyle/>
          <a:p>
            <a:pPr indent="0" marL="0">
              <a:buNone/>
            </a:pPr>
            <a:r>
              <a:rPr lang="en-US" sz="4000" b="1" dirty="0">
                <a:solidFill>
                  <a:srgbClr val="F4F1E9"/>
                </a:solidFill>
                <a:latin typeface="Cambria" pitchFamily="34" charset="0"/>
                <a:ea typeface="Cambria" pitchFamily="34" charset="-122"/>
                <a:cs typeface="Cambria" pitchFamily="34" charset="-120"/>
              </a:rPr>
              <a:t>FAIRE ENTRER LES DONNÉES</a:t>
            </a:r>
            <a:endParaRPr lang="en-US" sz="4000" dirty="0"/>
          </a:p>
        </p:txBody>
      </p:sp>
      <p:sp>
        <p:nvSpPr>
          <p:cNvPr id="7" name="Text 5"/>
          <p:cNvSpPr txBox="1"/>
          <p:nvPr/>
        </p:nvSpPr>
        <p:spPr>
          <a:xfrm>
            <a:off x="4023360" y="3611880"/>
            <a:ext cx="7498080" cy="548640"/>
          </a:xfrm>
          <a:prstGeom prst="rect">
            <a:avLst/>
          </a:prstGeom>
          <a:noFill/>
          <a:ln/>
        </p:spPr>
        <p:txBody>
          <a:bodyPr wrap="square" lIns="0" tIns="0" rIns="0" bIns="0" rtlCol="0" anchor="ctr"/>
          <a:lstStyle/>
          <a:p>
            <a:pPr indent="0" marL="0">
              <a:buNone/>
            </a:pPr>
            <a:r>
              <a:rPr lang="en-US" sz="1500" i="1" dirty="0">
                <a:solidFill>
                  <a:srgbClr val="9CB6A9"/>
                </a:solidFill>
                <a:latin typeface="Calibri" pitchFamily="34" charset="0"/>
                <a:ea typeface="Calibri" pitchFamily="34" charset="-122"/>
                <a:cs typeface="Calibri" pitchFamily="34" charset="-120"/>
              </a:rPr>
              <a:t>Le classeur du conservateur, et pourquoi pas Power Query</a:t>
            </a:r>
            <a:endParaRPr lang="en-US" sz="1500" dirty="0"/>
          </a:p>
        </p:txBody>
      </p:sp>
      <p:sp>
        <p:nvSpPr>
          <p:cNvPr id="8" name="Text 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9" name="Text 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21</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2">
    <p:bg>
      <p:bgPr>
        <a:solidFill>
          <a:srgbClr val="07130F"/>
        </a:solidFill>
      </p:bgPr>
    </p:bg>
    <p:spTree>
      <p:nvGrpSpPr>
        <p:cNvPr id="1" name=""/>
        <p:cNvGrpSpPr/>
        <p:nvPr/>
      </p:nvGrpSpPr>
      <p:grpSpPr>
        <a:xfrm>
          <a:off x="0" y="0"/>
          <a:ext cx="0" cy="0"/>
          <a:chOff x="0" y="0"/>
          <a:chExt cx="0" cy="0"/>
        </a:xfrm>
      </p:grpSpPr>
      <p:sp>
        <p:nvSpPr>
          <p:cNvPr id="2" name="!!num4b"/>
          <p:cNvSpPr/>
          <p:nvPr/>
        </p:nvSpPr>
        <p:spPr>
          <a:xfrm>
            <a:off x="640080" y="384048"/>
            <a:ext cx="420624" cy="420624"/>
          </a:xfrm>
          <a:prstGeom prst="roundRect">
            <a:avLst>
              <a:gd name="adj" fmla="val 76087"/>
            </a:avLst>
          </a:prstGeom>
          <a:solidFill>
            <a:srgbClr val="0E6B4F"/>
          </a:solidFill>
          <a:ln w="12700">
            <a:solidFill>
              <a:srgbClr val="25B98C"/>
            </a:solidFill>
            <a:prstDash val="solid"/>
          </a:ln>
        </p:spPr>
      </p:sp>
      <p:sp>
        <p:nvSpPr>
          <p:cNvPr id="3" name="!!num4"/>
          <p:cNvSpPr txBox="1"/>
          <p:nvPr/>
        </p:nvSpPr>
        <p:spPr>
          <a:xfrm>
            <a:off x="640080" y="384048"/>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IV</a:t>
            </a:r>
            <a:endParaRPr lang="en-US" sz="1200" dirty="0"/>
          </a:p>
        </p:txBody>
      </p:sp>
      <p:sp>
        <p:nvSpPr>
          <p:cNvPr id="4" name="!!sec4"/>
          <p:cNvSpPr txBox="1"/>
          <p:nvPr/>
        </p:nvSpPr>
        <p:spPr>
          <a:xfrm>
            <a:off x="1207008" y="411480"/>
            <a:ext cx="7315200" cy="365760"/>
          </a:xfrm>
          <a:prstGeom prst="rect">
            <a:avLst/>
          </a:prstGeom>
          <a:noFill/>
          <a:ln/>
        </p:spPr>
        <p:txBody>
          <a:bodyPr wrap="square" lIns="0" tIns="0" rIns="0" bIns="0" rtlCol="0" anchor="ctr"/>
          <a:lstStyle/>
          <a:p>
            <a:pPr indent="0" marL="0">
              <a:buNone/>
            </a:pPr>
            <a:r>
              <a:rPr lang="en-US" sz="1150" b="1" spc="240" kern="0" dirty="0">
                <a:solidFill>
                  <a:srgbClr val="D4A62A"/>
                </a:solidFill>
                <a:latin typeface="Calibri" pitchFamily="34" charset="0"/>
                <a:ea typeface="Calibri" pitchFamily="34" charset="-122"/>
                <a:cs typeface="Calibri" pitchFamily="34" charset="-120"/>
              </a:rPr>
              <a:t>FAIRE ENTRER LES DONNÉES</a:t>
            </a:r>
            <a:endParaRPr lang="en-US" sz="1150" dirty="0"/>
          </a:p>
        </p:txBody>
      </p:sp>
      <p:sp>
        <p:nvSpPr>
          <p:cNvPr id="5" name="h22_t"/>
          <p:cNvSpPr txBox="1"/>
          <p:nvPr/>
        </p:nvSpPr>
        <p:spPr>
          <a:xfrm>
            <a:off x="640080" y="1024128"/>
            <a:ext cx="10911535" cy="96012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Le classeur est la vraie porte d’entrée du catalogue</a:t>
            </a:r>
            <a:endParaRPr lang="en-US" sz="3300" dirty="0"/>
          </a:p>
        </p:txBody>
      </p:sp>
      <p:sp>
        <p:nvSpPr>
          <p:cNvPr id="6" name="h22_k"/>
          <p:cNvSpPr txBox="1"/>
          <p:nvPr/>
        </p:nvSpPr>
        <p:spPr>
          <a:xfrm>
            <a:off x="640080" y="2011680"/>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 Nous n’allons pas ressaisir un inventaire que nous tenons déjà sur tableur. » — objection relevée en entretien.</a:t>
            </a:r>
            <a:endParaRPr lang="en-US" sz="1450" dirty="0"/>
          </a:p>
        </p:txBody>
      </p:sp>
      <p:sp>
        <p:nvSpPr>
          <p:cNvPr id="7" name="i_c0"/>
          <p:cNvSpPr/>
          <p:nvPr/>
        </p:nvSpPr>
        <p:spPr>
          <a:xfrm>
            <a:off x="640080" y="2395728"/>
            <a:ext cx="2006742" cy="1783080"/>
          </a:xfrm>
          <a:prstGeom prst="roundRect">
            <a:avLst>
              <a:gd name="adj" fmla="val 307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8" name="Shape 6"/>
          <p:cNvSpPr/>
          <p:nvPr/>
        </p:nvSpPr>
        <p:spPr>
          <a:xfrm>
            <a:off x="841248" y="2606040"/>
            <a:ext cx="420624" cy="420624"/>
          </a:xfrm>
          <a:prstGeom prst="roundRect">
            <a:avLst>
              <a:gd name="adj" fmla="val 76087"/>
            </a:avLst>
          </a:prstGeom>
          <a:solidFill>
            <a:srgbClr val="0E6B4F"/>
          </a:solidFill>
          <a:ln w="12700">
            <a:solidFill>
              <a:srgbClr val="25B98C"/>
            </a:solidFill>
            <a:prstDash val="solid"/>
          </a:ln>
        </p:spPr>
      </p:sp>
      <p:sp>
        <p:nvSpPr>
          <p:cNvPr id="9" name="Text 7"/>
          <p:cNvSpPr txBox="1"/>
          <p:nvPr/>
        </p:nvSpPr>
        <p:spPr>
          <a:xfrm>
            <a:off x="841248" y="2606040"/>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335024" y="2624328"/>
            <a:ext cx="1110630" cy="384048"/>
          </a:xfrm>
          <a:prstGeom prst="rect">
            <a:avLst/>
          </a:prstGeom>
          <a:noFill/>
          <a:ln/>
        </p:spPr>
        <p:txBody>
          <a:bodyPr wrap="square" lIns="0" tIns="0" rIns="0" bIns="0" rtlCol="0" anchor="ctr"/>
          <a:lstStyle/>
          <a:p>
            <a:pPr indent="0" marL="0">
              <a:buNone/>
            </a:pPr>
            <a:r>
              <a:rPr lang="en-US" sz="1150" b="1" spc="140" kern="0" dirty="0">
                <a:solidFill>
                  <a:srgbClr val="D4A62A"/>
                </a:solidFill>
                <a:latin typeface="Calibri" pitchFamily="34" charset="0"/>
                <a:ea typeface="Calibri" pitchFamily="34" charset="-122"/>
                <a:cs typeface="Calibri" pitchFamily="34" charset="-120"/>
              </a:rPr>
              <a:t>EXPORTER</a:t>
            </a:r>
            <a:endParaRPr lang="en-US" sz="1150" dirty="0"/>
          </a:p>
        </p:txBody>
      </p:sp>
      <p:sp>
        <p:nvSpPr>
          <p:cNvPr id="11" name="Text 9"/>
          <p:cNvSpPr txBox="1"/>
          <p:nvPr/>
        </p:nvSpPr>
        <p:spPr>
          <a:xfrm>
            <a:off x="859536" y="3127248"/>
            <a:ext cx="156783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La plateforme génère le modèle .xlsx : le tableau à remplir, et en seconde feuille la liste des salles valides.</a:t>
            </a:r>
            <a:endParaRPr lang="en-US" sz="1050" dirty="0"/>
          </a:p>
        </p:txBody>
      </p:sp>
      <p:sp>
        <p:nvSpPr>
          <p:cNvPr id="12" name="Text 10"/>
          <p:cNvSpPr txBox="1"/>
          <p:nvPr/>
        </p:nvSpPr>
        <p:spPr>
          <a:xfrm>
            <a:off x="2628534" y="2606040"/>
            <a:ext cx="256032" cy="420624"/>
          </a:xfrm>
          <a:prstGeom prst="rect">
            <a:avLst/>
          </a:prstGeom>
          <a:noFill/>
          <a:ln/>
        </p:spPr>
        <p:txBody>
          <a:bodyPr wrap="square" lIns="0" tIns="0" rIns="0" bIns="0" rtlCol="0" anchor="ctr"/>
          <a:lstStyle/>
          <a:p>
            <a:pPr algn="ctr" indent="0" marL="0">
              <a:buNone/>
            </a:pPr>
            <a:r>
              <a:rPr lang="en-US" sz="1800" b="1" dirty="0">
                <a:solidFill>
                  <a:srgbClr val="D4A62A"/>
                </a:solidFill>
                <a:latin typeface="Calibri" pitchFamily="34" charset="0"/>
                <a:ea typeface="Calibri" pitchFamily="34" charset="-122"/>
                <a:cs typeface="Calibri" pitchFamily="34" charset="-120"/>
              </a:rPr>
              <a:t>›</a:t>
            </a:r>
            <a:endParaRPr lang="en-US" sz="1800" dirty="0"/>
          </a:p>
        </p:txBody>
      </p:sp>
      <p:sp>
        <p:nvSpPr>
          <p:cNvPr id="13" name="i_c1"/>
          <p:cNvSpPr/>
          <p:nvPr/>
        </p:nvSpPr>
        <p:spPr>
          <a:xfrm>
            <a:off x="2866278" y="2395728"/>
            <a:ext cx="2006742" cy="1783080"/>
          </a:xfrm>
          <a:prstGeom prst="roundRect">
            <a:avLst>
              <a:gd name="adj" fmla="val 307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4" name="Shape 12"/>
          <p:cNvSpPr/>
          <p:nvPr/>
        </p:nvSpPr>
        <p:spPr>
          <a:xfrm>
            <a:off x="3067446" y="2606040"/>
            <a:ext cx="420624" cy="420624"/>
          </a:xfrm>
          <a:prstGeom prst="roundRect">
            <a:avLst>
              <a:gd name="adj" fmla="val 76087"/>
            </a:avLst>
          </a:prstGeom>
          <a:solidFill>
            <a:srgbClr val="0E6B4F"/>
          </a:solidFill>
          <a:ln w="12700">
            <a:solidFill>
              <a:srgbClr val="25B98C"/>
            </a:solidFill>
            <a:prstDash val="solid"/>
          </a:ln>
        </p:spPr>
      </p:sp>
      <p:sp>
        <p:nvSpPr>
          <p:cNvPr id="15" name="Text 13"/>
          <p:cNvSpPr txBox="1"/>
          <p:nvPr/>
        </p:nvSpPr>
        <p:spPr>
          <a:xfrm>
            <a:off x="3067446" y="2606040"/>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2</a:t>
            </a:r>
            <a:endParaRPr lang="en-US" sz="1200" dirty="0"/>
          </a:p>
        </p:txBody>
      </p:sp>
      <p:sp>
        <p:nvSpPr>
          <p:cNvPr id="16" name="Text 14"/>
          <p:cNvSpPr txBox="1"/>
          <p:nvPr/>
        </p:nvSpPr>
        <p:spPr>
          <a:xfrm>
            <a:off x="3561222" y="2624328"/>
            <a:ext cx="1110630" cy="384048"/>
          </a:xfrm>
          <a:prstGeom prst="rect">
            <a:avLst/>
          </a:prstGeom>
          <a:noFill/>
          <a:ln/>
        </p:spPr>
        <p:txBody>
          <a:bodyPr wrap="square" lIns="0" tIns="0" rIns="0" bIns="0" rtlCol="0" anchor="ctr"/>
          <a:lstStyle/>
          <a:p>
            <a:pPr indent="0" marL="0">
              <a:buNone/>
            </a:pPr>
            <a:r>
              <a:rPr lang="en-US" sz="1150" b="1" spc="140" kern="0" dirty="0">
                <a:solidFill>
                  <a:srgbClr val="D4A62A"/>
                </a:solidFill>
                <a:latin typeface="Calibri" pitchFamily="34" charset="0"/>
                <a:ea typeface="Calibri" pitchFamily="34" charset="-122"/>
                <a:cs typeface="Calibri" pitchFamily="34" charset="-120"/>
              </a:rPr>
              <a:t>REMPLIR</a:t>
            </a:r>
            <a:endParaRPr lang="en-US" sz="1150" dirty="0"/>
          </a:p>
        </p:txBody>
      </p:sp>
      <p:sp>
        <p:nvSpPr>
          <p:cNvPr id="17" name="Text 15"/>
          <p:cNvSpPr txBox="1"/>
          <p:nvPr/>
        </p:nvSpPr>
        <p:spPr>
          <a:xfrm>
            <a:off x="3085734" y="3127248"/>
            <a:ext cx="156783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Hors ligne, au rythme de l’institution. La connectivité cesse d’être une condition d’entrée.</a:t>
            </a:r>
            <a:endParaRPr lang="en-US" sz="1050" dirty="0"/>
          </a:p>
        </p:txBody>
      </p:sp>
      <p:sp>
        <p:nvSpPr>
          <p:cNvPr id="18" name="Text 16"/>
          <p:cNvSpPr txBox="1"/>
          <p:nvPr/>
        </p:nvSpPr>
        <p:spPr>
          <a:xfrm>
            <a:off x="4854732" y="2606040"/>
            <a:ext cx="256032" cy="420624"/>
          </a:xfrm>
          <a:prstGeom prst="rect">
            <a:avLst/>
          </a:prstGeom>
          <a:noFill/>
          <a:ln/>
        </p:spPr>
        <p:txBody>
          <a:bodyPr wrap="square" lIns="0" tIns="0" rIns="0" bIns="0" rtlCol="0" anchor="ctr"/>
          <a:lstStyle/>
          <a:p>
            <a:pPr algn="ctr" indent="0" marL="0">
              <a:buNone/>
            </a:pPr>
            <a:r>
              <a:rPr lang="en-US" sz="1800" b="1" dirty="0">
                <a:solidFill>
                  <a:srgbClr val="D4A62A"/>
                </a:solidFill>
                <a:latin typeface="Calibri" pitchFamily="34" charset="0"/>
                <a:ea typeface="Calibri" pitchFamily="34" charset="-122"/>
                <a:cs typeface="Calibri" pitchFamily="34" charset="-120"/>
              </a:rPr>
              <a:t>›</a:t>
            </a:r>
            <a:endParaRPr lang="en-US" sz="1800" dirty="0"/>
          </a:p>
        </p:txBody>
      </p:sp>
      <p:sp>
        <p:nvSpPr>
          <p:cNvPr id="19" name="i_c2"/>
          <p:cNvSpPr/>
          <p:nvPr/>
        </p:nvSpPr>
        <p:spPr>
          <a:xfrm>
            <a:off x="5092476" y="2395728"/>
            <a:ext cx="2006742" cy="1783080"/>
          </a:xfrm>
          <a:prstGeom prst="roundRect">
            <a:avLst>
              <a:gd name="adj" fmla="val 307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0" name="Shape 18"/>
          <p:cNvSpPr/>
          <p:nvPr/>
        </p:nvSpPr>
        <p:spPr>
          <a:xfrm>
            <a:off x="5293644" y="2606040"/>
            <a:ext cx="420624" cy="420624"/>
          </a:xfrm>
          <a:prstGeom prst="roundRect">
            <a:avLst>
              <a:gd name="adj" fmla="val 76087"/>
            </a:avLst>
          </a:prstGeom>
          <a:solidFill>
            <a:srgbClr val="0E6B4F"/>
          </a:solidFill>
          <a:ln w="12700">
            <a:solidFill>
              <a:srgbClr val="25B98C"/>
            </a:solidFill>
            <a:prstDash val="solid"/>
          </a:ln>
        </p:spPr>
      </p:sp>
      <p:sp>
        <p:nvSpPr>
          <p:cNvPr id="21" name="Text 19"/>
          <p:cNvSpPr txBox="1"/>
          <p:nvPr/>
        </p:nvSpPr>
        <p:spPr>
          <a:xfrm>
            <a:off x="5293644" y="2606040"/>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3</a:t>
            </a:r>
            <a:endParaRPr lang="en-US" sz="1200" dirty="0"/>
          </a:p>
        </p:txBody>
      </p:sp>
      <p:sp>
        <p:nvSpPr>
          <p:cNvPr id="22" name="Text 20"/>
          <p:cNvSpPr txBox="1"/>
          <p:nvPr/>
        </p:nvSpPr>
        <p:spPr>
          <a:xfrm>
            <a:off x="5787420" y="2624328"/>
            <a:ext cx="1110630" cy="384048"/>
          </a:xfrm>
          <a:prstGeom prst="rect">
            <a:avLst/>
          </a:prstGeom>
          <a:noFill/>
          <a:ln/>
        </p:spPr>
        <p:txBody>
          <a:bodyPr wrap="square" lIns="0" tIns="0" rIns="0" bIns="0" rtlCol="0" anchor="ctr"/>
          <a:lstStyle/>
          <a:p>
            <a:pPr indent="0" marL="0">
              <a:buNone/>
            </a:pPr>
            <a:r>
              <a:rPr lang="en-US" sz="1150" b="1" spc="140" kern="0" dirty="0">
                <a:solidFill>
                  <a:srgbClr val="D4A62A"/>
                </a:solidFill>
                <a:latin typeface="Calibri" pitchFamily="34" charset="0"/>
                <a:ea typeface="Calibri" pitchFamily="34" charset="-122"/>
                <a:cs typeface="Calibri" pitchFamily="34" charset="-120"/>
              </a:rPr>
              <a:t>DÉPOSER</a:t>
            </a:r>
            <a:endParaRPr lang="en-US" sz="1150" dirty="0"/>
          </a:p>
        </p:txBody>
      </p:sp>
      <p:sp>
        <p:nvSpPr>
          <p:cNvPr id="23" name="Text 21"/>
          <p:cNvSpPr txBox="1"/>
          <p:nvPr/>
        </p:nvSpPr>
        <p:spPr>
          <a:xfrm>
            <a:off x="5311932" y="3127248"/>
            <a:ext cx="156783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Le fichier est lu dans le navigateur : chaque colonne est reconnue par un jeu d’alias, pas par un titre exact.</a:t>
            </a:r>
            <a:endParaRPr lang="en-US" sz="1050" dirty="0"/>
          </a:p>
        </p:txBody>
      </p:sp>
      <p:sp>
        <p:nvSpPr>
          <p:cNvPr id="24" name="Text 22"/>
          <p:cNvSpPr txBox="1"/>
          <p:nvPr/>
        </p:nvSpPr>
        <p:spPr>
          <a:xfrm>
            <a:off x="7080931" y="2606040"/>
            <a:ext cx="256032" cy="420624"/>
          </a:xfrm>
          <a:prstGeom prst="rect">
            <a:avLst/>
          </a:prstGeom>
          <a:noFill/>
          <a:ln/>
        </p:spPr>
        <p:txBody>
          <a:bodyPr wrap="square" lIns="0" tIns="0" rIns="0" bIns="0" rtlCol="0" anchor="ctr"/>
          <a:lstStyle/>
          <a:p>
            <a:pPr algn="ctr" indent="0" marL="0">
              <a:buNone/>
            </a:pPr>
            <a:r>
              <a:rPr lang="en-US" sz="1800" b="1" dirty="0">
                <a:solidFill>
                  <a:srgbClr val="D4A62A"/>
                </a:solidFill>
                <a:latin typeface="Calibri" pitchFamily="34" charset="0"/>
                <a:ea typeface="Calibri" pitchFamily="34" charset="-122"/>
                <a:cs typeface="Calibri" pitchFamily="34" charset="-120"/>
              </a:rPr>
              <a:t>›</a:t>
            </a:r>
            <a:endParaRPr lang="en-US" sz="1800" dirty="0"/>
          </a:p>
        </p:txBody>
      </p:sp>
      <p:sp>
        <p:nvSpPr>
          <p:cNvPr id="25" name="i_c3"/>
          <p:cNvSpPr/>
          <p:nvPr/>
        </p:nvSpPr>
        <p:spPr>
          <a:xfrm>
            <a:off x="7318675" y="2395728"/>
            <a:ext cx="2006742" cy="1783080"/>
          </a:xfrm>
          <a:prstGeom prst="roundRect">
            <a:avLst>
              <a:gd name="adj" fmla="val 307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6" name="Shape 24"/>
          <p:cNvSpPr/>
          <p:nvPr/>
        </p:nvSpPr>
        <p:spPr>
          <a:xfrm>
            <a:off x="7519843" y="2606040"/>
            <a:ext cx="420624" cy="420624"/>
          </a:xfrm>
          <a:prstGeom prst="roundRect">
            <a:avLst>
              <a:gd name="adj" fmla="val 76087"/>
            </a:avLst>
          </a:prstGeom>
          <a:solidFill>
            <a:srgbClr val="0E6B4F"/>
          </a:solidFill>
          <a:ln w="12700">
            <a:solidFill>
              <a:srgbClr val="25B98C"/>
            </a:solidFill>
            <a:prstDash val="solid"/>
          </a:ln>
        </p:spPr>
      </p:sp>
      <p:sp>
        <p:nvSpPr>
          <p:cNvPr id="27" name="Text 25"/>
          <p:cNvSpPr txBox="1"/>
          <p:nvPr/>
        </p:nvSpPr>
        <p:spPr>
          <a:xfrm>
            <a:off x="7519843" y="2606040"/>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4</a:t>
            </a:r>
            <a:endParaRPr lang="en-US" sz="1200" dirty="0"/>
          </a:p>
        </p:txBody>
      </p:sp>
      <p:sp>
        <p:nvSpPr>
          <p:cNvPr id="28" name="Text 26"/>
          <p:cNvSpPr txBox="1"/>
          <p:nvPr/>
        </p:nvSpPr>
        <p:spPr>
          <a:xfrm>
            <a:off x="8013619" y="2624328"/>
            <a:ext cx="1110630" cy="384048"/>
          </a:xfrm>
          <a:prstGeom prst="rect">
            <a:avLst/>
          </a:prstGeom>
          <a:noFill/>
          <a:ln/>
        </p:spPr>
        <p:txBody>
          <a:bodyPr wrap="square" lIns="0" tIns="0" rIns="0" bIns="0" rtlCol="0" anchor="ctr"/>
          <a:lstStyle/>
          <a:p>
            <a:pPr indent="0" marL="0">
              <a:buNone/>
            </a:pPr>
            <a:r>
              <a:rPr lang="en-US" sz="1150" b="1" spc="140" kern="0" dirty="0">
                <a:solidFill>
                  <a:srgbClr val="D4A62A"/>
                </a:solidFill>
                <a:latin typeface="Calibri" pitchFamily="34" charset="0"/>
                <a:ea typeface="Calibri" pitchFamily="34" charset="-122"/>
                <a:cs typeface="Calibri" pitchFamily="34" charset="-120"/>
              </a:rPr>
              <a:t>VALIDER</a:t>
            </a:r>
            <a:endParaRPr lang="en-US" sz="1150" dirty="0"/>
          </a:p>
        </p:txBody>
      </p:sp>
      <p:sp>
        <p:nvSpPr>
          <p:cNvPr id="29" name="Text 27"/>
          <p:cNvSpPr txBox="1"/>
          <p:nvPr/>
        </p:nvSpPr>
        <p:spPr>
          <a:xfrm>
            <a:off x="7538131" y="3127248"/>
            <a:ext cx="156783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L’aperçu montre ce qui sera créé, table par table, signale les doublons et laisse corriger les rangements.</a:t>
            </a:r>
            <a:endParaRPr lang="en-US" sz="1050" dirty="0"/>
          </a:p>
        </p:txBody>
      </p:sp>
      <p:sp>
        <p:nvSpPr>
          <p:cNvPr id="30" name="Text 28"/>
          <p:cNvSpPr txBox="1"/>
          <p:nvPr/>
        </p:nvSpPr>
        <p:spPr>
          <a:xfrm>
            <a:off x="9307129" y="2606040"/>
            <a:ext cx="256032" cy="420624"/>
          </a:xfrm>
          <a:prstGeom prst="rect">
            <a:avLst/>
          </a:prstGeom>
          <a:noFill/>
          <a:ln/>
        </p:spPr>
        <p:txBody>
          <a:bodyPr wrap="square" lIns="0" tIns="0" rIns="0" bIns="0" rtlCol="0" anchor="ctr"/>
          <a:lstStyle/>
          <a:p>
            <a:pPr algn="ctr" indent="0" marL="0">
              <a:buNone/>
            </a:pPr>
            <a:r>
              <a:rPr lang="en-US" sz="1800" b="1" dirty="0">
                <a:solidFill>
                  <a:srgbClr val="D4A62A"/>
                </a:solidFill>
                <a:latin typeface="Calibri" pitchFamily="34" charset="0"/>
                <a:ea typeface="Calibri" pitchFamily="34" charset="-122"/>
                <a:cs typeface="Calibri" pitchFamily="34" charset="-120"/>
              </a:rPr>
              <a:t>›</a:t>
            </a:r>
            <a:endParaRPr lang="en-US" sz="1800" dirty="0"/>
          </a:p>
        </p:txBody>
      </p:sp>
      <p:sp>
        <p:nvSpPr>
          <p:cNvPr id="31" name="i_c4"/>
          <p:cNvSpPr/>
          <p:nvPr/>
        </p:nvSpPr>
        <p:spPr>
          <a:xfrm>
            <a:off x="9544873" y="2395728"/>
            <a:ext cx="2006742" cy="1783080"/>
          </a:xfrm>
          <a:prstGeom prst="roundRect">
            <a:avLst>
              <a:gd name="adj" fmla="val 307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32" name="Shape 30"/>
          <p:cNvSpPr/>
          <p:nvPr/>
        </p:nvSpPr>
        <p:spPr>
          <a:xfrm>
            <a:off x="9746041" y="2606040"/>
            <a:ext cx="420624" cy="420624"/>
          </a:xfrm>
          <a:prstGeom prst="roundRect">
            <a:avLst>
              <a:gd name="adj" fmla="val 76087"/>
            </a:avLst>
          </a:prstGeom>
          <a:solidFill>
            <a:srgbClr val="0E6B4F"/>
          </a:solidFill>
          <a:ln w="12700">
            <a:solidFill>
              <a:srgbClr val="25B98C"/>
            </a:solidFill>
            <a:prstDash val="solid"/>
          </a:ln>
        </p:spPr>
      </p:sp>
      <p:sp>
        <p:nvSpPr>
          <p:cNvPr id="33" name="Text 31"/>
          <p:cNvSpPr txBox="1"/>
          <p:nvPr/>
        </p:nvSpPr>
        <p:spPr>
          <a:xfrm>
            <a:off x="9746041" y="2606040"/>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5</a:t>
            </a:r>
            <a:endParaRPr lang="en-US" sz="1200" dirty="0"/>
          </a:p>
        </p:txBody>
      </p:sp>
      <p:sp>
        <p:nvSpPr>
          <p:cNvPr id="34" name="Text 32"/>
          <p:cNvSpPr txBox="1"/>
          <p:nvPr/>
        </p:nvSpPr>
        <p:spPr>
          <a:xfrm>
            <a:off x="10239817" y="2624328"/>
            <a:ext cx="1110630" cy="384048"/>
          </a:xfrm>
          <a:prstGeom prst="rect">
            <a:avLst/>
          </a:prstGeom>
          <a:noFill/>
          <a:ln/>
        </p:spPr>
        <p:txBody>
          <a:bodyPr wrap="square" lIns="0" tIns="0" rIns="0" bIns="0" rtlCol="0" anchor="ctr"/>
          <a:lstStyle/>
          <a:p>
            <a:pPr indent="0" marL="0">
              <a:buNone/>
            </a:pPr>
            <a:r>
              <a:rPr lang="en-US" sz="1150" b="1" spc="140" kern="0" dirty="0">
                <a:solidFill>
                  <a:srgbClr val="D4A62A"/>
                </a:solidFill>
                <a:latin typeface="Calibri" pitchFamily="34" charset="0"/>
                <a:ea typeface="Calibri" pitchFamily="34" charset="-122"/>
                <a:cs typeface="Calibri" pitchFamily="34" charset="-120"/>
              </a:rPr>
              <a:t>ÉCRIRE</a:t>
            </a:r>
            <a:endParaRPr lang="en-US" sz="1150" dirty="0"/>
          </a:p>
        </p:txBody>
      </p:sp>
      <p:sp>
        <p:nvSpPr>
          <p:cNvPr id="35" name="Text 33"/>
          <p:cNvSpPr txBox="1"/>
          <p:nvPr/>
        </p:nvSpPr>
        <p:spPr>
          <a:xfrm>
            <a:off x="9764329" y="3127248"/>
            <a:ext cx="1567830" cy="91440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En cascade : musées → salles → œuvres, identifiants résolus au vol, existant réutilisé et non recréé.</a:t>
            </a:r>
            <a:endParaRPr lang="en-US" sz="1050" dirty="0"/>
          </a:p>
        </p:txBody>
      </p:sp>
      <p:sp>
        <p:nvSpPr>
          <p:cNvPr id="36" name="i_cap"/>
          <p:cNvSpPr/>
          <p:nvPr/>
        </p:nvSpPr>
        <p:spPr>
          <a:xfrm>
            <a:off x="640080" y="4343400"/>
            <a:ext cx="5852160" cy="1572768"/>
          </a:xfrm>
          <a:prstGeom prst="roundRect">
            <a:avLst>
              <a:gd name="adj" fmla="val 348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pic>
        <p:nvPicPr>
          <p:cNvPr id="37" name="Image 0" descr="C:/Users/maxib/Desktop/visite_immersive/rapport/latex/figures/cap-04-assistant-installation.png">    </p:cNvPr>
          <p:cNvPicPr>
            <a:picLocks noChangeAspect="1"/>
          </p:cNvPicPr>
          <p:nvPr/>
        </p:nvPicPr>
        <p:blipFill>
          <a:blip r:embed="rId1"/>
          <a:srcRect l="0" r="0" t="0" b="0"/>
          <a:stretch/>
        </p:blipFill>
        <p:spPr>
          <a:xfrm>
            <a:off x="786384" y="4489704"/>
            <a:ext cx="5559552" cy="1280160"/>
          </a:xfrm>
          <a:prstGeom prst="rect">
            <a:avLst/>
          </a:prstGeom>
        </p:spPr>
      </p:pic>
      <p:sp>
        <p:nvSpPr>
          <p:cNvPr id="38" name="i_n"/>
          <p:cNvSpPr/>
          <p:nvPr/>
        </p:nvSpPr>
        <p:spPr>
          <a:xfrm>
            <a:off x="6720840" y="4343400"/>
            <a:ext cx="4828032" cy="1572768"/>
          </a:xfrm>
          <a:prstGeom prst="roundRect">
            <a:avLst>
              <a:gd name="adj" fmla="val 3488"/>
            </a:avLst>
          </a:prstGeom>
          <a:solidFill>
            <a:srgbClr val="0D231C"/>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39" name="Text 36"/>
          <p:cNvSpPr txBox="1"/>
          <p:nvPr/>
        </p:nvSpPr>
        <p:spPr>
          <a:xfrm>
            <a:off x="6949440" y="4480560"/>
            <a:ext cx="4389120" cy="256032"/>
          </a:xfrm>
          <a:prstGeom prst="rect">
            <a:avLst/>
          </a:prstGeom>
          <a:noFill/>
          <a:ln/>
        </p:spPr>
        <p:txBody>
          <a:bodyPr wrap="square" lIns="0" tIns="0" rIns="0" bIns="0" rtlCol="0" anchor="ctr"/>
          <a:lstStyle/>
          <a:p>
            <a:pPr indent="0" marL="0">
              <a:buNone/>
            </a:pPr>
            <a:r>
              <a:rPr lang="en-US" sz="950" b="1" spc="160" kern="0" dirty="0">
                <a:solidFill>
                  <a:srgbClr val="D4A62A"/>
                </a:solidFill>
                <a:latin typeface="Calibri" pitchFamily="34" charset="0"/>
                <a:ea typeface="Calibri" pitchFamily="34" charset="-122"/>
                <a:cs typeface="Calibri" pitchFamily="34" charset="-120"/>
              </a:rPr>
              <a:t>DEUX PORTES, UN MÊME PRINCIPE</a:t>
            </a:r>
            <a:endParaRPr lang="en-US" sz="950" dirty="0"/>
          </a:p>
        </p:txBody>
      </p:sp>
      <p:sp>
        <p:nvSpPr>
          <p:cNvPr id="40" name="Text 37"/>
          <p:cNvSpPr txBox="1"/>
          <p:nvPr/>
        </p:nvSpPr>
        <p:spPr>
          <a:xfrm>
            <a:off x="6949440" y="4754880"/>
            <a:ext cx="4389120" cy="1051560"/>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L’institution décrit ses collections en langage courant, ou dépose son inventaire Excel ou CSV. Dans les deux cas l’agent montre son plan avant d’écrire, il écrit avec le jeton de la personne — jamais avec une clé privilégiée —, ses outils sont limités à une liste blanche sans aucune suppression, et le nombre de créations est plafonné.</a:t>
            </a:r>
            <a:endParaRPr lang="en-US" sz="1050" dirty="0"/>
          </a:p>
        </p:txBody>
      </p:sp>
      <p:sp>
        <p:nvSpPr>
          <p:cNvPr id="41" name="Text 38"/>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42" name="Text 39"/>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22</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42" presetClass="entr" presetSubtype="8" fill="hold" grpId="0" nodeType="withEffect">
                                  <p:stCondLst>
                                    <p:cond delay="4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additive="base">
                                        <p:cTn id="15" dur="500" fill="hold"/>
                                        <p:tgtEl>
                                          <p:spTgt spid="7"/>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6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additive="base">
                                        <p:cTn id="19" dur="500" fill="hold"/>
                                        <p:tgtEl>
                                          <p:spTgt spid="13"/>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8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anim calcmode="lin" valueType="num">
                                      <p:cBhvr additive="base">
                                        <p:cTn id="23" dur="500" fill="hold"/>
                                        <p:tgtEl>
                                          <p:spTgt spid="19"/>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100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anim calcmode="lin" valueType="num">
                                      <p:cBhvr additive="base">
                                        <p:cTn id="27" dur="500" fill="hold"/>
                                        <p:tgtEl>
                                          <p:spTgt spid="25"/>
                                        </p:tgtEl>
                                        <p:attrNameLst>
                                          <p:attrName>ppt_y</p:attrName>
                                        </p:attrNameLst>
                                      </p:cBhvr>
                                      <p:tavLst>
                                        <p:tav tm="0">
                                          <p:val>
                                            <p:strVal val="#ppt_y+.035"/>
                                          </p:val>
                                        </p:tav>
                                        <p:tav tm="100000">
                                          <p:val>
                                            <p:strVal val="#ppt_y"/>
                                          </p:val>
                                        </p:tav>
                                      </p:tavLst>
                                    </p:anim>
                                  </p:childTnLst>
                                </p:cTn>
                              </p:par>
                              <p:par>
                                <p:cTn id="28" presetID="42" presetClass="entr" presetSubtype="8" fill="hold" grpId="0" nodeType="withEffect">
                                  <p:stCondLst>
                                    <p:cond delay="120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anim calcmode="lin" valueType="num">
                                      <p:cBhvr additive="base">
                                        <p:cTn id="31" dur="500" fill="hold"/>
                                        <p:tgtEl>
                                          <p:spTgt spid="31"/>
                                        </p:tgtEl>
                                        <p:attrNameLst>
                                          <p:attrName>ppt_y</p:attrName>
                                        </p:attrNameLst>
                                      </p:cBhvr>
                                      <p:tavLst>
                                        <p:tav tm="0">
                                          <p:val>
                                            <p:strVal val="#ppt_y+.035"/>
                                          </p:val>
                                        </p:tav>
                                        <p:tav tm="100000">
                                          <p:val>
                                            <p:strVal val="#ppt_y"/>
                                          </p:val>
                                        </p:tav>
                                      </p:tavLst>
                                    </p:anim>
                                  </p:childTnLst>
                                </p:cTn>
                              </p:par>
                              <p:par>
                                <p:cTn id="32" presetID="10" presetClass="entr" presetSubtype="0" fill="hold" grpId="0" nodeType="withEffect">
                                  <p:stCondLst>
                                    <p:cond delay="140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42" presetClass="entr" presetSubtype="8" fill="hold" grpId="0" nodeType="withEffect">
                                  <p:stCondLst>
                                    <p:cond delay="125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anim calcmode="lin" valueType="num">
                                      <p:cBhvr additive="base">
                                        <p:cTn id="38" dur="500" fill="hold"/>
                                        <p:tgtEl>
                                          <p:spTgt spid="38"/>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3">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LA QUESTION QU’ON M’A POSÉE</a:t>
            </a:r>
            <a:endParaRPr lang="en-US" sz="1100" dirty="0"/>
          </a:p>
        </p:txBody>
      </p:sp>
      <p:sp>
        <p:nvSpPr>
          <p:cNvPr id="3" name="pq_t"/>
          <p:cNvSpPr txBox="1"/>
          <p:nvPr/>
        </p:nvSpPr>
        <p:spPr>
          <a:xfrm>
            <a:off x="640080" y="822960"/>
            <a:ext cx="10911535" cy="77724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Pourquoi pas Power Query ?</a:t>
            </a:r>
            <a:endParaRPr lang="en-US" sz="3300" dirty="0"/>
          </a:p>
        </p:txBody>
      </p:sp>
      <p:sp>
        <p:nvSpPr>
          <p:cNvPr id="4" name="pq_k"/>
          <p:cNvSpPr txBox="1"/>
          <p:nvPr/>
        </p:nvSpPr>
        <p:spPr>
          <a:xfrm>
            <a:off x="640080" y="1572768"/>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Ce n’est pas l’outil qui est en cause : c’est le sens du flux qu’il impose.</a:t>
            </a:r>
            <a:endParaRPr lang="en-US" sz="1450" dirty="0"/>
          </a:p>
        </p:txBody>
      </p:sp>
      <p:graphicFrame>
        <p:nvGraphicFramePr>
          <p:cNvPr id="5" name="pq_tab"/>
          <p:cNvGraphicFramePr>
            <a:graphicFrameLocks noGrp="1"/>
          </p:cNvGraphicFramePr>
          <p:nvPr>
            <p:extLst>
              <p:ext uri="{D42A27DB-BD31-4B8C-83A1-F6EECF244321}">
                <p14:modId xmlns:p14="http://schemas.microsoft.com/office/powerpoint/2010/main" val="1579011935"/>
              </p:ext>
            </p:extLst>
          </p:nvPr>
        </p:nvGraphicFramePr>
        <p:xfrm>
          <a:off x="640080" y="2212848"/>
          <a:ext cx="10911535" cy="914400"/>
        </p:xfrm>
        <a:graphic>
          <a:graphicData uri="http://schemas.openxmlformats.org/drawingml/2006/table">
            <a:tbl>
              <a:tblPr/>
              <a:tblGrid>
                <a:gridCol w="2331720"/>
                <a:gridCol w="3977640"/>
                <a:gridCol w="4602175"/>
              </a:tblGrid>
              <a:tr h="310896">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Ce qu’il faut faire</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Power Query  (flux tiré)</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L’import MUSÉA  (flux poussé)</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r>
              <a:tr h="402336">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Sens du flux</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ETL en lecture : il tire vers un classeur ou un modèle décisionnel</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Il pousse dans la base métier de l’institution</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402336">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Lieu d’exécution</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Sur le poste, dans Excel — licence et Windows requis</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Dans le navigateur, téléphone compris — 85,7 % du public</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402336">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Écriture</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Aucune : la source commande, la cible suit</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Insertion en cascade musées → salles → œuvres, identifiants résolus au vol</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402336">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En-têtes du fichier</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Le fichier doit se conformer au modèle attendu</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Une dizaine d’alias par colonne : on lit l’inventaire tel qu’il est tenu</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475488">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Contrôle avant écriture</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Aperçu de la transformation, pas de ce qui sera créé</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Plan table par table, doublons signalés, rangements corrigeables — rien n’est écrit sans validation</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402336">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Cloisonnement</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Aucune notion d’institution ni d’identité de l’auteur</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Écriture sous le jeton de la personne : les 101 politiques de sécurité s’appliquent</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402336">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Réexécution du fichier</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Recharge tout : les doublons s’accumulent</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indent="0" marL="0">
                        <a:buNone/>
                      </a:pPr>
                      <a:r>
                        <a:rPr lang="en-US" sz="1100" dirty="0">
                          <a:solidFill>
                            <a:srgbClr val="F4F1E9"/>
                          </a:solidFill>
                          <a:latin typeface="Calibri" pitchFamily="34" charset="0"/>
                          <a:ea typeface="Calibri" pitchFamily="34" charset="-122"/>
                          <a:cs typeface="Calibri" pitchFamily="34" charset="-120"/>
                        </a:rPr>
                        <a:t>Idempotent : un musée ou une salle qui existe est réutilisé, jamais recréé</a:t>
                      </a:r>
                      <a:endParaRPr lang="en-US" sz="1100" dirty="0">
                        <a:latin typeface="Calibri" charset="0"/>
                        <a:ea typeface="Calibri" charset="0"/>
                        <a:cs typeface="Calibri" charset="0"/>
                      </a:endParaRPr>
                    </a:p>
                  </a:txBody>
                  <a:tcPr marL="127000" marR="127000" marT="63500" marB="635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bl>
          </a:graphicData>
        </a:graphic>
      </p:graphicFrame>
      <p:sp>
        <p:nvSpPr>
          <p:cNvPr id="6" name="pq_f"/>
          <p:cNvSpPr txBox="1"/>
          <p:nvPr/>
        </p:nvSpPr>
        <p:spPr>
          <a:xfrm>
            <a:off x="640080" y="5815584"/>
            <a:ext cx="10911535" cy="384048"/>
          </a:xfrm>
          <a:prstGeom prst="rect">
            <a:avLst/>
          </a:prstGeom>
          <a:noFill/>
          <a:ln/>
        </p:spPr>
        <p:txBody>
          <a:bodyPr wrap="square" lIns="0" tIns="0" rIns="0" bIns="0" rtlCol="0" anchor="ctr"/>
          <a:lstStyle/>
          <a:p>
            <a:pPr indent="0" marL="0">
              <a:buNone/>
            </a:pPr>
            <a:r>
              <a:rPr lang="en-US" sz="1300" i="1" dirty="0">
                <a:solidFill>
                  <a:srgbClr val="D4A62A"/>
                </a:solidFill>
                <a:latin typeface="Cambria" pitchFamily="34" charset="0"/>
                <a:ea typeface="Cambria" pitchFamily="34" charset="-122"/>
                <a:cs typeface="Cambria" pitchFamily="34" charset="-120"/>
              </a:rPr>
              <a:t>Power Query reste le bon outil pour analyser et restituer — pas celui d’une saisie qui doit atterrir, validée et cloisonnée, dans une base transactionnelle.</a:t>
            </a:r>
            <a:endParaRPr lang="en-US" sz="1300" dirty="0"/>
          </a:p>
        </p:txBody>
      </p:sp>
      <p:sp>
        <p:nvSpPr>
          <p:cNvPr id="7" name="Text 4"/>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8" name="Text 5"/>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23</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4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42" presetClass="entr" presetSubtype="8" fill="hold" grpId="0" nodeType="withEffect">
                                  <p:stCondLst>
                                    <p:cond delay="42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50"/>
                                        <p:tgtEl>
                                          <p:spTgt spid="5"/>
                                        </p:tgtEl>
                                      </p:cBhvr>
                                    </p:animEffect>
                                    <p:anim calcmode="lin" valueType="num">
                                      <p:cBhvr additive="base">
                                        <p:cTn id="15" dur="650" fill="hold"/>
                                        <p:tgtEl>
                                          <p:spTgt spid="5"/>
                                        </p:tgtEl>
                                        <p:attrNameLst>
                                          <p:attrName>ppt_y</p:attrName>
                                        </p:attrNameLst>
                                      </p:cBhvr>
                                      <p:tavLst>
                                        <p:tav tm="0">
                                          <p:val>
                                            <p:strVal val="#ppt_y+.035"/>
                                          </p:val>
                                        </p:tav>
                                        <p:tav tm="100000">
                                          <p:val>
                                            <p:strVal val="#ppt_y"/>
                                          </p:val>
                                        </p:tav>
                                      </p:tavLst>
                                    </p:anim>
                                  </p:childTnLst>
                                </p:cTn>
                              </p:par>
                              <p:par>
                                <p:cTn id="16" presetID="10" presetClass="entr" presetSubtype="0" fill="hold" grpId="0" nodeType="withEffect">
                                  <p:stCondLst>
                                    <p:cond delay="11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4">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011680" y="-1463040"/>
            <a:ext cx="5852160" cy="5852160"/>
          </a:xfrm>
          <a:prstGeom prst="ellipse">
            <a:avLst/>
          </a:prstGeom>
          <a:solidFill>
            <a:srgbClr val="0E6B4F">
              <a:alpha val="9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LA MÉTHODE RETENUE</a:t>
            </a:r>
            <a:endParaRPr lang="en-US" sz="1100" dirty="0"/>
          </a:p>
        </p:txBody>
      </p:sp>
      <p:sp>
        <p:nvSpPr>
          <p:cNvPr id="4" name="pu_t"/>
          <p:cNvSpPr txBox="1"/>
          <p:nvPr/>
        </p:nvSpPr>
        <p:spPr>
          <a:xfrm>
            <a:off x="640080" y="804672"/>
            <a:ext cx="10911535" cy="77724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Le flux poussé : montrer avant d’écrire</a:t>
            </a:r>
            <a:endParaRPr lang="en-US" sz="3300" dirty="0"/>
          </a:p>
        </p:txBody>
      </p:sp>
      <p:sp>
        <p:nvSpPr>
          <p:cNvPr id="5" name="pu_pull"/>
          <p:cNvSpPr/>
          <p:nvPr/>
        </p:nvSpPr>
        <p:spPr>
          <a:xfrm>
            <a:off x="640080" y="1664208"/>
            <a:ext cx="10911535" cy="1170432"/>
          </a:xfrm>
          <a:prstGeom prst="roundRect">
            <a:avLst>
              <a:gd name="adj" fmla="val 4688"/>
            </a:avLst>
          </a:prstGeom>
          <a:solidFill>
            <a:srgbClr val="0D231C"/>
          </a:solidFill>
          <a:ln w="12700">
            <a:solidFill>
              <a:srgbClr val="C4563C"/>
            </a:solidFill>
            <a:prstDash val="solid"/>
          </a:ln>
          <a:effectLst>
            <a:outerShdw sx="100000" sy="100000" kx="0" ky="0" algn="bl" rotWithShape="0" blurRad="203200" dist="63500" dir="5400000">
              <a:srgbClr val="000000">
                <a:alpha val="40000"/>
              </a:srgbClr>
            </a:outerShdw>
          </a:effectLst>
        </p:spPr>
      </p:sp>
      <p:sp>
        <p:nvSpPr>
          <p:cNvPr id="6" name="Text 4"/>
          <p:cNvSpPr txBox="1"/>
          <p:nvPr/>
        </p:nvSpPr>
        <p:spPr>
          <a:xfrm>
            <a:off x="896112" y="1783080"/>
            <a:ext cx="2377440" cy="274320"/>
          </a:xfrm>
          <a:prstGeom prst="rect">
            <a:avLst/>
          </a:prstGeom>
          <a:noFill/>
          <a:ln/>
        </p:spPr>
        <p:txBody>
          <a:bodyPr wrap="square" lIns="0" tIns="0" rIns="0" bIns="0" rtlCol="0" anchor="ctr"/>
          <a:lstStyle/>
          <a:p>
            <a:pPr indent="0" marL="0">
              <a:buNone/>
            </a:pPr>
            <a:r>
              <a:rPr lang="en-US" sz="1000" b="1" spc="180" kern="0" dirty="0">
                <a:solidFill>
                  <a:srgbClr val="C4563C"/>
                </a:solidFill>
                <a:latin typeface="Calibri" pitchFamily="34" charset="0"/>
                <a:ea typeface="Calibri" pitchFamily="34" charset="-122"/>
                <a:cs typeface="Calibri" pitchFamily="34" charset="-120"/>
              </a:rPr>
              <a:t>FLUX TIRÉ  ·  PULL</a:t>
            </a:r>
            <a:endParaRPr lang="en-US" sz="1000" dirty="0"/>
          </a:p>
        </p:txBody>
      </p:sp>
      <p:sp>
        <p:nvSpPr>
          <p:cNvPr id="7" name="Shape 5"/>
          <p:cNvSpPr/>
          <p:nvPr/>
        </p:nvSpPr>
        <p:spPr>
          <a:xfrm>
            <a:off x="896112" y="2103120"/>
            <a:ext cx="2331720" cy="548640"/>
          </a:xfrm>
          <a:prstGeom prst="roundRect">
            <a:avLst>
              <a:gd name="adj" fmla="val 13333"/>
            </a:avLst>
          </a:prstGeom>
          <a:solidFill>
            <a:srgbClr val="102A21"/>
          </a:solidFill>
          <a:ln w="12700">
            <a:solidFill>
              <a:srgbClr val="1E4738"/>
            </a:solidFill>
            <a:prstDash val="solid"/>
          </a:ln>
        </p:spPr>
      </p:sp>
      <p:sp>
        <p:nvSpPr>
          <p:cNvPr id="8" name="Text 6"/>
          <p:cNvSpPr txBox="1"/>
          <p:nvPr/>
        </p:nvSpPr>
        <p:spPr>
          <a:xfrm>
            <a:off x="987552" y="2103120"/>
            <a:ext cx="2148840"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Base ou fichier source</a:t>
            </a:r>
            <a:endParaRPr lang="en-US" sz="1050" dirty="0"/>
          </a:p>
        </p:txBody>
      </p:sp>
      <p:sp>
        <p:nvSpPr>
          <p:cNvPr id="9" name="Text 7"/>
          <p:cNvSpPr txBox="1"/>
          <p:nvPr/>
        </p:nvSpPr>
        <p:spPr>
          <a:xfrm>
            <a:off x="3246120" y="2103120"/>
            <a:ext cx="329184" cy="548640"/>
          </a:xfrm>
          <a:prstGeom prst="rect">
            <a:avLst/>
          </a:prstGeom>
          <a:noFill/>
          <a:ln/>
        </p:spPr>
        <p:txBody>
          <a:bodyPr wrap="square" lIns="0" tIns="0" rIns="0" bIns="0" rtlCol="0" anchor="ctr"/>
          <a:lstStyle/>
          <a:p>
            <a:pPr algn="ctr" indent="0" marL="0">
              <a:buNone/>
            </a:pPr>
            <a:r>
              <a:rPr lang="en-US" sz="1500" dirty="0">
                <a:solidFill>
                  <a:srgbClr val="9CB6A9"/>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3593592" y="2103120"/>
            <a:ext cx="2331720" cy="548640"/>
          </a:xfrm>
          <a:prstGeom prst="roundRect">
            <a:avLst>
              <a:gd name="adj" fmla="val 13333"/>
            </a:avLst>
          </a:prstGeom>
          <a:solidFill>
            <a:srgbClr val="102A21"/>
          </a:solidFill>
          <a:ln w="12700">
            <a:solidFill>
              <a:srgbClr val="1E4738"/>
            </a:solidFill>
            <a:prstDash val="solid"/>
          </a:ln>
        </p:spPr>
      </p:sp>
      <p:sp>
        <p:nvSpPr>
          <p:cNvPr id="11" name="Text 9"/>
          <p:cNvSpPr txBox="1"/>
          <p:nvPr/>
        </p:nvSpPr>
        <p:spPr>
          <a:xfrm>
            <a:off x="3685032" y="2103120"/>
            <a:ext cx="2148840"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Requête de transformation</a:t>
            </a:r>
            <a:endParaRPr lang="en-US" sz="1050" dirty="0"/>
          </a:p>
        </p:txBody>
      </p:sp>
      <p:sp>
        <p:nvSpPr>
          <p:cNvPr id="12" name="Text 10"/>
          <p:cNvSpPr txBox="1"/>
          <p:nvPr/>
        </p:nvSpPr>
        <p:spPr>
          <a:xfrm>
            <a:off x="5943600" y="2103120"/>
            <a:ext cx="329184" cy="548640"/>
          </a:xfrm>
          <a:prstGeom prst="rect">
            <a:avLst/>
          </a:prstGeom>
          <a:noFill/>
          <a:ln/>
        </p:spPr>
        <p:txBody>
          <a:bodyPr wrap="square" lIns="0" tIns="0" rIns="0" bIns="0" rtlCol="0" anchor="ctr"/>
          <a:lstStyle/>
          <a:p>
            <a:pPr algn="ctr" indent="0" marL="0">
              <a:buNone/>
            </a:pPr>
            <a:r>
              <a:rPr lang="en-US" sz="1500" dirty="0">
                <a:solidFill>
                  <a:srgbClr val="9CB6A9"/>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6291072" y="2103120"/>
            <a:ext cx="2331720" cy="548640"/>
          </a:xfrm>
          <a:prstGeom prst="roundRect">
            <a:avLst>
              <a:gd name="adj" fmla="val 13333"/>
            </a:avLst>
          </a:prstGeom>
          <a:solidFill>
            <a:srgbClr val="102A21"/>
          </a:solidFill>
          <a:ln w="12700">
            <a:solidFill>
              <a:srgbClr val="1E4738"/>
            </a:solidFill>
            <a:prstDash val="solid"/>
          </a:ln>
        </p:spPr>
      </p:sp>
      <p:sp>
        <p:nvSpPr>
          <p:cNvPr id="14" name="Text 12"/>
          <p:cNvSpPr txBox="1"/>
          <p:nvPr/>
        </p:nvSpPr>
        <p:spPr>
          <a:xfrm>
            <a:off x="6382512" y="2103120"/>
            <a:ext cx="2148840"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Classeur ou modèle BI</a:t>
            </a:r>
            <a:endParaRPr lang="en-US" sz="1050" dirty="0"/>
          </a:p>
        </p:txBody>
      </p:sp>
      <p:sp>
        <p:nvSpPr>
          <p:cNvPr id="15" name="Text 13"/>
          <p:cNvSpPr txBox="1"/>
          <p:nvPr/>
        </p:nvSpPr>
        <p:spPr>
          <a:xfrm>
            <a:off x="8641080" y="2103120"/>
            <a:ext cx="329184" cy="548640"/>
          </a:xfrm>
          <a:prstGeom prst="rect">
            <a:avLst/>
          </a:prstGeom>
          <a:noFill/>
          <a:ln/>
        </p:spPr>
        <p:txBody>
          <a:bodyPr wrap="square" lIns="0" tIns="0" rIns="0" bIns="0" rtlCol="0" anchor="ctr"/>
          <a:lstStyle/>
          <a:p>
            <a:pPr algn="ctr" indent="0" marL="0">
              <a:buNone/>
            </a:pPr>
            <a:r>
              <a:rPr lang="en-US" sz="1500" dirty="0">
                <a:solidFill>
                  <a:srgbClr val="9CB6A9"/>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988552" y="2103120"/>
            <a:ext cx="2331720" cy="548640"/>
          </a:xfrm>
          <a:prstGeom prst="roundRect">
            <a:avLst>
              <a:gd name="adj" fmla="val 13333"/>
            </a:avLst>
          </a:prstGeom>
          <a:solidFill>
            <a:srgbClr val="102A21"/>
          </a:solidFill>
          <a:ln w="12700">
            <a:solidFill>
              <a:srgbClr val="C4563C"/>
            </a:solidFill>
            <a:prstDash val="solid"/>
          </a:ln>
        </p:spPr>
      </p:sp>
      <p:sp>
        <p:nvSpPr>
          <p:cNvPr id="17" name="Text 15"/>
          <p:cNvSpPr txBox="1"/>
          <p:nvPr/>
        </p:nvSpPr>
        <p:spPr>
          <a:xfrm>
            <a:off x="9079992" y="2103120"/>
            <a:ext cx="2148840" cy="548640"/>
          </a:xfrm>
          <a:prstGeom prst="rect">
            <a:avLst/>
          </a:prstGeom>
          <a:noFill/>
          <a:ln/>
        </p:spPr>
        <p:txBody>
          <a:bodyPr wrap="square" lIns="0" tIns="0" rIns="0" bIns="0" rtlCol="0" anchor="ctr"/>
          <a:lstStyle/>
          <a:p>
            <a:pPr algn="ctr" indent="0" marL="0">
              <a:lnSpc>
                <a:spcPts val="1300"/>
              </a:lnSpc>
              <a:buNone/>
            </a:pPr>
            <a:r>
              <a:rPr lang="en-US" sz="1050" b="1" dirty="0">
                <a:solidFill>
                  <a:srgbClr val="C4563C"/>
                </a:solidFill>
                <a:latin typeface="Calibri" pitchFamily="34" charset="0"/>
                <a:ea typeface="Calibri" pitchFamily="34" charset="-122"/>
                <a:cs typeface="Calibri" pitchFamily="34" charset="-120"/>
              </a:rPr>
              <a:t>La base n’a rien reçu</a:t>
            </a:r>
            <a:endParaRPr lang="en-US" sz="1050" dirty="0"/>
          </a:p>
        </p:txBody>
      </p:sp>
      <p:sp>
        <p:nvSpPr>
          <p:cNvPr id="18" name="pu_push"/>
          <p:cNvSpPr/>
          <p:nvPr/>
        </p:nvSpPr>
        <p:spPr>
          <a:xfrm>
            <a:off x="640080" y="2962656"/>
            <a:ext cx="10911535" cy="1170432"/>
          </a:xfrm>
          <a:prstGeom prst="roundRect">
            <a:avLst>
              <a:gd name="adj" fmla="val 4688"/>
            </a:avLst>
          </a:prstGeom>
          <a:solidFill>
            <a:srgbClr val="0D231C"/>
          </a:solidFill>
          <a:ln w="12700">
            <a:solidFill>
              <a:srgbClr val="25B98C"/>
            </a:solidFill>
            <a:prstDash val="solid"/>
          </a:ln>
          <a:effectLst>
            <a:outerShdw sx="100000" sy="100000" kx="0" ky="0" algn="bl" rotWithShape="0" blurRad="203200" dist="63500" dir="5400000">
              <a:srgbClr val="000000">
                <a:alpha val="40000"/>
              </a:srgbClr>
            </a:outerShdw>
          </a:effectLst>
        </p:spPr>
      </p:sp>
      <p:sp>
        <p:nvSpPr>
          <p:cNvPr id="19" name="Text 17"/>
          <p:cNvSpPr txBox="1"/>
          <p:nvPr/>
        </p:nvSpPr>
        <p:spPr>
          <a:xfrm>
            <a:off x="896112" y="3081528"/>
            <a:ext cx="2560320" cy="274320"/>
          </a:xfrm>
          <a:prstGeom prst="rect">
            <a:avLst/>
          </a:prstGeom>
          <a:noFill/>
          <a:ln/>
        </p:spPr>
        <p:txBody>
          <a:bodyPr wrap="square" lIns="0" tIns="0" rIns="0" bIns="0" rtlCol="0" anchor="ctr"/>
          <a:lstStyle/>
          <a:p>
            <a:pPr indent="0" marL="0">
              <a:buNone/>
            </a:pPr>
            <a:r>
              <a:rPr lang="en-US" sz="1000" b="1" spc="180" kern="0" dirty="0">
                <a:solidFill>
                  <a:srgbClr val="25B98C"/>
                </a:solidFill>
                <a:latin typeface="Calibri" pitchFamily="34" charset="0"/>
                <a:ea typeface="Calibri" pitchFamily="34" charset="-122"/>
                <a:cs typeface="Calibri" pitchFamily="34" charset="-120"/>
              </a:rPr>
              <a:t>FLUX POUSSÉ  ·  PUSH</a:t>
            </a:r>
            <a:endParaRPr lang="en-US" sz="1000" dirty="0"/>
          </a:p>
        </p:txBody>
      </p:sp>
      <p:sp>
        <p:nvSpPr>
          <p:cNvPr id="20" name="Shape 18"/>
          <p:cNvSpPr/>
          <p:nvPr/>
        </p:nvSpPr>
        <p:spPr>
          <a:xfrm>
            <a:off x="896112" y="3401568"/>
            <a:ext cx="1828800" cy="548640"/>
          </a:xfrm>
          <a:prstGeom prst="roundRect">
            <a:avLst>
              <a:gd name="adj" fmla="val 13333"/>
            </a:avLst>
          </a:prstGeom>
          <a:solidFill>
            <a:srgbClr val="102A21"/>
          </a:solidFill>
          <a:ln w="12700">
            <a:solidFill>
              <a:srgbClr val="1E4738"/>
            </a:solidFill>
            <a:prstDash val="solid"/>
          </a:ln>
        </p:spPr>
      </p:sp>
      <p:sp>
        <p:nvSpPr>
          <p:cNvPr id="21" name="Text 19"/>
          <p:cNvSpPr txBox="1"/>
          <p:nvPr/>
        </p:nvSpPr>
        <p:spPr>
          <a:xfrm>
            <a:off x="969264" y="3401568"/>
            <a:ext cx="1682496"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Modèle exporté</a:t>
            </a:r>
            <a:endParaRPr lang="en-US" sz="1050" dirty="0"/>
          </a:p>
        </p:txBody>
      </p:sp>
      <p:sp>
        <p:nvSpPr>
          <p:cNvPr id="22" name="Text 20"/>
          <p:cNvSpPr txBox="1"/>
          <p:nvPr/>
        </p:nvSpPr>
        <p:spPr>
          <a:xfrm>
            <a:off x="2743200" y="3401568"/>
            <a:ext cx="274320" cy="548640"/>
          </a:xfrm>
          <a:prstGeom prst="rect">
            <a:avLst/>
          </a:prstGeom>
          <a:noFill/>
          <a:ln/>
        </p:spPr>
        <p:txBody>
          <a:bodyPr wrap="square" lIns="0" tIns="0" rIns="0" bIns="0" rtlCol="0" anchor="ctr"/>
          <a:lstStyle/>
          <a:p>
            <a:pPr algn="ctr" indent="0" marL="0">
              <a:buNone/>
            </a:pPr>
            <a:r>
              <a:rPr lang="en-US" sz="1500" dirty="0">
                <a:solidFill>
                  <a:srgbClr val="D4A62A"/>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3035808" y="3401568"/>
            <a:ext cx="1828800" cy="548640"/>
          </a:xfrm>
          <a:prstGeom prst="roundRect">
            <a:avLst>
              <a:gd name="adj" fmla="val 13333"/>
            </a:avLst>
          </a:prstGeom>
          <a:solidFill>
            <a:srgbClr val="102A21"/>
          </a:solidFill>
          <a:ln w="12700">
            <a:solidFill>
              <a:srgbClr val="1E4738"/>
            </a:solidFill>
            <a:prstDash val="solid"/>
          </a:ln>
        </p:spPr>
      </p:sp>
      <p:sp>
        <p:nvSpPr>
          <p:cNvPr id="24" name="Text 22"/>
          <p:cNvSpPr txBox="1"/>
          <p:nvPr/>
        </p:nvSpPr>
        <p:spPr>
          <a:xfrm>
            <a:off x="3108960" y="3401568"/>
            <a:ext cx="1682496"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Rempli hors ligne</a:t>
            </a:r>
            <a:endParaRPr lang="en-US" sz="1050" dirty="0"/>
          </a:p>
        </p:txBody>
      </p:sp>
      <p:sp>
        <p:nvSpPr>
          <p:cNvPr id="25" name="Text 23"/>
          <p:cNvSpPr txBox="1"/>
          <p:nvPr/>
        </p:nvSpPr>
        <p:spPr>
          <a:xfrm>
            <a:off x="4882896" y="3401568"/>
            <a:ext cx="274320" cy="548640"/>
          </a:xfrm>
          <a:prstGeom prst="rect">
            <a:avLst/>
          </a:prstGeom>
          <a:noFill/>
          <a:ln/>
        </p:spPr>
        <p:txBody>
          <a:bodyPr wrap="square" lIns="0" tIns="0" rIns="0" bIns="0" rtlCol="0" anchor="ctr"/>
          <a:lstStyle/>
          <a:p>
            <a:pPr algn="ctr" indent="0" marL="0">
              <a:buNone/>
            </a:pPr>
            <a:r>
              <a:rPr lang="en-US" sz="1500" dirty="0">
                <a:solidFill>
                  <a:srgbClr val="D4A62A"/>
                </a:solidFill>
                <a:latin typeface="Calibri" pitchFamily="34" charset="0"/>
                <a:ea typeface="Calibri" pitchFamily="34" charset="-122"/>
                <a:cs typeface="Calibri" pitchFamily="34" charset="-120"/>
              </a:rPr>
              <a:t>→</a:t>
            </a:r>
            <a:endParaRPr lang="en-US" sz="1500" dirty="0"/>
          </a:p>
        </p:txBody>
      </p:sp>
      <p:sp>
        <p:nvSpPr>
          <p:cNvPr id="26" name="Shape 24"/>
          <p:cNvSpPr/>
          <p:nvPr/>
        </p:nvSpPr>
        <p:spPr>
          <a:xfrm>
            <a:off x="5175504" y="3401568"/>
            <a:ext cx="1828800" cy="548640"/>
          </a:xfrm>
          <a:prstGeom prst="roundRect">
            <a:avLst>
              <a:gd name="adj" fmla="val 13333"/>
            </a:avLst>
          </a:prstGeom>
          <a:solidFill>
            <a:srgbClr val="102A21"/>
          </a:solidFill>
          <a:ln w="12700">
            <a:solidFill>
              <a:srgbClr val="1E4738"/>
            </a:solidFill>
            <a:prstDash val="solid"/>
          </a:ln>
        </p:spPr>
      </p:sp>
      <p:sp>
        <p:nvSpPr>
          <p:cNvPr id="27" name="Text 25"/>
          <p:cNvSpPr txBox="1"/>
          <p:nvPr/>
        </p:nvSpPr>
        <p:spPr>
          <a:xfrm>
            <a:off x="5248656" y="3401568"/>
            <a:ext cx="1682496"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Alias de colonnes</a:t>
            </a:r>
            <a:endParaRPr lang="en-US" sz="1050" dirty="0"/>
          </a:p>
        </p:txBody>
      </p:sp>
      <p:sp>
        <p:nvSpPr>
          <p:cNvPr id="28" name="Text 26"/>
          <p:cNvSpPr txBox="1"/>
          <p:nvPr/>
        </p:nvSpPr>
        <p:spPr>
          <a:xfrm>
            <a:off x="7022592" y="3401568"/>
            <a:ext cx="274320" cy="548640"/>
          </a:xfrm>
          <a:prstGeom prst="rect">
            <a:avLst/>
          </a:prstGeom>
          <a:noFill/>
          <a:ln/>
        </p:spPr>
        <p:txBody>
          <a:bodyPr wrap="square" lIns="0" tIns="0" rIns="0" bIns="0" rtlCol="0" anchor="ctr"/>
          <a:lstStyle/>
          <a:p>
            <a:pPr algn="ctr" indent="0" marL="0">
              <a:buNone/>
            </a:pPr>
            <a:r>
              <a:rPr lang="en-US" sz="1500" dirty="0">
                <a:solidFill>
                  <a:srgbClr val="D4A62A"/>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7315200" y="3401568"/>
            <a:ext cx="1828800" cy="548640"/>
          </a:xfrm>
          <a:prstGeom prst="roundRect">
            <a:avLst>
              <a:gd name="adj" fmla="val 13333"/>
            </a:avLst>
          </a:prstGeom>
          <a:solidFill>
            <a:srgbClr val="102A21"/>
          </a:solidFill>
          <a:ln w="12700">
            <a:solidFill>
              <a:srgbClr val="1E4738"/>
            </a:solidFill>
            <a:prstDash val="solid"/>
          </a:ln>
        </p:spPr>
      </p:sp>
      <p:sp>
        <p:nvSpPr>
          <p:cNvPr id="30" name="Text 28"/>
          <p:cNvSpPr txBox="1"/>
          <p:nvPr/>
        </p:nvSpPr>
        <p:spPr>
          <a:xfrm>
            <a:off x="7388352" y="3401568"/>
            <a:ext cx="1682496" cy="548640"/>
          </a:xfrm>
          <a:prstGeom prst="rect">
            <a:avLst/>
          </a:prstGeom>
          <a:noFill/>
          <a:ln/>
        </p:spPr>
        <p:txBody>
          <a:bodyPr wrap="square" lIns="0" tIns="0" rIns="0" bIns="0" rtlCol="0" anchor="ctr"/>
          <a:lstStyle/>
          <a:p>
            <a:pPr algn="ctr" indent="0" marL="0">
              <a:lnSpc>
                <a:spcPts val="1300"/>
              </a:lnSpc>
              <a:buNone/>
            </a:pPr>
            <a:r>
              <a:rPr lang="en-US" sz="1050" dirty="0">
                <a:solidFill>
                  <a:srgbClr val="F4F1E9"/>
                </a:solidFill>
                <a:latin typeface="Calibri" pitchFamily="34" charset="0"/>
                <a:ea typeface="Calibri" pitchFamily="34" charset="-122"/>
                <a:cs typeface="Calibri" pitchFamily="34" charset="-120"/>
              </a:rPr>
              <a:t>Plan avant écriture</a:t>
            </a:r>
            <a:endParaRPr lang="en-US" sz="1050" dirty="0"/>
          </a:p>
        </p:txBody>
      </p:sp>
      <p:sp>
        <p:nvSpPr>
          <p:cNvPr id="31" name="Text 29"/>
          <p:cNvSpPr txBox="1"/>
          <p:nvPr/>
        </p:nvSpPr>
        <p:spPr>
          <a:xfrm>
            <a:off x="9162288" y="3401568"/>
            <a:ext cx="274320" cy="548640"/>
          </a:xfrm>
          <a:prstGeom prst="rect">
            <a:avLst/>
          </a:prstGeom>
          <a:noFill/>
          <a:ln/>
        </p:spPr>
        <p:txBody>
          <a:bodyPr wrap="square" lIns="0" tIns="0" rIns="0" bIns="0" rtlCol="0" anchor="ctr"/>
          <a:lstStyle/>
          <a:p>
            <a:pPr algn="ctr" indent="0" marL="0">
              <a:buNone/>
            </a:pPr>
            <a:r>
              <a:rPr lang="en-US" sz="1500" dirty="0">
                <a:solidFill>
                  <a:srgbClr val="D4A62A"/>
                </a:solidFill>
                <a:latin typeface="Calibri" pitchFamily="34" charset="0"/>
                <a:ea typeface="Calibri" pitchFamily="34" charset="-122"/>
                <a:cs typeface="Calibri" pitchFamily="34" charset="-120"/>
              </a:rPr>
              <a:t>→</a:t>
            </a:r>
            <a:endParaRPr lang="en-US" sz="1500" dirty="0"/>
          </a:p>
        </p:txBody>
      </p:sp>
      <p:sp>
        <p:nvSpPr>
          <p:cNvPr id="32" name="Shape 30"/>
          <p:cNvSpPr/>
          <p:nvPr/>
        </p:nvSpPr>
        <p:spPr>
          <a:xfrm>
            <a:off x="9454896" y="3401568"/>
            <a:ext cx="1828800" cy="548640"/>
          </a:xfrm>
          <a:prstGeom prst="roundRect">
            <a:avLst>
              <a:gd name="adj" fmla="val 13333"/>
            </a:avLst>
          </a:prstGeom>
          <a:solidFill>
            <a:srgbClr val="102A21"/>
          </a:solidFill>
          <a:ln w="12700">
            <a:solidFill>
              <a:srgbClr val="25B98C"/>
            </a:solidFill>
            <a:prstDash val="solid"/>
          </a:ln>
        </p:spPr>
      </p:sp>
      <p:sp>
        <p:nvSpPr>
          <p:cNvPr id="33" name="Text 31"/>
          <p:cNvSpPr txBox="1"/>
          <p:nvPr/>
        </p:nvSpPr>
        <p:spPr>
          <a:xfrm>
            <a:off x="9528048" y="3401568"/>
            <a:ext cx="1682496" cy="548640"/>
          </a:xfrm>
          <a:prstGeom prst="rect">
            <a:avLst/>
          </a:prstGeom>
          <a:noFill/>
          <a:ln/>
        </p:spPr>
        <p:txBody>
          <a:bodyPr wrap="square" lIns="0" tIns="0" rIns="0" bIns="0" rtlCol="0" anchor="ctr"/>
          <a:lstStyle/>
          <a:p>
            <a:pPr algn="ctr" indent="0" marL="0">
              <a:lnSpc>
                <a:spcPts val="1300"/>
              </a:lnSpc>
              <a:buNone/>
            </a:pPr>
            <a:r>
              <a:rPr lang="en-US" sz="1050" b="1" dirty="0">
                <a:solidFill>
                  <a:srgbClr val="25B98C"/>
                </a:solidFill>
                <a:latin typeface="Calibri" pitchFamily="34" charset="0"/>
                <a:ea typeface="Calibri" pitchFamily="34" charset="-122"/>
                <a:cs typeface="Calibri" pitchFamily="34" charset="-120"/>
              </a:rPr>
              <a:t>Écriture sous RLS</a:t>
            </a:r>
            <a:endParaRPr lang="en-US" sz="1050" dirty="0"/>
          </a:p>
        </p:txBody>
      </p:sp>
      <p:sp>
        <p:nvSpPr>
          <p:cNvPr id="34" name="pu_n0"/>
          <p:cNvSpPr/>
          <p:nvPr/>
        </p:nvSpPr>
        <p:spPr>
          <a:xfrm>
            <a:off x="640080" y="4279392"/>
            <a:ext cx="3454298" cy="1645920"/>
          </a:xfrm>
          <a:prstGeom prst="roundRect">
            <a:avLst>
              <a:gd name="adj" fmla="val 333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35" name="Text 33"/>
          <p:cNvSpPr txBox="1"/>
          <p:nvPr/>
        </p:nvSpPr>
        <p:spPr>
          <a:xfrm>
            <a:off x="877824" y="4434840"/>
            <a:ext cx="2978810" cy="274320"/>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POURQUOI PAS LE CSV EN SORTIE</a:t>
            </a:r>
            <a:endParaRPr lang="en-US" sz="950" dirty="0"/>
          </a:p>
        </p:txBody>
      </p:sp>
      <p:sp>
        <p:nvSpPr>
          <p:cNvPr id="36" name="Text 34"/>
          <p:cNvSpPr txBox="1"/>
          <p:nvPr/>
        </p:nvSpPr>
        <p:spPr>
          <a:xfrm>
            <a:off x="877824" y="4718304"/>
            <a:ext cx="2978810" cy="1097280"/>
          </a:xfrm>
          <a:prstGeom prst="rect">
            <a:avLst/>
          </a:prstGeom>
          <a:noFill/>
          <a:ln/>
        </p:spPr>
        <p:txBody>
          <a:bodyPr wrap="square" lIns="0" tIns="0" rIns="0" bIns="0" rtlCol="0" anchor="ctr"/>
          <a:lstStyle/>
          <a:p>
            <a:pPr indent="0" marL="0">
              <a:lnSpc>
                <a:spcPts val="1350"/>
              </a:lnSpc>
              <a:buNone/>
            </a:pPr>
            <a:r>
              <a:rPr lang="en-US" sz="1000" dirty="0">
                <a:solidFill>
                  <a:srgbClr val="F4F1E9"/>
                </a:solidFill>
                <a:latin typeface="Calibri" pitchFamily="34" charset="0"/>
                <a:ea typeface="Calibri" pitchFamily="34" charset="-122"/>
                <a:cs typeface="Calibri" pitchFamily="34" charset="-120"/>
              </a:rPr>
              <a:t>Séparé par des virgules, un CSV s’ouvre en une seule colonne sur un Excel configuré en français, qui attend le point-virgule. On ne peut pas envoyer cela à un conservateur et lui demander de deviner. Le .xlsx s’ouvre partout, porte plusieurs feuilles et ne pose aucune question d’encodage — le CSV reste accepté en lecture.</a:t>
            </a:r>
            <a:endParaRPr lang="en-US" sz="1000" dirty="0"/>
          </a:p>
        </p:txBody>
      </p:sp>
      <p:sp>
        <p:nvSpPr>
          <p:cNvPr id="37" name="pu_n1"/>
          <p:cNvSpPr/>
          <p:nvPr/>
        </p:nvSpPr>
        <p:spPr>
          <a:xfrm>
            <a:off x="4368698" y="4279392"/>
            <a:ext cx="3454298" cy="1645920"/>
          </a:xfrm>
          <a:prstGeom prst="roundRect">
            <a:avLst>
              <a:gd name="adj" fmla="val 333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38" name="Text 36"/>
          <p:cNvSpPr txBox="1"/>
          <p:nvPr/>
        </p:nvSpPr>
        <p:spPr>
          <a:xfrm>
            <a:off x="4606442" y="4434840"/>
            <a:ext cx="2978810" cy="274320"/>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POURQUOI AUCUNE BIBLIOTHÈQUE</a:t>
            </a:r>
            <a:endParaRPr lang="en-US" sz="950" dirty="0"/>
          </a:p>
        </p:txBody>
      </p:sp>
      <p:sp>
        <p:nvSpPr>
          <p:cNvPr id="39" name="Text 37"/>
          <p:cNvSpPr txBox="1"/>
          <p:nvPr/>
        </p:nvSpPr>
        <p:spPr>
          <a:xfrm>
            <a:off x="4606442" y="4718304"/>
            <a:ext cx="2978810" cy="1097280"/>
          </a:xfrm>
          <a:prstGeom prst="rect">
            <a:avLst/>
          </a:prstGeom>
          <a:noFill/>
          <a:ln/>
        </p:spPr>
        <p:txBody>
          <a:bodyPr wrap="square" lIns="0" tIns="0" rIns="0" bIns="0" rtlCol="0" anchor="ctr"/>
          <a:lstStyle/>
          <a:p>
            <a:pPr indent="0" marL="0">
              <a:lnSpc>
                <a:spcPts val="1350"/>
              </a:lnSpc>
              <a:buNone/>
            </a:pPr>
            <a:r>
              <a:rPr lang="en-US" sz="1000" dirty="0">
                <a:solidFill>
                  <a:srgbClr val="F4F1E9"/>
                </a:solidFill>
                <a:latin typeface="Calibri" pitchFamily="34" charset="0"/>
                <a:ea typeface="Calibri" pitchFamily="34" charset="-122"/>
                <a:cs typeface="Calibri" pitchFamily="34" charset="-120"/>
              </a:rPr>
              <a:t>Un .xlsx est une archive ZIP contenant quelques fichiers XML. Pour du texte en lignes et en colonnes, l’écrire et le relire tient dans un seul fichier — là où la moindre bibliothèque tableur pèse plusieurs centaines de kilo-octets dans un ERP déjà lourd.</a:t>
            </a:r>
            <a:endParaRPr lang="en-US" sz="1000" dirty="0"/>
          </a:p>
        </p:txBody>
      </p:sp>
      <p:sp>
        <p:nvSpPr>
          <p:cNvPr id="40" name="pu_n2"/>
          <p:cNvSpPr/>
          <p:nvPr/>
        </p:nvSpPr>
        <p:spPr>
          <a:xfrm>
            <a:off x="8097317" y="4279392"/>
            <a:ext cx="3454298" cy="1645920"/>
          </a:xfrm>
          <a:prstGeom prst="roundRect">
            <a:avLst>
              <a:gd name="adj" fmla="val 333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41" name="Text 39"/>
          <p:cNvSpPr txBox="1"/>
          <p:nvPr/>
        </p:nvSpPr>
        <p:spPr>
          <a:xfrm>
            <a:off x="8335061" y="4434840"/>
            <a:ext cx="2978810" cy="274320"/>
          </a:xfrm>
          <a:prstGeom prst="rect">
            <a:avLst/>
          </a:prstGeom>
          <a:noFill/>
          <a:ln/>
        </p:spPr>
        <p:txBody>
          <a:bodyPr wrap="square" lIns="0" tIns="0" rIns="0" bIns="0" rtlCol="0" anchor="ctr"/>
          <a:lstStyle/>
          <a:p>
            <a:pPr indent="0" marL="0">
              <a:buNone/>
            </a:pPr>
            <a:r>
              <a:rPr lang="en-US" sz="950" b="1" spc="120" kern="0" dirty="0">
                <a:solidFill>
                  <a:srgbClr val="D4A62A"/>
                </a:solidFill>
                <a:latin typeface="Calibri" pitchFamily="34" charset="0"/>
                <a:ea typeface="Calibri" pitchFamily="34" charset="-122"/>
                <a:cs typeface="Calibri" pitchFamily="34" charset="-120"/>
              </a:rPr>
              <a:t>CE QUI N’EST JAMAIS DANS LE TABLEAU</a:t>
            </a:r>
            <a:endParaRPr lang="en-US" sz="950" dirty="0"/>
          </a:p>
        </p:txBody>
      </p:sp>
      <p:sp>
        <p:nvSpPr>
          <p:cNvPr id="42" name="Text 40"/>
          <p:cNvSpPr txBox="1"/>
          <p:nvPr/>
        </p:nvSpPr>
        <p:spPr>
          <a:xfrm>
            <a:off x="8335061" y="4718304"/>
            <a:ext cx="2978810" cy="1097280"/>
          </a:xfrm>
          <a:prstGeom prst="rect">
            <a:avLst/>
          </a:prstGeom>
          <a:noFill/>
          <a:ln/>
        </p:spPr>
        <p:txBody>
          <a:bodyPr wrap="square" lIns="0" tIns="0" rIns="0" bIns="0" rtlCol="0" anchor="ctr"/>
          <a:lstStyle/>
          <a:p>
            <a:pPr indent="0" marL="0">
              <a:lnSpc>
                <a:spcPts val="1350"/>
              </a:lnSpc>
              <a:buNone/>
            </a:pPr>
            <a:r>
              <a:rPr lang="en-US" sz="1000" dirty="0">
                <a:solidFill>
                  <a:srgbClr val="F4F1E9"/>
                </a:solidFill>
                <a:latin typeface="Calibri" pitchFamily="34" charset="0"/>
                <a:ea typeface="Calibri" pitchFamily="34" charset="-122"/>
                <a:cs typeface="Calibri" pitchFamily="34" charset="-120"/>
              </a:rPr>
              <a:t>Les photographies et les modèles 3D. Une colonne « photo » n’aurait pu contenir qu’une adresse web que le musée n’a pas : ces fichiers se déposent depuis le back-office, une fois la structure en place. Mieux vaut un champ vide qu’un champ faux.</a:t>
            </a:r>
            <a:endParaRPr lang="en-US" sz="1000" dirty="0"/>
          </a:p>
        </p:txBody>
      </p:sp>
      <p:sp>
        <p:nvSpPr>
          <p:cNvPr id="43" name="Text 41"/>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44" name="Text 42"/>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24</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46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anim calcmode="lin" valueType="num">
                                      <p:cBhvr additive="base">
                                        <p:cTn id="16" dur="500" fill="hold"/>
                                        <p:tgtEl>
                                          <p:spTgt spid="18"/>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70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additive="base">
                                        <p:cTn id="20" dur="500" fill="hold"/>
                                        <p:tgtEl>
                                          <p:spTgt spid="34"/>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88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anim calcmode="lin" valueType="num">
                                      <p:cBhvr additive="base">
                                        <p:cTn id="24" dur="500" fill="hold"/>
                                        <p:tgtEl>
                                          <p:spTgt spid="37"/>
                                        </p:tgtEl>
                                        <p:attrNameLst>
                                          <p:attrName>ppt_y</p:attrName>
                                        </p:attrNameLst>
                                      </p:cBhvr>
                                      <p:tavLst>
                                        <p:tav tm="0">
                                          <p:val>
                                            <p:strVal val="#ppt_y+.035"/>
                                          </p:val>
                                        </p:tav>
                                        <p:tav tm="100000">
                                          <p:val>
                                            <p:strVal val="#ppt_y"/>
                                          </p:val>
                                        </p:tav>
                                      </p:tavLst>
                                    </p:anim>
                                  </p:childTnLst>
                                </p:cTn>
                              </p:par>
                              <p:par>
                                <p:cTn id="25" presetID="42" presetClass="entr" presetSubtype="8" fill="hold" grpId="0" nodeType="withEffect">
                                  <p:stCondLst>
                                    <p:cond delay="106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anim calcmode="lin" valueType="num">
                                      <p:cBhvr additive="base">
                                        <p:cTn id="28" dur="500" fill="hold"/>
                                        <p:tgtEl>
                                          <p:spTgt spid="4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5">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2194560" y="2011680"/>
            <a:ext cx="6858000" cy="6858000"/>
          </a:xfrm>
          <a:prstGeom prst="ellipse">
            <a:avLst/>
          </a:prstGeom>
          <a:solidFill>
            <a:srgbClr val="0E6B4F">
              <a:alpha val="12000"/>
            </a:srgbClr>
          </a:solidFill>
          <a:ln/>
        </p:spPr>
      </p:sp>
      <p:sp>
        <p:nvSpPr>
          <p:cNvPr id="3" name="Shape 1"/>
          <p:cNvSpPr/>
          <p:nvPr/>
        </p:nvSpPr>
        <p:spPr>
          <a:xfrm>
            <a:off x="9326880" y="-1828800"/>
            <a:ext cx="5943600" cy="5943600"/>
          </a:xfrm>
          <a:prstGeom prst="ellipse">
            <a:avLst/>
          </a:prstGeom>
          <a:solidFill>
            <a:srgbClr val="D4A62A">
              <a:alpha val="6000"/>
            </a:srgbClr>
          </a:solidFill>
          <a:ln/>
        </p:spPr>
      </p:sp>
      <p:sp>
        <p:nvSpPr>
          <p:cNvPr id="4" name="!!num5b"/>
          <p:cNvSpPr/>
          <p:nvPr/>
        </p:nvSpPr>
        <p:spPr>
          <a:xfrm>
            <a:off x="1051560" y="2331720"/>
            <a:ext cx="2194560" cy="2194560"/>
          </a:xfrm>
          <a:prstGeom prst="roundRect">
            <a:avLst>
              <a:gd name="adj" fmla="val 14583"/>
            </a:avLst>
          </a:prstGeom>
          <a:solidFill>
            <a:srgbClr val="0E6B4F"/>
          </a:solidFill>
          <a:ln w="12700">
            <a:solidFill>
              <a:srgbClr val="25B98C"/>
            </a:solidFill>
            <a:prstDash val="solid"/>
          </a:ln>
        </p:spPr>
      </p:sp>
      <p:sp>
        <p:nvSpPr>
          <p:cNvPr id="5" name="!!num5"/>
          <p:cNvSpPr txBox="1"/>
          <p:nvPr/>
        </p:nvSpPr>
        <p:spPr>
          <a:xfrm>
            <a:off x="1051560" y="2331720"/>
            <a:ext cx="2194560" cy="2194560"/>
          </a:xfrm>
          <a:prstGeom prst="rect">
            <a:avLst/>
          </a:prstGeom>
          <a:noFill/>
          <a:ln/>
        </p:spPr>
        <p:txBody>
          <a:bodyPr wrap="square" lIns="0" tIns="0" rIns="0" bIns="0" rtlCol="0" anchor="ctr"/>
          <a:lstStyle/>
          <a:p>
            <a:pPr algn="ctr" indent="0" marL="0">
              <a:buNone/>
            </a:pPr>
            <a:r>
              <a:rPr lang="en-US" sz="6600" b="1" dirty="0">
                <a:solidFill>
                  <a:srgbClr val="F0D68A"/>
                </a:solidFill>
                <a:latin typeface="Cambria" pitchFamily="34" charset="0"/>
                <a:ea typeface="Cambria" pitchFamily="34" charset="-122"/>
                <a:cs typeface="Cambria" pitchFamily="34" charset="-120"/>
              </a:rPr>
              <a:t>V</a:t>
            </a:r>
            <a:endParaRPr lang="en-US" sz="6600" dirty="0"/>
          </a:p>
        </p:txBody>
      </p:sp>
      <p:sp>
        <p:nvSpPr>
          <p:cNvPr id="6" name="!!sec5"/>
          <p:cNvSpPr txBox="1"/>
          <p:nvPr/>
        </p:nvSpPr>
        <p:spPr>
          <a:xfrm>
            <a:off x="3977640" y="2606040"/>
            <a:ext cx="7589520" cy="914400"/>
          </a:xfrm>
          <a:prstGeom prst="rect">
            <a:avLst/>
          </a:prstGeom>
          <a:noFill/>
          <a:ln/>
        </p:spPr>
        <p:txBody>
          <a:bodyPr wrap="square" lIns="0" tIns="0" rIns="0" bIns="0" rtlCol="0" anchor="ctr"/>
          <a:lstStyle/>
          <a:p>
            <a:pPr indent="0" marL="0">
              <a:buNone/>
            </a:pPr>
            <a:r>
              <a:rPr lang="en-US" sz="4000" b="1" dirty="0">
                <a:solidFill>
                  <a:srgbClr val="F4F1E9"/>
                </a:solidFill>
                <a:latin typeface="Cambria" pitchFamily="34" charset="0"/>
                <a:ea typeface="Cambria" pitchFamily="34" charset="-122"/>
                <a:cs typeface="Cambria" pitchFamily="34" charset="-120"/>
              </a:rPr>
              <a:t>RÉSULTATS ET SUITES</a:t>
            </a:r>
            <a:endParaRPr lang="en-US" sz="4000" dirty="0"/>
          </a:p>
        </p:txBody>
      </p:sp>
      <p:sp>
        <p:nvSpPr>
          <p:cNvPr id="7" name="Text 5"/>
          <p:cNvSpPr txBox="1"/>
          <p:nvPr/>
        </p:nvSpPr>
        <p:spPr>
          <a:xfrm>
            <a:off x="4023360" y="3611880"/>
            <a:ext cx="7498080" cy="548640"/>
          </a:xfrm>
          <a:prstGeom prst="rect">
            <a:avLst/>
          </a:prstGeom>
          <a:noFill/>
          <a:ln/>
        </p:spPr>
        <p:txBody>
          <a:bodyPr wrap="square" lIns="0" tIns="0" rIns="0" bIns="0" rtlCol="0" anchor="ctr"/>
          <a:lstStyle/>
          <a:p>
            <a:pPr indent="0" marL="0">
              <a:buNone/>
            </a:pPr>
            <a:r>
              <a:rPr lang="en-US" sz="1500" i="1" dirty="0">
                <a:solidFill>
                  <a:srgbClr val="9CB6A9"/>
                </a:solidFill>
                <a:latin typeface="Calibri" pitchFamily="34" charset="0"/>
                <a:ea typeface="Calibri" pitchFamily="34" charset="-122"/>
                <a:cs typeface="Calibri" pitchFamily="34" charset="-120"/>
              </a:rPr>
              <a:t>Les mesures, les hypothèses, l’intervention proposée</a:t>
            </a:r>
            <a:endParaRPr lang="en-US" sz="1500" dirty="0"/>
          </a:p>
        </p:txBody>
      </p:sp>
      <p:sp>
        <p:nvSpPr>
          <p:cNvPr id="8" name="Text 6"/>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9" name="Text 7"/>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25</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6">
    <p:bg>
      <p:bgPr>
        <a:solidFill>
          <a:srgbClr val="07130F"/>
        </a:solidFill>
      </p:bgPr>
    </p:bg>
    <p:spTree>
      <p:nvGrpSpPr>
        <p:cNvPr id="1" name=""/>
        <p:cNvGrpSpPr/>
        <p:nvPr/>
      </p:nvGrpSpPr>
      <p:grpSpPr>
        <a:xfrm>
          <a:off x="0" y="0"/>
          <a:ext cx="0" cy="0"/>
          <a:chOff x="0" y="0"/>
          <a:chExt cx="0" cy="0"/>
        </a:xfrm>
      </p:grpSpPr>
      <p:sp>
        <p:nvSpPr>
          <p:cNvPr id="2" name="!!num5b"/>
          <p:cNvSpPr/>
          <p:nvPr/>
        </p:nvSpPr>
        <p:spPr>
          <a:xfrm>
            <a:off x="640080" y="384048"/>
            <a:ext cx="420624" cy="420624"/>
          </a:xfrm>
          <a:prstGeom prst="roundRect">
            <a:avLst>
              <a:gd name="adj" fmla="val 76087"/>
            </a:avLst>
          </a:prstGeom>
          <a:solidFill>
            <a:srgbClr val="0E6B4F"/>
          </a:solidFill>
          <a:ln w="12700">
            <a:solidFill>
              <a:srgbClr val="25B98C"/>
            </a:solidFill>
            <a:prstDash val="solid"/>
          </a:ln>
        </p:spPr>
      </p:sp>
      <p:sp>
        <p:nvSpPr>
          <p:cNvPr id="3" name="!!num5"/>
          <p:cNvSpPr txBox="1"/>
          <p:nvPr/>
        </p:nvSpPr>
        <p:spPr>
          <a:xfrm>
            <a:off x="640080" y="384048"/>
            <a:ext cx="420624" cy="420624"/>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V</a:t>
            </a:r>
            <a:endParaRPr lang="en-US" sz="1200" dirty="0"/>
          </a:p>
        </p:txBody>
      </p:sp>
      <p:sp>
        <p:nvSpPr>
          <p:cNvPr id="4" name="!!sec5"/>
          <p:cNvSpPr txBox="1"/>
          <p:nvPr/>
        </p:nvSpPr>
        <p:spPr>
          <a:xfrm>
            <a:off x="1207008" y="411480"/>
            <a:ext cx="7315200" cy="365760"/>
          </a:xfrm>
          <a:prstGeom prst="rect">
            <a:avLst/>
          </a:prstGeom>
          <a:noFill/>
          <a:ln/>
        </p:spPr>
        <p:txBody>
          <a:bodyPr wrap="square" lIns="0" tIns="0" rIns="0" bIns="0" rtlCol="0" anchor="ctr"/>
          <a:lstStyle/>
          <a:p>
            <a:pPr indent="0" marL="0">
              <a:buNone/>
            </a:pPr>
            <a:r>
              <a:rPr lang="en-US" sz="1150" b="1" spc="240" kern="0" dirty="0">
                <a:solidFill>
                  <a:srgbClr val="D4A62A"/>
                </a:solidFill>
                <a:latin typeface="Calibri" pitchFamily="34" charset="0"/>
                <a:ea typeface="Calibri" pitchFamily="34" charset="-122"/>
                <a:cs typeface="Calibri" pitchFamily="34" charset="-120"/>
              </a:rPr>
              <a:t>RÉSULTATS ET SUITES</a:t>
            </a:r>
            <a:endParaRPr lang="en-US" sz="1150" dirty="0"/>
          </a:p>
        </p:txBody>
      </p:sp>
      <p:sp>
        <p:nvSpPr>
          <p:cNvPr id="5" name="h26_t"/>
          <p:cNvSpPr txBox="1"/>
          <p:nvPr/>
        </p:nvSpPr>
        <p:spPr>
          <a:xfrm>
            <a:off x="640080" y="1024128"/>
            <a:ext cx="10911535" cy="96012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La situation avant et après la mise en service</a:t>
            </a:r>
            <a:endParaRPr lang="en-US" sz="3300" dirty="0"/>
          </a:p>
        </p:txBody>
      </p:sp>
      <p:graphicFrame>
        <p:nvGraphicFramePr>
          <p:cNvPr id="6" name="av_tab"/>
          <p:cNvGraphicFramePr>
            <a:graphicFrameLocks noGrp="1"/>
          </p:cNvGraphicFramePr>
          <p:nvPr>
            <p:extLst>
              <p:ext uri="{D42A27DB-BD31-4B8C-83A1-F6EECF244321}">
                <p14:modId xmlns:p14="http://schemas.microsoft.com/office/powerpoint/2010/main" val="1579011935"/>
              </p:ext>
            </p:extLst>
          </p:nvPr>
        </p:nvGraphicFramePr>
        <p:xfrm>
          <a:off x="640080" y="1920240"/>
          <a:ext cx="10911535" cy="914400"/>
        </p:xfrm>
        <a:graphic>
          <a:graphicData uri="http://schemas.openxmlformats.org/drawingml/2006/table">
            <a:tbl>
              <a:tblPr/>
              <a:tblGrid>
                <a:gridCol w="5059375"/>
                <a:gridCol w="2743200"/>
                <a:gridCol w="3108960"/>
              </a:tblGrid>
              <a:tr h="301752">
                <a:tc>
                  <a:txBody>
                    <a:bodyPr/>
                    <a:lstStyle/>
                    <a:p>
                      <a:pPr indent="0" marL="0">
                        <a:buNone/>
                      </a:pPr>
                      <a:r>
                        <a:rPr lang="en-US" sz="1050" b="1" dirty="0">
                          <a:solidFill>
                            <a:srgbClr val="F0D68A"/>
                          </a:solidFill>
                          <a:latin typeface="Calibri" pitchFamily="34" charset="0"/>
                          <a:ea typeface="Calibri" pitchFamily="34" charset="-122"/>
                          <a:cs typeface="Calibri" pitchFamily="34" charset="-120"/>
                        </a:rPr>
                        <a:t>Ce qui est mesuré</a:t>
                      </a:r>
                      <a:endParaRPr lang="en-US" sz="1050" dirty="0">
                        <a:latin typeface="Calibri" charset="0"/>
                        <a:ea typeface="Calibri" charset="0"/>
                        <a:cs typeface="Calibri" charset="0"/>
                      </a:endParaRPr>
                    </a:p>
                  </a:txBody>
                  <a:tcPr marL="127000" marR="127000" marT="76200" marB="762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c>
                  <a:txBody>
                    <a:bodyPr/>
                    <a:lstStyle/>
                    <a:p>
                      <a:pPr algn="ctr" indent="0" marL="0">
                        <a:buNone/>
                      </a:pPr>
                      <a:r>
                        <a:rPr lang="en-US" sz="1150" b="1" dirty="0">
                          <a:solidFill>
                            <a:srgbClr val="F0D68A"/>
                          </a:solidFill>
                          <a:latin typeface="Calibri" pitchFamily="34" charset="0"/>
                          <a:ea typeface="Calibri" pitchFamily="34" charset="-122"/>
                          <a:cs typeface="Calibri" pitchFamily="34" charset="-120"/>
                        </a:rPr>
                        <a:t>Avant</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c>
                  <a:txBody>
                    <a:bodyPr/>
                    <a:lstStyle/>
                    <a:p>
                      <a:pPr algn="ctr" indent="0" marL="0">
                        <a:buNone/>
                      </a:pPr>
                      <a:r>
                        <a:rPr lang="en-US" sz="1150" b="1" dirty="0">
                          <a:solidFill>
                            <a:srgbClr val="F0D68A"/>
                          </a:solidFill>
                          <a:latin typeface="Calibri" pitchFamily="34" charset="0"/>
                          <a:ea typeface="Calibri" pitchFamily="34" charset="-122"/>
                          <a:cs typeface="Calibri" pitchFamily="34" charset="-120"/>
                        </a:rPr>
                        <a:t>Après</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0E6B4F"/>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Délai de réponse à une question de visiteur</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E08A3C"/>
                          </a:solidFill>
                          <a:latin typeface="Calibri" pitchFamily="34" charset="0"/>
                          <a:ea typeface="Calibri" pitchFamily="34" charset="-122"/>
                          <a:cs typeface="Calibri" pitchFamily="34" charset="-120"/>
                        </a:rPr>
                        <a:t>10 à 20 jours</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b="1" dirty="0">
                          <a:solidFill>
                            <a:srgbClr val="25B98C"/>
                          </a:solidFill>
                          <a:latin typeface="Calibri" pitchFamily="34" charset="0"/>
                          <a:ea typeface="Calibri" pitchFamily="34" charset="-122"/>
                          <a:cs typeface="Calibri" pitchFamily="34" charset="-120"/>
                        </a:rPr>
                        <a:t>Immédiat</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Questions ayant reçu une réponse</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F4F1E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60 sur 70  (85,7 %)</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Espaces parcourables en continu à distance</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E08A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Parcours 360° reliant les salles</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Espaces posables à leur taille réelle en réalité augmentée</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E08A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Sur iOS et sur Android</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Collections extérieures interrogées</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E08A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Œuvres apparentées identifiées à l’étranger</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E08A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41, dans 137 pays</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Tables protégées par une règle de sécurité</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E08A3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51 sur 51</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b="1" dirty="0">
                          <a:solidFill>
                            <a:srgbClr val="F4F1E9"/>
                          </a:solidFill>
                          <a:latin typeface="Calibri" pitchFamily="34" charset="0"/>
                          <a:ea typeface="Calibri" pitchFamily="34" charset="-122"/>
                          <a:cs typeface="Calibri" pitchFamily="34" charset="-120"/>
                        </a:rPr>
                        <a:t>Institutions servies par le dispositif</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b="1" dirty="0">
                          <a:solidFill>
                            <a:srgbClr val="E08A3C"/>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b="1" dirty="0">
                          <a:solidFill>
                            <a:srgbClr val="F0D68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b="1" dirty="0">
                          <a:solidFill>
                            <a:srgbClr val="F4F1E9"/>
                          </a:solidFill>
                          <a:latin typeface="Calibri" pitchFamily="34" charset="0"/>
                          <a:ea typeface="Calibri" pitchFamily="34" charset="-122"/>
                          <a:cs typeface="Calibri" pitchFamily="34" charset="-120"/>
                        </a:rPr>
                        <a:t>Code à modifier pour accueillir une institution</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b="1" dirty="0">
                          <a:solidFill>
                            <a:srgbClr val="E08A3C"/>
                          </a:solidFill>
                          <a:latin typeface="Calibri" pitchFamily="34" charset="0"/>
                          <a:ea typeface="Calibri" pitchFamily="34" charset="-122"/>
                          <a:cs typeface="Calibri" pitchFamily="34" charset="-120"/>
                        </a:rPr>
                        <a:t>Réécriture complète</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b="1" dirty="0">
                          <a:solidFill>
                            <a:srgbClr val="F0D68A"/>
                          </a:solidFill>
                          <a:latin typeface="Calibri" pitchFamily="34" charset="0"/>
                          <a:ea typeface="Calibri" pitchFamily="34" charset="-122"/>
                          <a:cs typeface="Calibri" pitchFamily="34" charset="-120"/>
                        </a:rPr>
                        <a:t>Aucune ligne</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r h="342900">
                <a:tc>
                  <a:txBody>
                    <a:bodyPr/>
                    <a:lstStyle/>
                    <a:p>
                      <a:pPr indent="0" marL="0">
                        <a:buNone/>
                      </a:pPr>
                      <a:r>
                        <a:rPr lang="en-US" sz="1150" dirty="0">
                          <a:solidFill>
                            <a:srgbClr val="F4F1E9"/>
                          </a:solidFill>
                          <a:latin typeface="Calibri" pitchFamily="34" charset="0"/>
                          <a:ea typeface="Calibri" pitchFamily="34" charset="-122"/>
                          <a:cs typeface="Calibri" pitchFamily="34" charset="-120"/>
                        </a:rPr>
                        <a:t>Coût récurrent mensuel de l’hébergement</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F4F1E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c>
                  <a:txBody>
                    <a:bodyPr/>
                    <a:lstStyle/>
                    <a:p>
                      <a:pPr algn="ctr" indent="0" marL="0">
                        <a:buNone/>
                      </a:pPr>
                      <a:r>
                        <a:rPr lang="en-US" sz="1150" dirty="0">
                          <a:solidFill>
                            <a:srgbClr val="25B98C"/>
                          </a:solidFill>
                          <a:latin typeface="Calibri" pitchFamily="34" charset="0"/>
                          <a:ea typeface="Calibri" pitchFamily="34" charset="-122"/>
                          <a:cs typeface="Calibri" pitchFamily="34" charset="-120"/>
                        </a:rPr>
                        <a:t>730 FCFA</a:t>
                      </a:r>
                      <a:endParaRPr lang="en-US" sz="1150" dirty="0">
                        <a:latin typeface="Calibri" charset="0"/>
                        <a:ea typeface="Calibri" charset="0"/>
                        <a:cs typeface="Calibri" charset="0"/>
                      </a:endParaRPr>
                    </a:p>
                  </a:txBody>
                  <a:tcPr marL="127000" marR="127000" marT="50800" marB="50800" anchor="ctr">
                    <a:lnL w="12700" cap="flat" cmpd="sng" algn="ctr">
                      <a:solidFill>
                        <a:srgbClr val="1E4738"/>
                      </a:solidFill>
                      <a:prstDash val="solid"/>
                      <a:round/>
                      <a:headEnd type="none" w="med" len="med"/>
                      <a:tailEnd type="none" w="med" len="med"/>
                    </a:lnL>
                    <a:lnR w="12700" cap="flat" cmpd="sng" algn="ctr">
                      <a:solidFill>
                        <a:srgbClr val="1E4738"/>
                      </a:solidFill>
                      <a:prstDash val="solid"/>
                      <a:round/>
                      <a:headEnd type="none" w="med" len="med"/>
                      <a:tailEnd type="none" w="med" len="med"/>
                    </a:lnR>
                    <a:lnT w="12700" cap="flat" cmpd="sng" algn="ctr">
                      <a:solidFill>
                        <a:srgbClr val="1E4738"/>
                      </a:solidFill>
                      <a:prstDash val="solid"/>
                      <a:round/>
                      <a:headEnd type="none" w="med" len="med"/>
                      <a:tailEnd type="none" w="med" len="med"/>
                    </a:lnT>
                    <a:lnB w="12700" cap="flat" cmpd="sng" algn="ctr">
                      <a:solidFill>
                        <a:srgbClr val="1E4738"/>
                      </a:solidFill>
                      <a:prstDash val="solid"/>
                      <a:round/>
                      <a:headEnd type="none" w="med" len="med"/>
                      <a:tailEnd type="none" w="med" len="med"/>
                    </a:lnB>
                    <a:solidFill>
                      <a:srgbClr val="102A21"/>
                    </a:solidFill>
                  </a:tcPr>
                </a:tc>
              </a:tr>
            </a:tbl>
          </a:graphicData>
        </a:graphic>
      </p:graphicFrame>
      <p:sp>
        <p:nvSpPr>
          <p:cNvPr id="7" name="av_src"/>
          <p:cNvSpPr txBox="1"/>
          <p:nvPr/>
        </p:nvSpPr>
        <p:spPr>
          <a:xfrm>
            <a:off x="640080" y="5797296"/>
            <a:ext cx="10911535" cy="320040"/>
          </a:xfrm>
          <a:prstGeom prst="rect">
            <a:avLst/>
          </a:prstGeom>
          <a:noFill/>
          <a:ln/>
        </p:spPr>
        <p:txBody>
          <a:bodyPr wrap="square" lIns="0" tIns="0" rIns="0" bIns="0" rtlCol="0" anchor="ctr"/>
          <a:lstStyle/>
          <a:p>
            <a:pPr indent="0" marL="0">
              <a:buNone/>
            </a:pPr>
            <a:r>
              <a:rPr lang="en-US" sz="950" i="1" dirty="0">
                <a:solidFill>
                  <a:srgbClr val="9CB6A9"/>
                </a:solidFill>
                <a:latin typeface="Calibri" pitchFamily="34" charset="0"/>
                <a:ea typeface="Calibri" pitchFamily="34" charset="-122"/>
                <a:cs typeface="Calibri" pitchFamily="34" charset="-120"/>
              </a:rPr>
              <a:t>Relevé sur la base de données de production et sur les journaux du système, septembre 2026 ; valeurs de départ issues de l’étude de l’existant.</a:t>
            </a:r>
            <a:endParaRPr lang="en-US" sz="950" dirty="0"/>
          </a:p>
        </p:txBody>
      </p:sp>
      <p:sp>
        <p:nvSpPr>
          <p:cNvPr id="8" name="Text 5"/>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9" name="Text 6"/>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26</a:t>
            </a:r>
            <a:endParaRPr lang="en-US" sz="10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additive="base">
                                        <p:cTn id="8" dur="500" fill="hold"/>
                                        <p:tgtEl>
                                          <p:spTgt spid="5"/>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00"/>
                                        <p:tgtEl>
                                          <p:spTgt spid="6"/>
                                        </p:tgtEl>
                                      </p:cBhvr>
                                    </p:animEffect>
                                    <p:anim calcmode="lin" valueType="num">
                                      <p:cBhvr additive="base">
                                        <p:cTn id="12" dur="700" fill="hold"/>
                                        <p:tgtEl>
                                          <p:spTgt spid="6"/>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11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7">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VÉRIFICATION DES HYPOTHÈSES</a:t>
            </a:r>
            <a:endParaRPr lang="en-US" sz="1100" dirty="0"/>
          </a:p>
        </p:txBody>
      </p:sp>
      <p:sp>
        <p:nvSpPr>
          <p:cNvPr id="3" name="vh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200" b="1" dirty="0">
                <a:solidFill>
                  <a:srgbClr val="F4F1E9"/>
                </a:solidFill>
                <a:latin typeface="Cambria" pitchFamily="34" charset="0"/>
                <a:ea typeface="Cambria" pitchFamily="34" charset="-122"/>
                <a:cs typeface="Cambria" pitchFamily="34" charset="-120"/>
              </a:rPr>
              <a:t>Quatre hypothèses confirmées, une réserve assumée</a:t>
            </a:r>
            <a:endParaRPr lang="en-US" sz="3200" dirty="0"/>
          </a:p>
        </p:txBody>
      </p:sp>
      <p:sp>
        <p:nvSpPr>
          <p:cNvPr id="4" name="vh_0"/>
          <p:cNvSpPr/>
          <p:nvPr/>
        </p:nvSpPr>
        <p:spPr>
          <a:xfrm>
            <a:off x="640080" y="1783080"/>
            <a:ext cx="10911535" cy="804672"/>
          </a:xfrm>
          <a:prstGeom prst="roundRect">
            <a:avLst>
              <a:gd name="adj" fmla="val 681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5" name="Text 3"/>
          <p:cNvSpPr txBox="1"/>
          <p:nvPr/>
        </p:nvSpPr>
        <p:spPr>
          <a:xfrm>
            <a:off x="859536" y="1874520"/>
            <a:ext cx="658368" cy="292608"/>
          </a:xfrm>
          <a:prstGeom prst="rect">
            <a:avLst/>
          </a:prstGeom>
          <a:noFill/>
          <a:ln/>
        </p:spPr>
        <p:txBody>
          <a:bodyPr wrap="square" lIns="0" tIns="0" rIns="0" bIns="0" rtlCol="0" anchor="ctr"/>
          <a:lstStyle/>
          <a:p>
            <a:pPr indent="0" marL="0">
              <a:buNone/>
            </a:pPr>
            <a:r>
              <a:rPr lang="en-US" sz="1500" b="1" dirty="0">
                <a:solidFill>
                  <a:srgbClr val="D4A62A"/>
                </a:solidFill>
                <a:latin typeface="Cambria" pitchFamily="34" charset="0"/>
                <a:ea typeface="Cambria" pitchFamily="34" charset="-122"/>
                <a:cs typeface="Cambria" pitchFamily="34" charset="-120"/>
              </a:rPr>
              <a:t>HS 1</a:t>
            </a:r>
            <a:endParaRPr lang="en-US" sz="1500" dirty="0"/>
          </a:p>
        </p:txBody>
      </p:sp>
      <p:sp>
        <p:nvSpPr>
          <p:cNvPr id="6" name="Text 4"/>
          <p:cNvSpPr txBox="1"/>
          <p:nvPr/>
        </p:nvSpPr>
        <p:spPr>
          <a:xfrm>
            <a:off x="859536" y="2185416"/>
            <a:ext cx="1783080" cy="292608"/>
          </a:xfrm>
          <a:prstGeom prst="rect">
            <a:avLst/>
          </a:prstGeom>
          <a:noFill/>
          <a:ln/>
        </p:spPr>
        <p:txBody>
          <a:bodyPr wrap="square" lIns="0" tIns="0" rIns="0" bIns="0" rtlCol="0" anchor="ctr"/>
          <a:lstStyle/>
          <a:p>
            <a:pPr indent="0" marL="0">
              <a:buNone/>
            </a:pPr>
            <a:r>
              <a:rPr lang="en-US" sz="1000" dirty="0">
                <a:solidFill>
                  <a:srgbClr val="9CB6A9"/>
                </a:solidFill>
                <a:latin typeface="Calibri" pitchFamily="34" charset="0"/>
                <a:ea typeface="Calibri" pitchFamily="34" charset="-122"/>
                <a:cs typeface="Calibri" pitchFamily="34" charset="-120"/>
              </a:rPr>
              <a:t>Restitution spatiale</a:t>
            </a:r>
            <a:endParaRPr lang="en-US" sz="1000" dirty="0"/>
          </a:p>
        </p:txBody>
      </p:sp>
      <p:sp>
        <p:nvSpPr>
          <p:cNvPr id="7" name="Text 5"/>
          <p:cNvSpPr txBox="1"/>
          <p:nvPr/>
        </p:nvSpPr>
        <p:spPr>
          <a:xfrm>
            <a:off x="2743200" y="1892808"/>
            <a:ext cx="6400800" cy="603504"/>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Parcours 360° de salle en salle ; 3D pour l’examen sous tous les angles ; réalité augmentée à l’échelle relevée sur iOS et Android. La perception des dimensions n’est obtenue que par la réalité augmentée, jamais par la rotation à l’écran.</a:t>
            </a:r>
            <a:endParaRPr lang="en-US" sz="1050" dirty="0"/>
          </a:p>
        </p:txBody>
      </p:sp>
      <p:sp>
        <p:nvSpPr>
          <p:cNvPr id="8" name="Shape 6"/>
          <p:cNvSpPr/>
          <p:nvPr/>
        </p:nvSpPr>
        <p:spPr>
          <a:xfrm>
            <a:off x="9326880" y="1965960"/>
            <a:ext cx="1234440" cy="384048"/>
          </a:xfrm>
          <a:prstGeom prst="roundRect">
            <a:avLst>
              <a:gd name="adj" fmla="val 23810"/>
            </a:avLst>
          </a:prstGeom>
          <a:solidFill>
            <a:srgbClr val="0E6B4F"/>
          </a:solidFill>
          <a:ln w="12700">
            <a:solidFill>
              <a:srgbClr val="25B98C"/>
            </a:solidFill>
            <a:prstDash val="solid"/>
          </a:ln>
        </p:spPr>
      </p:sp>
      <p:sp>
        <p:nvSpPr>
          <p:cNvPr id="9" name="Text 7"/>
          <p:cNvSpPr txBox="1"/>
          <p:nvPr/>
        </p:nvSpPr>
        <p:spPr>
          <a:xfrm>
            <a:off x="9326880" y="1965960"/>
            <a:ext cx="1234440" cy="384048"/>
          </a:xfrm>
          <a:prstGeom prst="rect">
            <a:avLst/>
          </a:prstGeom>
          <a:noFill/>
          <a:ln/>
        </p:spPr>
        <p:txBody>
          <a:bodyPr wrap="square" lIns="0" tIns="0" rIns="0" bIns="0" rtlCol="0" anchor="ctr"/>
          <a:lstStyle/>
          <a:p>
            <a:pPr algn="ctr" indent="0" marL="0">
              <a:buNone/>
            </a:pPr>
            <a:r>
              <a:rPr lang="en-US" sz="1000" b="1" spc="80" kern="0" dirty="0">
                <a:solidFill>
                  <a:srgbClr val="F0D68A"/>
                </a:solidFill>
                <a:latin typeface="Calibri" pitchFamily="34" charset="0"/>
                <a:ea typeface="Calibri" pitchFamily="34" charset="-122"/>
                <a:cs typeface="Calibri" pitchFamily="34" charset="-120"/>
              </a:rPr>
              <a:t>CONFIRMÉE</a:t>
            </a:r>
            <a:endParaRPr lang="en-US" sz="1000" dirty="0"/>
          </a:p>
        </p:txBody>
      </p:sp>
      <p:sp>
        <p:nvSpPr>
          <p:cNvPr id="10" name="Text 8"/>
          <p:cNvSpPr txBox="1"/>
          <p:nvPr/>
        </p:nvSpPr>
        <p:spPr>
          <a:xfrm>
            <a:off x="10652760" y="1911096"/>
            <a:ext cx="868680" cy="548640"/>
          </a:xfrm>
          <a:prstGeom prst="rect">
            <a:avLst/>
          </a:prstGeom>
          <a:noFill/>
          <a:ln/>
        </p:spPr>
        <p:txBody>
          <a:bodyPr wrap="square" lIns="0" tIns="0" rIns="0" bIns="0" rtlCol="0" anchor="ctr"/>
          <a:lstStyle/>
          <a:p>
            <a:pPr indent="0" marL="0">
              <a:lnSpc>
                <a:spcPts val="1000"/>
              </a:lnSpc>
              <a:buNone/>
            </a:pPr>
            <a:r>
              <a:rPr lang="en-US" sz="800" i="1" dirty="0">
                <a:solidFill>
                  <a:srgbClr val="9CB6A9"/>
                </a:solidFill>
                <a:latin typeface="Calibri" pitchFamily="34" charset="0"/>
                <a:ea typeface="Calibri" pitchFamily="34" charset="-122"/>
                <a:cs typeface="Calibri" pitchFamily="34" charset="-120"/>
              </a:rPr>
              <a:t>avec la précision que trois dispositifs distincts sont requis</a:t>
            </a:r>
            <a:endParaRPr lang="en-US" sz="800" dirty="0"/>
          </a:p>
        </p:txBody>
      </p:sp>
      <p:sp>
        <p:nvSpPr>
          <p:cNvPr id="11" name="vh_1"/>
          <p:cNvSpPr/>
          <p:nvPr/>
        </p:nvSpPr>
        <p:spPr>
          <a:xfrm>
            <a:off x="640080" y="2679192"/>
            <a:ext cx="10911535" cy="804672"/>
          </a:xfrm>
          <a:prstGeom prst="roundRect">
            <a:avLst>
              <a:gd name="adj" fmla="val 681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2" name="Text 10"/>
          <p:cNvSpPr txBox="1"/>
          <p:nvPr/>
        </p:nvSpPr>
        <p:spPr>
          <a:xfrm>
            <a:off x="859536" y="2770632"/>
            <a:ext cx="658368" cy="292608"/>
          </a:xfrm>
          <a:prstGeom prst="rect">
            <a:avLst/>
          </a:prstGeom>
          <a:noFill/>
          <a:ln/>
        </p:spPr>
        <p:txBody>
          <a:bodyPr wrap="square" lIns="0" tIns="0" rIns="0" bIns="0" rtlCol="0" anchor="ctr"/>
          <a:lstStyle/>
          <a:p>
            <a:pPr indent="0" marL="0">
              <a:buNone/>
            </a:pPr>
            <a:r>
              <a:rPr lang="en-US" sz="1500" b="1" dirty="0">
                <a:solidFill>
                  <a:srgbClr val="D4A62A"/>
                </a:solidFill>
                <a:latin typeface="Cambria" pitchFamily="34" charset="0"/>
                <a:ea typeface="Cambria" pitchFamily="34" charset="-122"/>
                <a:cs typeface="Cambria" pitchFamily="34" charset="-120"/>
              </a:rPr>
              <a:t>HS 2</a:t>
            </a:r>
            <a:endParaRPr lang="en-US" sz="1500" dirty="0"/>
          </a:p>
        </p:txBody>
      </p:sp>
      <p:sp>
        <p:nvSpPr>
          <p:cNvPr id="13" name="Text 11"/>
          <p:cNvSpPr txBox="1"/>
          <p:nvPr/>
        </p:nvSpPr>
        <p:spPr>
          <a:xfrm>
            <a:off x="859536" y="3081528"/>
            <a:ext cx="1783080" cy="292608"/>
          </a:xfrm>
          <a:prstGeom prst="rect">
            <a:avLst/>
          </a:prstGeom>
          <a:noFill/>
          <a:ln/>
        </p:spPr>
        <p:txBody>
          <a:bodyPr wrap="square" lIns="0" tIns="0" rIns="0" bIns="0" rtlCol="0" anchor="ctr"/>
          <a:lstStyle/>
          <a:p>
            <a:pPr indent="0" marL="0">
              <a:buNone/>
            </a:pPr>
            <a:r>
              <a:rPr lang="en-US" sz="1000" dirty="0">
                <a:solidFill>
                  <a:srgbClr val="9CB6A9"/>
                </a:solidFill>
                <a:latin typeface="Calibri" pitchFamily="34" charset="0"/>
                <a:ea typeface="Calibri" pitchFamily="34" charset="-122"/>
                <a:cs typeface="Calibri" pitchFamily="34" charset="-120"/>
              </a:rPr>
              <a:t>Rapprochement documentaire</a:t>
            </a:r>
            <a:endParaRPr lang="en-US" sz="1000" dirty="0"/>
          </a:p>
        </p:txBody>
      </p:sp>
      <p:sp>
        <p:nvSpPr>
          <p:cNvPr id="14" name="Text 12"/>
          <p:cNvSpPr txBox="1"/>
          <p:nvPr/>
        </p:nvSpPr>
        <p:spPr>
          <a:xfrm>
            <a:off x="2743200" y="2788920"/>
            <a:ext cx="6400800" cy="603504"/>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5 collections ouvertes interrogées ; 41 œuvres apparentées identifiées ; meilleur score de 90 sur 100 ; le gain apporté par la reformulation est mesuré (57 → 85).</a:t>
            </a:r>
            <a:endParaRPr lang="en-US" sz="1050" dirty="0"/>
          </a:p>
        </p:txBody>
      </p:sp>
      <p:sp>
        <p:nvSpPr>
          <p:cNvPr id="15" name="Shape 13"/>
          <p:cNvSpPr/>
          <p:nvPr/>
        </p:nvSpPr>
        <p:spPr>
          <a:xfrm>
            <a:off x="9326880" y="2862072"/>
            <a:ext cx="1234440" cy="384048"/>
          </a:xfrm>
          <a:prstGeom prst="roundRect">
            <a:avLst>
              <a:gd name="adj" fmla="val 23810"/>
            </a:avLst>
          </a:prstGeom>
          <a:solidFill>
            <a:srgbClr val="0E6B4F"/>
          </a:solidFill>
          <a:ln w="12700">
            <a:solidFill>
              <a:srgbClr val="25B98C"/>
            </a:solidFill>
            <a:prstDash val="solid"/>
          </a:ln>
        </p:spPr>
      </p:sp>
      <p:sp>
        <p:nvSpPr>
          <p:cNvPr id="16" name="Text 14"/>
          <p:cNvSpPr txBox="1"/>
          <p:nvPr/>
        </p:nvSpPr>
        <p:spPr>
          <a:xfrm>
            <a:off x="9326880" y="2862072"/>
            <a:ext cx="1234440" cy="384048"/>
          </a:xfrm>
          <a:prstGeom prst="rect">
            <a:avLst/>
          </a:prstGeom>
          <a:noFill/>
          <a:ln/>
        </p:spPr>
        <p:txBody>
          <a:bodyPr wrap="square" lIns="0" tIns="0" rIns="0" bIns="0" rtlCol="0" anchor="ctr"/>
          <a:lstStyle/>
          <a:p>
            <a:pPr algn="ctr" indent="0" marL="0">
              <a:buNone/>
            </a:pPr>
            <a:r>
              <a:rPr lang="en-US" sz="1000" b="1" spc="80" kern="0" dirty="0">
                <a:solidFill>
                  <a:srgbClr val="F0D68A"/>
                </a:solidFill>
                <a:latin typeface="Calibri" pitchFamily="34" charset="0"/>
                <a:ea typeface="Calibri" pitchFamily="34" charset="-122"/>
                <a:cs typeface="Calibri" pitchFamily="34" charset="-120"/>
              </a:rPr>
              <a:t>CONFIRMÉE</a:t>
            </a:r>
            <a:endParaRPr lang="en-US" sz="1000" dirty="0"/>
          </a:p>
        </p:txBody>
      </p:sp>
      <p:sp>
        <p:nvSpPr>
          <p:cNvPr id="17" name="vh_2"/>
          <p:cNvSpPr/>
          <p:nvPr/>
        </p:nvSpPr>
        <p:spPr>
          <a:xfrm>
            <a:off x="640080" y="3575304"/>
            <a:ext cx="10911535" cy="804672"/>
          </a:xfrm>
          <a:prstGeom prst="roundRect">
            <a:avLst>
              <a:gd name="adj" fmla="val 681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8" name="Text 16"/>
          <p:cNvSpPr txBox="1"/>
          <p:nvPr/>
        </p:nvSpPr>
        <p:spPr>
          <a:xfrm>
            <a:off x="859536" y="3666744"/>
            <a:ext cx="658368" cy="292608"/>
          </a:xfrm>
          <a:prstGeom prst="rect">
            <a:avLst/>
          </a:prstGeom>
          <a:noFill/>
          <a:ln/>
        </p:spPr>
        <p:txBody>
          <a:bodyPr wrap="square" lIns="0" tIns="0" rIns="0" bIns="0" rtlCol="0" anchor="ctr"/>
          <a:lstStyle/>
          <a:p>
            <a:pPr indent="0" marL="0">
              <a:buNone/>
            </a:pPr>
            <a:r>
              <a:rPr lang="en-US" sz="1500" b="1" dirty="0">
                <a:solidFill>
                  <a:srgbClr val="D4A62A"/>
                </a:solidFill>
                <a:latin typeface="Cambria" pitchFamily="34" charset="0"/>
                <a:ea typeface="Cambria" pitchFamily="34" charset="-122"/>
                <a:cs typeface="Cambria" pitchFamily="34" charset="-120"/>
              </a:rPr>
              <a:t>HS 3</a:t>
            </a:r>
            <a:endParaRPr lang="en-US" sz="1500" dirty="0"/>
          </a:p>
        </p:txBody>
      </p:sp>
      <p:sp>
        <p:nvSpPr>
          <p:cNvPr id="19" name="Text 17"/>
          <p:cNvSpPr txBox="1"/>
          <p:nvPr/>
        </p:nvSpPr>
        <p:spPr>
          <a:xfrm>
            <a:off x="859536" y="3977640"/>
            <a:ext cx="1783080" cy="292608"/>
          </a:xfrm>
          <a:prstGeom prst="rect">
            <a:avLst/>
          </a:prstGeom>
          <a:noFill/>
          <a:ln/>
        </p:spPr>
        <p:txBody>
          <a:bodyPr wrap="square" lIns="0" tIns="0" rIns="0" bIns="0" rtlCol="0" anchor="ctr"/>
          <a:lstStyle/>
          <a:p>
            <a:pPr indent="0" marL="0">
              <a:buNone/>
            </a:pPr>
            <a:r>
              <a:rPr lang="en-US" sz="1000" dirty="0">
                <a:solidFill>
                  <a:srgbClr val="9CB6A9"/>
                </a:solidFill>
                <a:latin typeface="Calibri" pitchFamily="34" charset="0"/>
                <a:ea typeface="Calibri" pitchFamily="34" charset="-122"/>
                <a:cs typeface="Calibri" pitchFamily="34" charset="-120"/>
              </a:rPr>
              <a:t>Ancrage documentaire</a:t>
            </a:r>
            <a:endParaRPr lang="en-US" sz="1000" dirty="0"/>
          </a:p>
        </p:txBody>
      </p:sp>
      <p:sp>
        <p:nvSpPr>
          <p:cNvPr id="20" name="Text 18"/>
          <p:cNvSpPr txBox="1"/>
          <p:nvPr/>
        </p:nvSpPr>
        <p:spPr>
          <a:xfrm>
            <a:off x="2743200" y="3685032"/>
            <a:ext cx="6400800" cy="603504"/>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Les trois garde-fous produisent un assistant qui refuse les sujets hors périmètre, cite ses sources et déclare son ignorance. Le journal des questions sans réponse objective les limites restantes.</a:t>
            </a:r>
            <a:endParaRPr lang="en-US" sz="1050" dirty="0"/>
          </a:p>
        </p:txBody>
      </p:sp>
      <p:sp>
        <p:nvSpPr>
          <p:cNvPr id="21" name="Shape 19"/>
          <p:cNvSpPr/>
          <p:nvPr/>
        </p:nvSpPr>
        <p:spPr>
          <a:xfrm>
            <a:off x="9326880" y="3758184"/>
            <a:ext cx="1234440" cy="384048"/>
          </a:xfrm>
          <a:prstGeom prst="roundRect">
            <a:avLst>
              <a:gd name="adj" fmla="val 23810"/>
            </a:avLst>
          </a:prstGeom>
          <a:solidFill>
            <a:srgbClr val="0E6B4F"/>
          </a:solidFill>
          <a:ln w="12700">
            <a:solidFill>
              <a:srgbClr val="25B98C"/>
            </a:solidFill>
            <a:prstDash val="solid"/>
          </a:ln>
        </p:spPr>
      </p:sp>
      <p:sp>
        <p:nvSpPr>
          <p:cNvPr id="22" name="Text 20"/>
          <p:cNvSpPr txBox="1"/>
          <p:nvPr/>
        </p:nvSpPr>
        <p:spPr>
          <a:xfrm>
            <a:off x="9326880" y="3758184"/>
            <a:ext cx="1234440" cy="384048"/>
          </a:xfrm>
          <a:prstGeom prst="rect">
            <a:avLst/>
          </a:prstGeom>
          <a:noFill/>
          <a:ln/>
        </p:spPr>
        <p:txBody>
          <a:bodyPr wrap="square" lIns="0" tIns="0" rIns="0" bIns="0" rtlCol="0" anchor="ctr"/>
          <a:lstStyle/>
          <a:p>
            <a:pPr algn="ctr" indent="0" marL="0">
              <a:buNone/>
            </a:pPr>
            <a:r>
              <a:rPr lang="en-US" sz="1000" b="1" spc="80" kern="0" dirty="0">
                <a:solidFill>
                  <a:srgbClr val="F0D68A"/>
                </a:solidFill>
                <a:latin typeface="Calibri" pitchFamily="34" charset="0"/>
                <a:ea typeface="Calibri" pitchFamily="34" charset="-122"/>
                <a:cs typeface="Calibri" pitchFamily="34" charset="-120"/>
              </a:rPr>
              <a:t>CONFIRMÉE</a:t>
            </a:r>
            <a:endParaRPr lang="en-US" sz="1000" dirty="0"/>
          </a:p>
        </p:txBody>
      </p:sp>
      <p:sp>
        <p:nvSpPr>
          <p:cNvPr id="23" name="vh_3"/>
          <p:cNvSpPr/>
          <p:nvPr/>
        </p:nvSpPr>
        <p:spPr>
          <a:xfrm>
            <a:off x="640080" y="4471416"/>
            <a:ext cx="10911535" cy="804672"/>
          </a:xfrm>
          <a:prstGeom prst="roundRect">
            <a:avLst>
              <a:gd name="adj" fmla="val 6818"/>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4" name="Text 22"/>
          <p:cNvSpPr txBox="1"/>
          <p:nvPr/>
        </p:nvSpPr>
        <p:spPr>
          <a:xfrm>
            <a:off x="859536" y="4562856"/>
            <a:ext cx="658368" cy="292608"/>
          </a:xfrm>
          <a:prstGeom prst="rect">
            <a:avLst/>
          </a:prstGeom>
          <a:noFill/>
          <a:ln/>
        </p:spPr>
        <p:txBody>
          <a:bodyPr wrap="square" lIns="0" tIns="0" rIns="0" bIns="0" rtlCol="0" anchor="ctr"/>
          <a:lstStyle/>
          <a:p>
            <a:pPr indent="0" marL="0">
              <a:buNone/>
            </a:pPr>
            <a:r>
              <a:rPr lang="en-US" sz="1500" b="1" dirty="0">
                <a:solidFill>
                  <a:srgbClr val="D4A62A"/>
                </a:solidFill>
                <a:latin typeface="Cambria" pitchFamily="34" charset="0"/>
                <a:ea typeface="Cambria" pitchFamily="34" charset="-122"/>
                <a:cs typeface="Cambria" pitchFamily="34" charset="-120"/>
              </a:rPr>
              <a:t>HS 4</a:t>
            </a:r>
            <a:endParaRPr lang="en-US" sz="1500" dirty="0"/>
          </a:p>
        </p:txBody>
      </p:sp>
      <p:sp>
        <p:nvSpPr>
          <p:cNvPr id="25" name="Text 23"/>
          <p:cNvSpPr txBox="1"/>
          <p:nvPr/>
        </p:nvSpPr>
        <p:spPr>
          <a:xfrm>
            <a:off x="859536" y="4873752"/>
            <a:ext cx="1783080" cy="292608"/>
          </a:xfrm>
          <a:prstGeom prst="rect">
            <a:avLst/>
          </a:prstGeom>
          <a:noFill/>
          <a:ln/>
        </p:spPr>
        <p:txBody>
          <a:bodyPr wrap="square" lIns="0" tIns="0" rIns="0" bIns="0" rtlCol="0" anchor="ctr"/>
          <a:lstStyle/>
          <a:p>
            <a:pPr indent="0" marL="0">
              <a:buNone/>
            </a:pPr>
            <a:r>
              <a:rPr lang="en-US" sz="1000" dirty="0">
                <a:solidFill>
                  <a:srgbClr val="9CB6A9"/>
                </a:solidFill>
                <a:latin typeface="Calibri" pitchFamily="34" charset="0"/>
                <a:ea typeface="Calibri" pitchFamily="34" charset="-122"/>
                <a:cs typeface="Calibri" pitchFamily="34" charset="-120"/>
              </a:rPr>
              <a:t>Isolation des données</a:t>
            </a:r>
            <a:endParaRPr lang="en-US" sz="1000" dirty="0"/>
          </a:p>
        </p:txBody>
      </p:sp>
      <p:sp>
        <p:nvSpPr>
          <p:cNvPr id="26" name="Text 24"/>
          <p:cNvSpPr txBox="1"/>
          <p:nvPr/>
        </p:nvSpPr>
        <p:spPr>
          <a:xfrm>
            <a:off x="2743200" y="4581144"/>
            <a:ext cx="6400800" cy="603504"/>
          </a:xfrm>
          <a:prstGeom prst="rect">
            <a:avLst/>
          </a:prstGeom>
          <a:noFill/>
          <a:ln/>
        </p:spPr>
        <p:txBody>
          <a:bodyPr wrap="square" lIns="0" tIns="0" rIns="0" bIns="0" rtlCol="0" anchor="ctr"/>
          <a:lstStyle/>
          <a:p>
            <a:pPr indent="0" marL="0">
              <a:lnSpc>
                <a:spcPts val="1400"/>
              </a:lnSpc>
              <a:buNone/>
            </a:pPr>
            <a:r>
              <a:rPr lang="en-US" sz="1050" dirty="0">
                <a:solidFill>
                  <a:srgbClr val="F4F1E9"/>
                </a:solidFill>
                <a:latin typeface="Calibri" pitchFamily="34" charset="0"/>
                <a:ea typeface="Calibri" pitchFamily="34" charset="-122"/>
                <a:cs typeface="Calibri" pitchFamily="34" charset="-120"/>
              </a:rPr>
              <a:t>51 tables protégées sans exception par 101 politiques ; rattachement automatique à l’insertion ; accueil d’une institution sans modification du code ; deux fuites détectées, l’une et l’autre d’origine applicative.</a:t>
            </a:r>
            <a:endParaRPr lang="en-US" sz="1050" dirty="0"/>
          </a:p>
        </p:txBody>
      </p:sp>
      <p:sp>
        <p:nvSpPr>
          <p:cNvPr id="27" name="Shape 25"/>
          <p:cNvSpPr/>
          <p:nvPr/>
        </p:nvSpPr>
        <p:spPr>
          <a:xfrm>
            <a:off x="9326880" y="4654296"/>
            <a:ext cx="1234440" cy="384048"/>
          </a:xfrm>
          <a:prstGeom prst="roundRect">
            <a:avLst>
              <a:gd name="adj" fmla="val 23810"/>
            </a:avLst>
          </a:prstGeom>
          <a:solidFill>
            <a:srgbClr val="0E6B4F"/>
          </a:solidFill>
          <a:ln w="12700">
            <a:solidFill>
              <a:srgbClr val="25B98C"/>
            </a:solidFill>
            <a:prstDash val="solid"/>
          </a:ln>
        </p:spPr>
      </p:sp>
      <p:sp>
        <p:nvSpPr>
          <p:cNvPr id="28" name="Text 26"/>
          <p:cNvSpPr txBox="1"/>
          <p:nvPr/>
        </p:nvSpPr>
        <p:spPr>
          <a:xfrm>
            <a:off x="9326880" y="4654296"/>
            <a:ext cx="1234440" cy="384048"/>
          </a:xfrm>
          <a:prstGeom prst="rect">
            <a:avLst/>
          </a:prstGeom>
          <a:noFill/>
          <a:ln/>
        </p:spPr>
        <p:txBody>
          <a:bodyPr wrap="square" lIns="0" tIns="0" rIns="0" bIns="0" rtlCol="0" anchor="ctr"/>
          <a:lstStyle/>
          <a:p>
            <a:pPr algn="ctr" indent="0" marL="0">
              <a:buNone/>
            </a:pPr>
            <a:r>
              <a:rPr lang="en-US" sz="1000" b="1" spc="80" kern="0" dirty="0">
                <a:solidFill>
                  <a:srgbClr val="F0D68A"/>
                </a:solidFill>
                <a:latin typeface="Calibri" pitchFamily="34" charset="0"/>
                <a:ea typeface="Calibri" pitchFamily="34" charset="-122"/>
                <a:cs typeface="Calibri" pitchFamily="34" charset="-120"/>
              </a:rPr>
              <a:t>CONFIRMÉE</a:t>
            </a:r>
            <a:endParaRPr lang="en-US" sz="1000" dirty="0"/>
          </a:p>
        </p:txBody>
      </p:sp>
      <p:sp>
        <p:nvSpPr>
          <p:cNvPr id="29" name="Text 27"/>
          <p:cNvSpPr txBox="1"/>
          <p:nvPr/>
        </p:nvSpPr>
        <p:spPr>
          <a:xfrm>
            <a:off x="10652760" y="4599432"/>
            <a:ext cx="868680" cy="548640"/>
          </a:xfrm>
          <a:prstGeom prst="rect">
            <a:avLst/>
          </a:prstGeom>
          <a:noFill/>
          <a:ln/>
        </p:spPr>
        <p:txBody>
          <a:bodyPr wrap="square" lIns="0" tIns="0" rIns="0" bIns="0" rtlCol="0" anchor="ctr"/>
          <a:lstStyle/>
          <a:p>
            <a:pPr indent="0" marL="0">
              <a:lnSpc>
                <a:spcPts val="1000"/>
              </a:lnSpc>
              <a:buNone/>
            </a:pPr>
            <a:r>
              <a:rPr lang="en-US" sz="800" i="1" dirty="0">
                <a:solidFill>
                  <a:srgbClr val="9CB6A9"/>
                </a:solidFill>
                <a:latin typeface="Calibri" pitchFamily="34" charset="0"/>
                <a:ea typeface="Calibri" pitchFamily="34" charset="-122"/>
                <a:cs typeface="Calibri" pitchFamily="34" charset="-120"/>
              </a:rPr>
              <a:t>la garantie devant être portée par la base</a:t>
            </a:r>
            <a:endParaRPr lang="en-US" sz="800" dirty="0"/>
          </a:p>
        </p:txBody>
      </p:sp>
      <p:sp>
        <p:nvSpPr>
          <p:cNvPr id="30" name="vh_g"/>
          <p:cNvSpPr/>
          <p:nvPr/>
        </p:nvSpPr>
        <p:spPr>
          <a:xfrm>
            <a:off x="640080" y="5394960"/>
            <a:ext cx="10911535" cy="777240"/>
          </a:xfrm>
          <a:prstGeom prst="roundRect">
            <a:avLst>
              <a:gd name="adj" fmla="val 7059"/>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31" name="Text 29"/>
          <p:cNvSpPr txBox="1"/>
          <p:nvPr/>
        </p:nvSpPr>
        <p:spPr>
          <a:xfrm>
            <a:off x="914400" y="5541264"/>
            <a:ext cx="10362895" cy="502920"/>
          </a:xfrm>
          <a:prstGeom prst="rect">
            <a:avLst/>
          </a:prstGeom>
          <a:noFill/>
          <a:ln/>
        </p:spPr>
        <p:txBody>
          <a:bodyPr wrap="square" lIns="0" tIns="0" rIns="0" bIns="0" rtlCol="0" anchor="ctr"/>
          <a:lstStyle/>
          <a:p>
            <a:pPr indent="0" marL="0">
              <a:lnSpc>
                <a:spcPts val="1600"/>
              </a:lnSpc>
              <a:buNone/>
            </a:pPr>
            <a:r>
              <a:rPr lang="en-US" sz="1050" b="1" spc="160" kern="0" dirty="0">
                <a:solidFill>
                  <a:srgbClr val="D4A62A"/>
                </a:solidFill>
                <a:latin typeface="Calibri" pitchFamily="34" charset="0"/>
                <a:ea typeface="Calibri" pitchFamily="34" charset="-122"/>
                <a:cs typeface="Calibri" pitchFamily="34" charset="-120"/>
              </a:rPr>
              <a:t>HYPOTHÈSE GÉNÉRALE   </a:t>
            </a:r>
            <a:pPr indent="0" marL="0">
              <a:lnSpc>
                <a:spcPts val="1600"/>
              </a:lnSpc>
              <a:buNone/>
            </a:pPr>
            <a:r>
              <a:rPr lang="en-US" sz="1200" dirty="0">
                <a:solidFill>
                  <a:srgbClr val="F4F1E9"/>
                </a:solidFill>
                <a:latin typeface="Calibri" pitchFamily="34" charset="0"/>
                <a:ea typeface="Calibri" pitchFamily="34" charset="-122"/>
                <a:cs typeface="Calibri" pitchFamily="34" charset="-120"/>
              </a:rPr>
              <a:t>Les quatre hypothèses spécifiques étant vérifiées et le dispositif étant en service, l’hypothèse générale est corroborée — </a:t>
            </a:r>
            <a:pPr indent="0" marL="0">
              <a:lnSpc>
                <a:spcPts val="1600"/>
              </a:lnSpc>
              <a:buNone/>
            </a:pPr>
            <a:r>
              <a:rPr lang="en-US" sz="1200" b="1" dirty="0">
                <a:solidFill>
                  <a:srgbClr val="F0D68A"/>
                </a:solidFill>
                <a:latin typeface="Calibri" pitchFamily="34" charset="0"/>
                <a:ea typeface="Calibri" pitchFamily="34" charset="-122"/>
                <a:cs typeface="Calibri" pitchFamily="34" charset="-120"/>
              </a:rPr>
              <a:t>confirmée sous réserve</a:t>
            </a:r>
            <a:pPr indent="0" marL="0">
              <a:lnSpc>
                <a:spcPts val="1600"/>
              </a:lnSpc>
              <a:buNone/>
            </a:pPr>
            <a:r>
              <a:rPr lang="en-US" sz="1200" dirty="0">
                <a:solidFill>
                  <a:srgbClr val="F4F1E9"/>
                </a:solidFill>
                <a:latin typeface="Calibri" pitchFamily="34" charset="0"/>
                <a:ea typeface="Calibri" pitchFamily="34" charset="-122"/>
                <a:cs typeface="Calibri" pitchFamily="34" charset="-120"/>
              </a:rPr>
              <a:t> : la restitution demeure tributaire de la production des médias par l’institution.</a:t>
            </a:r>
            <a:endParaRPr lang="en-US" sz="1050" dirty="0"/>
          </a:p>
        </p:txBody>
      </p:sp>
      <p:sp>
        <p:nvSpPr>
          <p:cNvPr id="32" name="Text 30"/>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3" name="Text 31"/>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27</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3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anim calcmode="lin" valueType="num">
                                      <p:cBhvr additive="base">
                                        <p:cTn id="12" dur="500" fill="hold"/>
                                        <p:tgtEl>
                                          <p:spTgt spid="4"/>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additive="base">
                                        <p:cTn id="16" dur="500" fill="hold"/>
                                        <p:tgtEl>
                                          <p:spTgt spid="11"/>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7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additive="base">
                                        <p:cTn id="20" dur="500" fill="hold"/>
                                        <p:tgtEl>
                                          <p:spTgt spid="17"/>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84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anim calcmode="lin" valueType="num">
                                      <p:cBhvr additive="base">
                                        <p:cTn id="24" dur="500" fill="hold"/>
                                        <p:tgtEl>
                                          <p:spTgt spid="23"/>
                                        </p:tgtEl>
                                        <p:attrNameLst>
                                          <p:attrName>ppt_y</p:attrName>
                                        </p:attrNameLst>
                                      </p:cBhvr>
                                      <p:tavLst>
                                        <p:tav tm="0">
                                          <p:val>
                                            <p:strVal val="#ppt_y+.035"/>
                                          </p:val>
                                        </p:tav>
                                        <p:tav tm="100000">
                                          <p:val>
                                            <p:strVal val="#ppt_y"/>
                                          </p:val>
                                        </p:tav>
                                      </p:tavLst>
                                    </p:anim>
                                  </p:childTnLst>
                                </p:cTn>
                              </p:par>
                              <p:par>
                                <p:cTn id="25" presetID="42" presetClass="entr" presetSubtype="8" fill="hold" grpId="0" nodeType="withEffect">
                                  <p:stCondLst>
                                    <p:cond delay="10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anim calcmode="lin" valueType="num">
                                      <p:cBhvr additive="base">
                                        <p:cTn id="28" dur="500" fill="hold"/>
                                        <p:tgtEl>
                                          <p:spTgt spid="3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8">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5852160" y="1280160"/>
            <a:ext cx="6583680" cy="6583680"/>
          </a:xfrm>
          <a:prstGeom prst="ellipse">
            <a:avLst/>
          </a:prstGeom>
          <a:solidFill>
            <a:srgbClr val="0E6B4F">
              <a:alpha val="7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MODÈLE EXPLICATIF ISSU DES RÉSULTATS</a:t>
            </a:r>
            <a:endParaRPr lang="en-US" sz="1100" dirty="0"/>
          </a:p>
        </p:txBody>
      </p:sp>
      <p:sp>
        <p:nvSpPr>
          <p:cNvPr id="4" name="co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300" b="1" dirty="0">
                <a:solidFill>
                  <a:srgbClr val="F4F1E9"/>
                </a:solidFill>
                <a:latin typeface="Cambria" pitchFamily="34" charset="0"/>
                <a:ea typeface="Cambria" pitchFamily="34" charset="-122"/>
                <a:cs typeface="Cambria" pitchFamily="34" charset="-120"/>
              </a:rPr>
              <a:t>Les quatre continuités de la visite restituée</a:t>
            </a:r>
            <a:endParaRPr lang="en-US" sz="3300" dirty="0"/>
          </a:p>
        </p:txBody>
      </p:sp>
      <p:sp>
        <p:nvSpPr>
          <p:cNvPr id="5" name="co_k"/>
          <p:cNvSpPr txBox="1"/>
          <p:nvPr/>
        </p:nvSpPr>
        <p:spPr>
          <a:xfrm>
            <a:off x="640080" y="1645920"/>
            <a:ext cx="9692640" cy="411480"/>
          </a:xfrm>
          <a:prstGeom prst="rect">
            <a:avLst/>
          </a:prstGeom>
          <a:noFill/>
          <a:ln/>
        </p:spPr>
        <p:txBody>
          <a:bodyPr wrap="square" lIns="0" tIns="0" rIns="0" bIns="0" rtlCol="0" anchor="ctr"/>
          <a:lstStyle/>
          <a:p>
            <a:pPr indent="0" marL="0">
              <a:lnSpc>
                <a:spcPts val="2000"/>
              </a:lnSpc>
              <a:buNone/>
            </a:pPr>
            <a:r>
              <a:rPr lang="en-US" sz="1450" i="1" dirty="0">
                <a:solidFill>
                  <a:srgbClr val="9CB6A9"/>
                </a:solidFill>
                <a:latin typeface="Calibri" pitchFamily="34" charset="0"/>
                <a:ea typeface="Calibri" pitchFamily="34" charset="-122"/>
                <a:cs typeface="Calibri" pitchFamily="34" charset="-120"/>
              </a:rPr>
              <a:t>La rupture d’une seule suffit à faire échouer l’ensemble.</a:t>
            </a:r>
            <a:endParaRPr lang="en-US" sz="1450" dirty="0"/>
          </a:p>
        </p:txBody>
      </p:sp>
      <p:sp>
        <p:nvSpPr>
          <p:cNvPr id="6" name="co_c0"/>
          <p:cNvSpPr/>
          <p:nvPr/>
        </p:nvSpPr>
        <p:spPr>
          <a:xfrm>
            <a:off x="640080" y="2148840"/>
            <a:ext cx="2522144" cy="333756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7" name="Shape 5"/>
          <p:cNvSpPr/>
          <p:nvPr/>
        </p:nvSpPr>
        <p:spPr>
          <a:xfrm>
            <a:off x="1535392" y="2423160"/>
            <a:ext cx="731520" cy="731520"/>
          </a:xfrm>
          <a:prstGeom prst="roundRect">
            <a:avLst>
              <a:gd name="adj" fmla="val 43750"/>
            </a:avLst>
          </a:prstGeom>
          <a:solidFill>
            <a:srgbClr val="0E6B4F"/>
          </a:solidFill>
          <a:ln w="12700">
            <a:solidFill>
              <a:srgbClr val="25B98C"/>
            </a:solidFill>
            <a:prstDash val="solid"/>
          </a:ln>
        </p:spPr>
      </p:sp>
      <p:sp>
        <p:nvSpPr>
          <p:cNvPr id="8" name="Text 6"/>
          <p:cNvSpPr txBox="1"/>
          <p:nvPr/>
        </p:nvSpPr>
        <p:spPr>
          <a:xfrm>
            <a:off x="1535392" y="2423160"/>
            <a:ext cx="731520" cy="731520"/>
          </a:xfrm>
          <a:prstGeom prst="rect">
            <a:avLst/>
          </a:prstGeom>
          <a:noFill/>
          <a:ln/>
        </p:spPr>
        <p:txBody>
          <a:bodyPr wrap="square" lIns="0" tIns="0" rIns="0" bIns="0" rtlCol="0" anchor="ctr"/>
          <a:lstStyle/>
          <a:p>
            <a:pPr algn="ctr" indent="0" marL="0">
              <a:buNone/>
            </a:pPr>
            <a:r>
              <a:rPr lang="en-US" sz="2000" b="1" dirty="0">
                <a:solidFill>
                  <a:srgbClr val="F0D68A"/>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822960" y="3291840"/>
            <a:ext cx="2156384" cy="237744"/>
          </a:xfrm>
          <a:prstGeom prst="rect">
            <a:avLst/>
          </a:prstGeom>
          <a:noFill/>
          <a:ln/>
        </p:spPr>
        <p:txBody>
          <a:bodyPr wrap="square" lIns="0" tIns="0" rIns="0" bIns="0" rtlCol="0" anchor="ctr"/>
          <a:lstStyle/>
          <a:p>
            <a:pPr algn="ctr" indent="0" marL="0">
              <a:buNone/>
            </a:pPr>
            <a:r>
              <a:rPr lang="en-US" sz="900" spc="180" kern="0" dirty="0">
                <a:solidFill>
                  <a:srgbClr val="9CB6A9"/>
                </a:solidFill>
                <a:latin typeface="Calibri" pitchFamily="34" charset="0"/>
                <a:ea typeface="Calibri" pitchFamily="34" charset="-122"/>
                <a:cs typeface="Calibri" pitchFamily="34" charset="-120"/>
              </a:rPr>
              <a:t>CONTINUITÉ</a:t>
            </a:r>
            <a:endParaRPr lang="en-US" sz="900" dirty="0"/>
          </a:p>
        </p:txBody>
      </p:sp>
      <p:sp>
        <p:nvSpPr>
          <p:cNvPr id="10" name="Text 8"/>
          <p:cNvSpPr txBox="1"/>
          <p:nvPr/>
        </p:nvSpPr>
        <p:spPr>
          <a:xfrm>
            <a:off x="822960" y="3511296"/>
            <a:ext cx="2156384" cy="384048"/>
          </a:xfrm>
          <a:prstGeom prst="rect">
            <a:avLst/>
          </a:prstGeom>
          <a:noFill/>
          <a:ln/>
        </p:spPr>
        <p:txBody>
          <a:bodyPr wrap="square" lIns="0" tIns="0" rIns="0" bIns="0" rtlCol="0" anchor="ctr"/>
          <a:lstStyle/>
          <a:p>
            <a:pPr algn="ctr" indent="0" marL="0">
              <a:buNone/>
            </a:pPr>
            <a:r>
              <a:rPr lang="en-US" sz="1900" b="1" dirty="0">
                <a:solidFill>
                  <a:srgbClr val="F0D68A"/>
                </a:solidFill>
                <a:latin typeface="Cambria" pitchFamily="34" charset="0"/>
                <a:ea typeface="Cambria" pitchFamily="34" charset="-122"/>
                <a:cs typeface="Cambria" pitchFamily="34" charset="-120"/>
              </a:rPr>
              <a:t>SPATIALE</a:t>
            </a:r>
            <a:endParaRPr lang="en-US" sz="1900" dirty="0"/>
          </a:p>
        </p:txBody>
      </p:sp>
      <p:sp>
        <p:nvSpPr>
          <p:cNvPr id="11" name="Text 9"/>
          <p:cNvSpPr txBox="1"/>
          <p:nvPr/>
        </p:nvSpPr>
        <p:spPr>
          <a:xfrm>
            <a:off x="877824" y="4041648"/>
            <a:ext cx="2046656" cy="658368"/>
          </a:xfrm>
          <a:prstGeom prst="rect">
            <a:avLst/>
          </a:prstGeom>
          <a:noFill/>
          <a:ln/>
        </p:spPr>
        <p:txBody>
          <a:bodyPr wrap="square" lIns="0" tIns="0" rIns="0" bIns="0" rtlCol="0" anchor="ctr"/>
          <a:lstStyle/>
          <a:p>
            <a:pPr algn="ctr" indent="0" marL="0">
              <a:lnSpc>
                <a:spcPts val="1500"/>
              </a:lnSpc>
              <a:buNone/>
            </a:pPr>
            <a:r>
              <a:rPr lang="en-US" sz="1150" dirty="0">
                <a:solidFill>
                  <a:srgbClr val="F4F1E9"/>
                </a:solidFill>
                <a:latin typeface="Calibri" pitchFamily="34" charset="0"/>
                <a:ea typeface="Calibri" pitchFamily="34" charset="-122"/>
                <a:cs typeface="Calibri" pitchFamily="34" charset="-120"/>
              </a:rPr>
              <a:t>Passer d’un point de vue au suivant sans rupture.</a:t>
            </a:r>
            <a:endParaRPr lang="en-US" sz="1150" dirty="0"/>
          </a:p>
        </p:txBody>
      </p:sp>
      <p:sp>
        <p:nvSpPr>
          <p:cNvPr id="12" name="Text 10"/>
          <p:cNvSpPr txBox="1"/>
          <p:nvPr/>
        </p:nvSpPr>
        <p:spPr>
          <a:xfrm>
            <a:off x="877824" y="4718304"/>
            <a:ext cx="2046656" cy="658368"/>
          </a:xfrm>
          <a:prstGeom prst="rect">
            <a:avLst/>
          </a:prstGeom>
          <a:noFill/>
          <a:ln/>
        </p:spPr>
        <p:txBody>
          <a:bodyPr wrap="square" lIns="0" tIns="0" rIns="0" bIns="0" rtlCol="0" anchor="ctr"/>
          <a:lstStyle/>
          <a:p>
            <a:pPr algn="ctr" indent="0" marL="0">
              <a:lnSpc>
                <a:spcPts val="1400"/>
              </a:lnSpc>
              <a:buNone/>
            </a:pPr>
            <a:r>
              <a:rPr lang="en-US" sz="1050" i="1" dirty="0">
                <a:solidFill>
                  <a:srgbClr val="9CB6A9"/>
                </a:solidFill>
                <a:latin typeface="Calibri" pitchFamily="34" charset="0"/>
                <a:ea typeface="Calibri" pitchFamily="34" charset="-122"/>
                <a:cs typeface="Calibri" pitchFamily="34" charset="-120"/>
              </a:rPr>
              <a:t>Une galerie d’images la brise ; le parcours 360° la tient.</a:t>
            </a:r>
            <a:endParaRPr lang="en-US" sz="1050" dirty="0"/>
          </a:p>
        </p:txBody>
      </p:sp>
      <p:sp>
        <p:nvSpPr>
          <p:cNvPr id="13" name="co_c1"/>
          <p:cNvSpPr/>
          <p:nvPr/>
        </p:nvSpPr>
        <p:spPr>
          <a:xfrm>
            <a:off x="3436544" y="2148840"/>
            <a:ext cx="2522144" cy="333756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4" name="Shape 12"/>
          <p:cNvSpPr/>
          <p:nvPr/>
        </p:nvSpPr>
        <p:spPr>
          <a:xfrm>
            <a:off x="4331856" y="2423160"/>
            <a:ext cx="731520" cy="731520"/>
          </a:xfrm>
          <a:prstGeom prst="roundRect">
            <a:avLst>
              <a:gd name="adj" fmla="val 43750"/>
            </a:avLst>
          </a:prstGeom>
          <a:solidFill>
            <a:srgbClr val="0E6B4F"/>
          </a:solidFill>
          <a:ln w="12700">
            <a:solidFill>
              <a:srgbClr val="25B98C"/>
            </a:solidFill>
            <a:prstDash val="solid"/>
          </a:ln>
        </p:spPr>
      </p:sp>
      <p:sp>
        <p:nvSpPr>
          <p:cNvPr id="15" name="Text 13"/>
          <p:cNvSpPr txBox="1"/>
          <p:nvPr/>
        </p:nvSpPr>
        <p:spPr>
          <a:xfrm>
            <a:off x="4331856" y="2423160"/>
            <a:ext cx="731520" cy="731520"/>
          </a:xfrm>
          <a:prstGeom prst="rect">
            <a:avLst/>
          </a:prstGeom>
          <a:noFill/>
          <a:ln/>
        </p:spPr>
        <p:txBody>
          <a:bodyPr wrap="square" lIns="0" tIns="0" rIns="0" bIns="0" rtlCol="0" anchor="ctr"/>
          <a:lstStyle/>
          <a:p>
            <a:pPr algn="ctr" indent="0" marL="0">
              <a:buNone/>
            </a:pPr>
            <a:r>
              <a:rPr lang="en-US" sz="2000" b="1" dirty="0">
                <a:solidFill>
                  <a:srgbClr val="F0D68A"/>
                </a:solidFill>
                <a:latin typeface="Cambria" pitchFamily="34" charset="0"/>
                <a:ea typeface="Cambria" pitchFamily="34" charset="-122"/>
                <a:cs typeface="Cambria" pitchFamily="34" charset="-120"/>
              </a:rPr>
              <a:t>2</a:t>
            </a:r>
            <a:endParaRPr lang="en-US" sz="2000" dirty="0"/>
          </a:p>
        </p:txBody>
      </p:sp>
      <p:sp>
        <p:nvSpPr>
          <p:cNvPr id="16" name="Text 14"/>
          <p:cNvSpPr txBox="1"/>
          <p:nvPr/>
        </p:nvSpPr>
        <p:spPr>
          <a:xfrm>
            <a:off x="3619424" y="3291840"/>
            <a:ext cx="2156384" cy="237744"/>
          </a:xfrm>
          <a:prstGeom prst="rect">
            <a:avLst/>
          </a:prstGeom>
          <a:noFill/>
          <a:ln/>
        </p:spPr>
        <p:txBody>
          <a:bodyPr wrap="square" lIns="0" tIns="0" rIns="0" bIns="0" rtlCol="0" anchor="ctr"/>
          <a:lstStyle/>
          <a:p>
            <a:pPr algn="ctr" indent="0" marL="0">
              <a:buNone/>
            </a:pPr>
            <a:r>
              <a:rPr lang="en-US" sz="900" spc="180" kern="0" dirty="0">
                <a:solidFill>
                  <a:srgbClr val="9CB6A9"/>
                </a:solidFill>
                <a:latin typeface="Calibri" pitchFamily="34" charset="0"/>
                <a:ea typeface="Calibri" pitchFamily="34" charset="-122"/>
                <a:cs typeface="Calibri" pitchFamily="34" charset="-120"/>
              </a:rPr>
              <a:t>CONTINUITÉ</a:t>
            </a:r>
            <a:endParaRPr lang="en-US" sz="900" dirty="0"/>
          </a:p>
        </p:txBody>
      </p:sp>
      <p:sp>
        <p:nvSpPr>
          <p:cNvPr id="17" name="Text 15"/>
          <p:cNvSpPr txBox="1"/>
          <p:nvPr/>
        </p:nvSpPr>
        <p:spPr>
          <a:xfrm>
            <a:off x="3619424" y="3511296"/>
            <a:ext cx="2156384" cy="384048"/>
          </a:xfrm>
          <a:prstGeom prst="rect">
            <a:avLst/>
          </a:prstGeom>
          <a:noFill/>
          <a:ln/>
        </p:spPr>
        <p:txBody>
          <a:bodyPr wrap="square" lIns="0" tIns="0" rIns="0" bIns="0" rtlCol="0" anchor="ctr"/>
          <a:lstStyle/>
          <a:p>
            <a:pPr algn="ctr" indent="0" marL="0">
              <a:buNone/>
            </a:pPr>
            <a:r>
              <a:rPr lang="en-US" sz="1900" b="1" dirty="0">
                <a:solidFill>
                  <a:srgbClr val="F0D68A"/>
                </a:solidFill>
                <a:latin typeface="Cambria" pitchFamily="34" charset="0"/>
                <a:ea typeface="Cambria" pitchFamily="34" charset="-122"/>
                <a:cs typeface="Cambria" pitchFamily="34" charset="-120"/>
              </a:rPr>
              <a:t>D’ÉCHELLE</a:t>
            </a:r>
            <a:endParaRPr lang="en-US" sz="1900" dirty="0"/>
          </a:p>
        </p:txBody>
      </p:sp>
      <p:sp>
        <p:nvSpPr>
          <p:cNvPr id="18" name="Text 16"/>
          <p:cNvSpPr txBox="1"/>
          <p:nvPr/>
        </p:nvSpPr>
        <p:spPr>
          <a:xfrm>
            <a:off x="3674288" y="4041648"/>
            <a:ext cx="2046656" cy="658368"/>
          </a:xfrm>
          <a:prstGeom prst="rect">
            <a:avLst/>
          </a:prstGeom>
          <a:noFill/>
          <a:ln/>
        </p:spPr>
        <p:txBody>
          <a:bodyPr wrap="square" lIns="0" tIns="0" rIns="0" bIns="0" rtlCol="0" anchor="ctr"/>
          <a:lstStyle/>
          <a:p>
            <a:pPr algn="ctr" indent="0" marL="0">
              <a:lnSpc>
                <a:spcPts val="1500"/>
              </a:lnSpc>
              <a:buNone/>
            </a:pPr>
            <a:r>
              <a:rPr lang="en-US" sz="1150" dirty="0">
                <a:solidFill>
                  <a:srgbClr val="F4F1E9"/>
                </a:solidFill>
                <a:latin typeface="Calibri" pitchFamily="34" charset="0"/>
                <a:ea typeface="Calibri" pitchFamily="34" charset="-122"/>
                <a:cs typeface="Calibri" pitchFamily="34" charset="-120"/>
              </a:rPr>
              <a:t>L’objet doit conserver ses dimensions réelles.</a:t>
            </a:r>
            <a:endParaRPr lang="en-US" sz="1150" dirty="0"/>
          </a:p>
        </p:txBody>
      </p:sp>
      <p:sp>
        <p:nvSpPr>
          <p:cNvPr id="19" name="Text 17"/>
          <p:cNvSpPr txBox="1"/>
          <p:nvPr/>
        </p:nvSpPr>
        <p:spPr>
          <a:xfrm>
            <a:off x="3674288" y="4718304"/>
            <a:ext cx="2046656" cy="658368"/>
          </a:xfrm>
          <a:prstGeom prst="rect">
            <a:avLst/>
          </a:prstGeom>
          <a:noFill/>
          <a:ln/>
        </p:spPr>
        <p:txBody>
          <a:bodyPr wrap="square" lIns="0" tIns="0" rIns="0" bIns="0" rtlCol="0" anchor="ctr"/>
          <a:lstStyle/>
          <a:p>
            <a:pPr algn="ctr" indent="0" marL="0">
              <a:lnSpc>
                <a:spcPts val="1400"/>
              </a:lnSpc>
              <a:buNone/>
            </a:pPr>
            <a:r>
              <a:rPr lang="en-US" sz="1050" i="1" dirty="0">
                <a:solidFill>
                  <a:srgbClr val="9CB6A9"/>
                </a:solidFill>
                <a:latin typeface="Calibri" pitchFamily="34" charset="0"/>
                <a:ea typeface="Calibri" pitchFamily="34" charset="-122"/>
                <a:cs typeface="Calibri" pitchFamily="34" charset="-120"/>
              </a:rPr>
              <a:t>L’écran, dépourvu d’échelle, la brise ; la réalité augmentée la rétablit.</a:t>
            </a:r>
            <a:endParaRPr lang="en-US" sz="1050" dirty="0"/>
          </a:p>
        </p:txBody>
      </p:sp>
      <p:sp>
        <p:nvSpPr>
          <p:cNvPr id="20" name="co_c2"/>
          <p:cNvSpPr/>
          <p:nvPr/>
        </p:nvSpPr>
        <p:spPr>
          <a:xfrm>
            <a:off x="6233008" y="2148840"/>
            <a:ext cx="2522144" cy="333756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1" name="Shape 19"/>
          <p:cNvSpPr/>
          <p:nvPr/>
        </p:nvSpPr>
        <p:spPr>
          <a:xfrm>
            <a:off x="7128319" y="2423160"/>
            <a:ext cx="731520" cy="731520"/>
          </a:xfrm>
          <a:prstGeom prst="roundRect">
            <a:avLst>
              <a:gd name="adj" fmla="val 43750"/>
            </a:avLst>
          </a:prstGeom>
          <a:solidFill>
            <a:srgbClr val="0E6B4F"/>
          </a:solidFill>
          <a:ln w="12700">
            <a:solidFill>
              <a:srgbClr val="25B98C"/>
            </a:solidFill>
            <a:prstDash val="solid"/>
          </a:ln>
        </p:spPr>
      </p:sp>
      <p:sp>
        <p:nvSpPr>
          <p:cNvPr id="22" name="Text 20"/>
          <p:cNvSpPr txBox="1"/>
          <p:nvPr/>
        </p:nvSpPr>
        <p:spPr>
          <a:xfrm>
            <a:off x="7128319" y="2423160"/>
            <a:ext cx="731520" cy="731520"/>
          </a:xfrm>
          <a:prstGeom prst="rect">
            <a:avLst/>
          </a:prstGeom>
          <a:noFill/>
          <a:ln/>
        </p:spPr>
        <p:txBody>
          <a:bodyPr wrap="square" lIns="0" tIns="0" rIns="0" bIns="0" rtlCol="0" anchor="ctr"/>
          <a:lstStyle/>
          <a:p>
            <a:pPr algn="ctr" indent="0" marL="0">
              <a:buNone/>
            </a:pPr>
            <a:r>
              <a:rPr lang="en-US" sz="2000" b="1" dirty="0">
                <a:solidFill>
                  <a:srgbClr val="F0D68A"/>
                </a:solidFill>
                <a:latin typeface="Cambria" pitchFamily="34" charset="0"/>
                <a:ea typeface="Cambria" pitchFamily="34" charset="-122"/>
                <a:cs typeface="Cambria" pitchFamily="34" charset="-120"/>
              </a:rPr>
              <a:t>3</a:t>
            </a:r>
            <a:endParaRPr lang="en-US" sz="2000" dirty="0"/>
          </a:p>
        </p:txBody>
      </p:sp>
      <p:sp>
        <p:nvSpPr>
          <p:cNvPr id="23" name="Text 21"/>
          <p:cNvSpPr txBox="1"/>
          <p:nvPr/>
        </p:nvSpPr>
        <p:spPr>
          <a:xfrm>
            <a:off x="6415888" y="3291840"/>
            <a:ext cx="2156384" cy="237744"/>
          </a:xfrm>
          <a:prstGeom prst="rect">
            <a:avLst/>
          </a:prstGeom>
          <a:noFill/>
          <a:ln/>
        </p:spPr>
        <p:txBody>
          <a:bodyPr wrap="square" lIns="0" tIns="0" rIns="0" bIns="0" rtlCol="0" anchor="ctr"/>
          <a:lstStyle/>
          <a:p>
            <a:pPr algn="ctr" indent="0" marL="0">
              <a:buNone/>
            </a:pPr>
            <a:r>
              <a:rPr lang="en-US" sz="900" spc="180" kern="0" dirty="0">
                <a:solidFill>
                  <a:srgbClr val="9CB6A9"/>
                </a:solidFill>
                <a:latin typeface="Calibri" pitchFamily="34" charset="0"/>
                <a:ea typeface="Calibri" pitchFamily="34" charset="-122"/>
                <a:cs typeface="Calibri" pitchFamily="34" charset="-120"/>
              </a:rPr>
              <a:t>CONTINUITÉ</a:t>
            </a:r>
            <a:endParaRPr lang="en-US" sz="900" dirty="0"/>
          </a:p>
        </p:txBody>
      </p:sp>
      <p:sp>
        <p:nvSpPr>
          <p:cNvPr id="24" name="Text 22"/>
          <p:cNvSpPr txBox="1"/>
          <p:nvPr/>
        </p:nvSpPr>
        <p:spPr>
          <a:xfrm>
            <a:off x="6415888" y="3511296"/>
            <a:ext cx="2156384" cy="384048"/>
          </a:xfrm>
          <a:prstGeom prst="rect">
            <a:avLst/>
          </a:prstGeom>
          <a:noFill/>
          <a:ln/>
        </p:spPr>
        <p:txBody>
          <a:bodyPr wrap="square" lIns="0" tIns="0" rIns="0" bIns="0" rtlCol="0" anchor="ctr"/>
          <a:lstStyle/>
          <a:p>
            <a:pPr algn="ctr" indent="0" marL="0">
              <a:buNone/>
            </a:pPr>
            <a:r>
              <a:rPr lang="en-US" sz="1900" b="1" dirty="0">
                <a:solidFill>
                  <a:srgbClr val="F0D68A"/>
                </a:solidFill>
                <a:latin typeface="Cambria" pitchFamily="34" charset="0"/>
                <a:ea typeface="Cambria" pitchFamily="34" charset="-122"/>
                <a:cs typeface="Cambria" pitchFamily="34" charset="-120"/>
              </a:rPr>
              <a:t>DOCUMENTAIRE</a:t>
            </a:r>
            <a:endParaRPr lang="en-US" sz="1900" dirty="0"/>
          </a:p>
        </p:txBody>
      </p:sp>
      <p:sp>
        <p:nvSpPr>
          <p:cNvPr id="25" name="Text 23"/>
          <p:cNvSpPr txBox="1"/>
          <p:nvPr/>
        </p:nvSpPr>
        <p:spPr>
          <a:xfrm>
            <a:off x="6470752" y="4041648"/>
            <a:ext cx="2046656" cy="658368"/>
          </a:xfrm>
          <a:prstGeom prst="rect">
            <a:avLst/>
          </a:prstGeom>
          <a:noFill/>
          <a:ln/>
        </p:spPr>
        <p:txBody>
          <a:bodyPr wrap="square" lIns="0" tIns="0" rIns="0" bIns="0" rtlCol="0" anchor="ctr"/>
          <a:lstStyle/>
          <a:p>
            <a:pPr algn="ctr" indent="0" marL="0">
              <a:lnSpc>
                <a:spcPts val="1500"/>
              </a:lnSpc>
              <a:buNone/>
            </a:pPr>
            <a:r>
              <a:rPr lang="en-US" sz="1150" dirty="0">
                <a:solidFill>
                  <a:srgbClr val="F4F1E9"/>
                </a:solidFill>
                <a:latin typeface="Calibri" pitchFamily="34" charset="0"/>
                <a:ea typeface="Calibri" pitchFamily="34" charset="-122"/>
                <a:cs typeface="Calibri" pitchFamily="34" charset="-120"/>
              </a:rPr>
              <a:t>Chaque affirmation doit être rattachable à une source.</a:t>
            </a:r>
            <a:endParaRPr lang="en-US" sz="1150" dirty="0"/>
          </a:p>
        </p:txBody>
      </p:sp>
      <p:sp>
        <p:nvSpPr>
          <p:cNvPr id="26" name="Text 24"/>
          <p:cNvSpPr txBox="1"/>
          <p:nvPr/>
        </p:nvSpPr>
        <p:spPr>
          <a:xfrm>
            <a:off x="6470752" y="4718304"/>
            <a:ext cx="2046656" cy="658368"/>
          </a:xfrm>
          <a:prstGeom prst="rect">
            <a:avLst/>
          </a:prstGeom>
          <a:noFill/>
          <a:ln/>
        </p:spPr>
        <p:txBody>
          <a:bodyPr wrap="square" lIns="0" tIns="0" rIns="0" bIns="0" rtlCol="0" anchor="ctr"/>
          <a:lstStyle/>
          <a:p>
            <a:pPr algn="ctr" indent="0" marL="0">
              <a:lnSpc>
                <a:spcPts val="1400"/>
              </a:lnSpc>
              <a:buNone/>
            </a:pPr>
            <a:r>
              <a:rPr lang="en-US" sz="1050" i="1" dirty="0">
                <a:solidFill>
                  <a:srgbClr val="9CB6A9"/>
                </a:solidFill>
                <a:latin typeface="Calibri" pitchFamily="34" charset="0"/>
                <a:ea typeface="Calibri" pitchFamily="34" charset="-122"/>
                <a:cs typeface="Calibri" pitchFamily="34" charset="-120"/>
              </a:rPr>
              <a:t>L’invention la brise ; l’ancrage documentaire la maintient.</a:t>
            </a:r>
            <a:endParaRPr lang="en-US" sz="1050" dirty="0"/>
          </a:p>
        </p:txBody>
      </p:sp>
      <p:sp>
        <p:nvSpPr>
          <p:cNvPr id="27" name="co_c3"/>
          <p:cNvSpPr/>
          <p:nvPr/>
        </p:nvSpPr>
        <p:spPr>
          <a:xfrm>
            <a:off x="9029471" y="2148840"/>
            <a:ext cx="2522144" cy="3337560"/>
          </a:xfrm>
          <a:prstGeom prst="roundRect">
            <a:avLst>
              <a:gd name="adj" fmla="val 2175"/>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8" name="Shape 26"/>
          <p:cNvSpPr/>
          <p:nvPr/>
        </p:nvSpPr>
        <p:spPr>
          <a:xfrm>
            <a:off x="9924783" y="2423160"/>
            <a:ext cx="731520" cy="731520"/>
          </a:xfrm>
          <a:prstGeom prst="roundRect">
            <a:avLst>
              <a:gd name="adj" fmla="val 43750"/>
            </a:avLst>
          </a:prstGeom>
          <a:solidFill>
            <a:srgbClr val="0E6B4F"/>
          </a:solidFill>
          <a:ln w="12700">
            <a:solidFill>
              <a:srgbClr val="25B98C"/>
            </a:solidFill>
            <a:prstDash val="solid"/>
          </a:ln>
        </p:spPr>
      </p:sp>
      <p:sp>
        <p:nvSpPr>
          <p:cNvPr id="29" name="Text 27"/>
          <p:cNvSpPr txBox="1"/>
          <p:nvPr/>
        </p:nvSpPr>
        <p:spPr>
          <a:xfrm>
            <a:off x="9924783" y="2423160"/>
            <a:ext cx="731520" cy="731520"/>
          </a:xfrm>
          <a:prstGeom prst="rect">
            <a:avLst/>
          </a:prstGeom>
          <a:noFill/>
          <a:ln/>
        </p:spPr>
        <p:txBody>
          <a:bodyPr wrap="square" lIns="0" tIns="0" rIns="0" bIns="0" rtlCol="0" anchor="ctr"/>
          <a:lstStyle/>
          <a:p>
            <a:pPr algn="ctr" indent="0" marL="0">
              <a:buNone/>
            </a:pPr>
            <a:r>
              <a:rPr lang="en-US" sz="2000" b="1" dirty="0">
                <a:solidFill>
                  <a:srgbClr val="F0D68A"/>
                </a:solidFill>
                <a:latin typeface="Cambria" pitchFamily="34" charset="0"/>
                <a:ea typeface="Cambria" pitchFamily="34" charset="-122"/>
                <a:cs typeface="Cambria" pitchFamily="34" charset="-120"/>
              </a:rPr>
              <a:t>4</a:t>
            </a:r>
            <a:endParaRPr lang="en-US" sz="2000" dirty="0"/>
          </a:p>
        </p:txBody>
      </p:sp>
      <p:sp>
        <p:nvSpPr>
          <p:cNvPr id="30" name="Text 28"/>
          <p:cNvSpPr txBox="1"/>
          <p:nvPr/>
        </p:nvSpPr>
        <p:spPr>
          <a:xfrm>
            <a:off x="9212351" y="3291840"/>
            <a:ext cx="2156384" cy="237744"/>
          </a:xfrm>
          <a:prstGeom prst="rect">
            <a:avLst/>
          </a:prstGeom>
          <a:noFill/>
          <a:ln/>
        </p:spPr>
        <p:txBody>
          <a:bodyPr wrap="square" lIns="0" tIns="0" rIns="0" bIns="0" rtlCol="0" anchor="ctr"/>
          <a:lstStyle/>
          <a:p>
            <a:pPr algn="ctr" indent="0" marL="0">
              <a:buNone/>
            </a:pPr>
            <a:r>
              <a:rPr lang="en-US" sz="900" spc="180" kern="0" dirty="0">
                <a:solidFill>
                  <a:srgbClr val="9CB6A9"/>
                </a:solidFill>
                <a:latin typeface="Calibri" pitchFamily="34" charset="0"/>
                <a:ea typeface="Calibri" pitchFamily="34" charset="-122"/>
                <a:cs typeface="Calibri" pitchFamily="34" charset="-120"/>
              </a:rPr>
              <a:t>CONTINUITÉ</a:t>
            </a:r>
            <a:endParaRPr lang="en-US" sz="900" dirty="0"/>
          </a:p>
        </p:txBody>
      </p:sp>
      <p:sp>
        <p:nvSpPr>
          <p:cNvPr id="31" name="Text 29"/>
          <p:cNvSpPr txBox="1"/>
          <p:nvPr/>
        </p:nvSpPr>
        <p:spPr>
          <a:xfrm>
            <a:off x="9212351" y="3511296"/>
            <a:ext cx="2156384" cy="384048"/>
          </a:xfrm>
          <a:prstGeom prst="rect">
            <a:avLst/>
          </a:prstGeom>
          <a:noFill/>
          <a:ln/>
        </p:spPr>
        <p:txBody>
          <a:bodyPr wrap="square" lIns="0" tIns="0" rIns="0" bIns="0" rtlCol="0" anchor="ctr"/>
          <a:lstStyle/>
          <a:p>
            <a:pPr algn="ctr" indent="0" marL="0">
              <a:buNone/>
            </a:pPr>
            <a:r>
              <a:rPr lang="en-US" sz="1900" b="1" dirty="0">
                <a:solidFill>
                  <a:srgbClr val="F0D68A"/>
                </a:solidFill>
                <a:latin typeface="Cambria" pitchFamily="34" charset="0"/>
                <a:ea typeface="Cambria" pitchFamily="34" charset="-122"/>
                <a:cs typeface="Cambria" pitchFamily="34" charset="-120"/>
              </a:rPr>
              <a:t>NARRATIVE</a:t>
            </a:r>
            <a:endParaRPr lang="en-US" sz="1900" dirty="0"/>
          </a:p>
        </p:txBody>
      </p:sp>
      <p:sp>
        <p:nvSpPr>
          <p:cNvPr id="32" name="Text 30"/>
          <p:cNvSpPr txBox="1"/>
          <p:nvPr/>
        </p:nvSpPr>
        <p:spPr>
          <a:xfrm>
            <a:off x="9267215" y="4041648"/>
            <a:ext cx="2046656" cy="658368"/>
          </a:xfrm>
          <a:prstGeom prst="rect">
            <a:avLst/>
          </a:prstGeom>
          <a:noFill/>
          <a:ln/>
        </p:spPr>
        <p:txBody>
          <a:bodyPr wrap="square" lIns="0" tIns="0" rIns="0" bIns="0" rtlCol="0" anchor="ctr"/>
          <a:lstStyle/>
          <a:p>
            <a:pPr algn="ctr" indent="0" marL="0">
              <a:lnSpc>
                <a:spcPts val="1500"/>
              </a:lnSpc>
              <a:buNone/>
            </a:pPr>
            <a:r>
              <a:rPr lang="en-US" sz="1150" dirty="0">
                <a:solidFill>
                  <a:srgbClr val="F4F1E9"/>
                </a:solidFill>
                <a:latin typeface="Calibri" pitchFamily="34" charset="0"/>
                <a:ea typeface="Calibri" pitchFamily="34" charset="-122"/>
                <a:cs typeface="Calibri" pitchFamily="34" charset="-120"/>
              </a:rPr>
              <a:t>Chaque écran doit permettre de poursuivre le fil.</a:t>
            </a:r>
            <a:endParaRPr lang="en-US" sz="1150" dirty="0"/>
          </a:p>
        </p:txBody>
      </p:sp>
      <p:sp>
        <p:nvSpPr>
          <p:cNvPr id="33" name="Text 31"/>
          <p:cNvSpPr txBox="1"/>
          <p:nvPr/>
        </p:nvSpPr>
        <p:spPr>
          <a:xfrm>
            <a:off x="9267215" y="4718304"/>
            <a:ext cx="2046656" cy="658368"/>
          </a:xfrm>
          <a:prstGeom prst="rect">
            <a:avLst/>
          </a:prstGeom>
          <a:noFill/>
          <a:ln/>
        </p:spPr>
        <p:txBody>
          <a:bodyPr wrap="square" lIns="0" tIns="0" rIns="0" bIns="0" rtlCol="0" anchor="ctr"/>
          <a:lstStyle/>
          <a:p>
            <a:pPr algn="ctr" indent="0" marL="0">
              <a:lnSpc>
                <a:spcPts val="1400"/>
              </a:lnSpc>
              <a:buNone/>
            </a:pPr>
            <a:r>
              <a:rPr lang="en-US" sz="1050" i="1" dirty="0">
                <a:solidFill>
                  <a:srgbClr val="9CB6A9"/>
                </a:solidFill>
                <a:latin typeface="Calibri" pitchFamily="34" charset="0"/>
                <a:ea typeface="Calibri" pitchFamily="34" charset="-122"/>
                <a:cs typeface="Calibri" pitchFamily="34" charset="-120"/>
              </a:rPr>
              <a:t>De l’objet au chef, du chef à la lignée : un écran sans issue la brise.</a:t>
            </a:r>
            <a:endParaRPr lang="en-US" sz="1050" dirty="0"/>
          </a:p>
        </p:txBody>
      </p:sp>
      <p:sp>
        <p:nvSpPr>
          <p:cNvPr id="34" name="co_q"/>
          <p:cNvSpPr txBox="1"/>
          <p:nvPr/>
        </p:nvSpPr>
        <p:spPr>
          <a:xfrm>
            <a:off x="640080" y="5669280"/>
            <a:ext cx="10911535" cy="365760"/>
          </a:xfrm>
          <a:prstGeom prst="rect">
            <a:avLst/>
          </a:prstGeom>
          <a:noFill/>
          <a:ln/>
        </p:spPr>
        <p:txBody>
          <a:bodyPr wrap="square" lIns="0" tIns="0" rIns="0" bIns="0" rtlCol="0" anchor="ctr"/>
          <a:lstStyle/>
          <a:p>
            <a:pPr algn="ctr" indent="0" marL="0">
              <a:buNone/>
            </a:pPr>
            <a:r>
              <a:rPr lang="en-US" sz="1500" i="1" dirty="0">
                <a:solidFill>
                  <a:srgbClr val="D4A62A"/>
                </a:solidFill>
                <a:latin typeface="Cambria" pitchFamily="34" charset="0"/>
                <a:ea typeface="Cambria" pitchFamily="34" charset="-122"/>
                <a:cs typeface="Cambria" pitchFamily="34" charset="-120"/>
              </a:rPr>
              <a:t>Un objet qui ne mène nulle part est un échec de conception.</a:t>
            </a:r>
            <a:endParaRPr lang="en-US" sz="1500" dirty="0"/>
          </a:p>
        </p:txBody>
      </p:sp>
      <p:sp>
        <p:nvSpPr>
          <p:cNvPr id="35" name="Text 33"/>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6" name="Text 34"/>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28</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10" presetClass="entr" presetSubtype="0" fill="hold" grpId="0" nodeType="withEffect">
                                  <p:stCondLst>
                                    <p:cond delay="24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entr" presetSubtype="8" fill="hold" grpId="0" nodeType="withEffect">
                                  <p:stCondLst>
                                    <p:cond delay="4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additive="base">
                                        <p:cTn id="15" dur="500" fill="hold"/>
                                        <p:tgtEl>
                                          <p:spTgt spid="6"/>
                                        </p:tgtEl>
                                        <p:attrNameLst>
                                          <p:attrName>ppt_y</p:attrName>
                                        </p:attrNameLst>
                                      </p:cBhvr>
                                      <p:tavLst>
                                        <p:tav tm="0">
                                          <p:val>
                                            <p:strVal val="#ppt_y+.035"/>
                                          </p:val>
                                        </p:tav>
                                        <p:tav tm="100000">
                                          <p:val>
                                            <p:strVal val="#ppt_y"/>
                                          </p:val>
                                        </p:tav>
                                      </p:tavLst>
                                    </p:anim>
                                  </p:childTnLst>
                                </p:cTn>
                              </p:par>
                              <p:par>
                                <p:cTn id="16" presetID="42" presetClass="entr" presetSubtype="8" fill="hold" grpId="0" nodeType="withEffect">
                                  <p:stCondLst>
                                    <p:cond delay="6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additive="base">
                                        <p:cTn id="19" dur="500" fill="hold"/>
                                        <p:tgtEl>
                                          <p:spTgt spid="13"/>
                                        </p:tgtEl>
                                        <p:attrNameLst>
                                          <p:attrName>ppt_y</p:attrName>
                                        </p:attrNameLst>
                                      </p:cBhvr>
                                      <p:tavLst>
                                        <p:tav tm="0">
                                          <p:val>
                                            <p:strVal val="#ppt_y+.035"/>
                                          </p:val>
                                        </p:tav>
                                        <p:tav tm="100000">
                                          <p:val>
                                            <p:strVal val="#ppt_y"/>
                                          </p:val>
                                        </p:tav>
                                      </p:tavLst>
                                    </p:anim>
                                  </p:childTnLst>
                                </p:cTn>
                              </p:par>
                              <p:par>
                                <p:cTn id="20" presetID="42" presetClass="entr" presetSubtype="8" fill="hold" grpId="0" nodeType="withEffect">
                                  <p:stCondLst>
                                    <p:cond delay="80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anim calcmode="lin" valueType="num">
                                      <p:cBhvr additive="base">
                                        <p:cTn id="23" dur="500" fill="hold"/>
                                        <p:tgtEl>
                                          <p:spTgt spid="20"/>
                                        </p:tgtEl>
                                        <p:attrNameLst>
                                          <p:attrName>ppt_y</p:attrName>
                                        </p:attrNameLst>
                                      </p:cBhvr>
                                      <p:tavLst>
                                        <p:tav tm="0">
                                          <p:val>
                                            <p:strVal val="#ppt_y+.035"/>
                                          </p:val>
                                        </p:tav>
                                        <p:tav tm="100000">
                                          <p:val>
                                            <p:strVal val="#ppt_y"/>
                                          </p:val>
                                        </p:tav>
                                      </p:tavLst>
                                    </p:anim>
                                  </p:childTnLst>
                                </p:cTn>
                              </p:par>
                              <p:par>
                                <p:cTn id="24" presetID="42" presetClass="entr" presetSubtype="8" fill="hold" grpId="0" nodeType="withEffect">
                                  <p:stCondLst>
                                    <p:cond delay="100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500"/>
                                        <p:tgtEl>
                                          <p:spTgt spid="27"/>
                                        </p:tgtEl>
                                      </p:cBhvr>
                                    </p:animEffect>
                                    <p:anim calcmode="lin" valueType="num">
                                      <p:cBhvr additive="base">
                                        <p:cTn id="27" dur="500" fill="hold"/>
                                        <p:tgtEl>
                                          <p:spTgt spid="27"/>
                                        </p:tgtEl>
                                        <p:attrNameLst>
                                          <p:attrName>ppt_y</p:attrName>
                                        </p:attrNameLst>
                                      </p:cBhvr>
                                      <p:tavLst>
                                        <p:tav tm="0">
                                          <p:val>
                                            <p:strVal val="#ppt_y+.035"/>
                                          </p:val>
                                        </p:tav>
                                        <p:tav tm="100000">
                                          <p:val>
                                            <p:strVal val="#ppt_y"/>
                                          </p:val>
                                        </p:tav>
                                      </p:tavLst>
                                    </p:anim>
                                  </p:childTnLst>
                                </p:cTn>
                              </p:par>
                              <p:par>
                                <p:cTn id="28" presetID="10" presetClass="entr" presetSubtype="0" fill="hold" grpId="0" nodeType="withEffect">
                                  <p:stCondLst>
                                    <p:cond delay="125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29">
    <p:bg>
      <p:bgPr>
        <a:solidFill>
          <a:srgbClr val="07130F"/>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INTERVENTION PROPOSÉE</a:t>
            </a:r>
            <a:endParaRPr lang="en-US" sz="1100" dirty="0"/>
          </a:p>
        </p:txBody>
      </p:sp>
      <p:sp>
        <p:nvSpPr>
          <p:cNvPr id="3" name="in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200" b="1" dirty="0">
                <a:solidFill>
                  <a:srgbClr val="F4F1E9"/>
                </a:solidFill>
                <a:latin typeface="Cambria" pitchFamily="34" charset="0"/>
                <a:ea typeface="Cambria" pitchFamily="34" charset="-122"/>
                <a:cs typeface="Cambria" pitchFamily="34" charset="-120"/>
              </a:rPr>
              <a:t>De la démonstration éprouvée au service exploité</a:t>
            </a:r>
            <a:endParaRPr lang="en-US" sz="3200" dirty="0"/>
          </a:p>
        </p:txBody>
      </p:sp>
      <p:sp>
        <p:nvSpPr>
          <p:cNvPr id="4" name="in_c0"/>
          <p:cNvSpPr/>
          <p:nvPr/>
        </p:nvSpPr>
        <p:spPr>
          <a:xfrm>
            <a:off x="640080" y="1737360"/>
            <a:ext cx="5318608" cy="1444752"/>
          </a:xfrm>
          <a:prstGeom prst="roundRect">
            <a:avLst>
              <a:gd name="adj" fmla="val 379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5" name="Shape 3"/>
          <p:cNvSpPr/>
          <p:nvPr/>
        </p:nvSpPr>
        <p:spPr>
          <a:xfrm>
            <a:off x="859536" y="1938528"/>
            <a:ext cx="457200" cy="457200"/>
          </a:xfrm>
          <a:prstGeom prst="roundRect">
            <a:avLst>
              <a:gd name="adj" fmla="val 70000"/>
            </a:avLst>
          </a:prstGeom>
          <a:solidFill>
            <a:srgbClr val="0E6B4F"/>
          </a:solidFill>
          <a:ln w="12700">
            <a:solidFill>
              <a:srgbClr val="25B98C"/>
            </a:solidFill>
            <a:prstDash val="solid"/>
          </a:ln>
        </p:spPr>
      </p:sp>
      <p:sp>
        <p:nvSpPr>
          <p:cNvPr id="6" name="Text 4"/>
          <p:cNvSpPr txBox="1"/>
          <p:nvPr/>
        </p:nvSpPr>
        <p:spPr>
          <a:xfrm>
            <a:off x="859536" y="1938528"/>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426464" y="1938528"/>
            <a:ext cx="4312768" cy="384048"/>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Industrialiser</a:t>
            </a:r>
            <a:endParaRPr lang="en-US" sz="1500" dirty="0"/>
          </a:p>
        </p:txBody>
      </p:sp>
      <p:sp>
        <p:nvSpPr>
          <p:cNvPr id="8" name="Text 6"/>
          <p:cNvSpPr txBox="1"/>
          <p:nvPr/>
        </p:nvSpPr>
        <p:spPr>
          <a:xfrm>
            <a:off x="877824" y="2377440"/>
            <a:ext cx="4843120" cy="731520"/>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Conteneurisation, registre d’images, pré-production et production distinctes, retour arrière automatique. ECS Fargate retenu plutôt que Kubernetes : au volume actuel, le coût fixe et la charge d’administration ne se justifient pas — et la même image migrerait le jour venu.</a:t>
            </a:r>
            <a:endParaRPr lang="en-US" sz="1050" dirty="0"/>
          </a:p>
        </p:txBody>
      </p:sp>
      <p:sp>
        <p:nvSpPr>
          <p:cNvPr id="9" name="in_c1"/>
          <p:cNvSpPr/>
          <p:nvPr/>
        </p:nvSpPr>
        <p:spPr>
          <a:xfrm>
            <a:off x="6233008" y="1737360"/>
            <a:ext cx="5318608" cy="1444752"/>
          </a:xfrm>
          <a:prstGeom prst="roundRect">
            <a:avLst>
              <a:gd name="adj" fmla="val 379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0" name="Shape 8"/>
          <p:cNvSpPr/>
          <p:nvPr/>
        </p:nvSpPr>
        <p:spPr>
          <a:xfrm>
            <a:off x="6452464" y="1938528"/>
            <a:ext cx="457200" cy="457200"/>
          </a:xfrm>
          <a:prstGeom prst="roundRect">
            <a:avLst>
              <a:gd name="adj" fmla="val 70000"/>
            </a:avLst>
          </a:prstGeom>
          <a:solidFill>
            <a:srgbClr val="0E6B4F"/>
          </a:solidFill>
          <a:ln w="12700">
            <a:solidFill>
              <a:srgbClr val="25B98C"/>
            </a:solidFill>
            <a:prstDash val="solid"/>
          </a:ln>
        </p:spPr>
      </p:sp>
      <p:sp>
        <p:nvSpPr>
          <p:cNvPr id="11" name="Text 9"/>
          <p:cNvSpPr txBox="1"/>
          <p:nvPr/>
        </p:nvSpPr>
        <p:spPr>
          <a:xfrm>
            <a:off x="6452464" y="1938528"/>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7019392" y="1938528"/>
            <a:ext cx="4312768" cy="384048"/>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Consolider la chaîne documentaire</a:t>
            </a:r>
            <a:endParaRPr lang="en-US" sz="1500" dirty="0"/>
          </a:p>
        </p:txBody>
      </p:sp>
      <p:sp>
        <p:nvSpPr>
          <p:cNvPr id="13" name="Text 11"/>
          <p:cNvSpPr txBox="1"/>
          <p:nvPr/>
        </p:nvSpPr>
        <p:spPr>
          <a:xfrm>
            <a:off x="6470752" y="2377440"/>
            <a:ext cx="4843120" cy="731520"/>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Automatiser l’ingestion, aujourd’hui déclenchée à la main, en tâche quotidienne ; éprouver la chaîne complète de bout en bout ; obtenir les clés d’Europeana, du Rijksmuseum, de la Smithsonian et de Harvard — la liste blanche technique les attend déjà.</a:t>
            </a:r>
            <a:endParaRPr lang="en-US" sz="1050" dirty="0"/>
          </a:p>
        </p:txBody>
      </p:sp>
      <p:sp>
        <p:nvSpPr>
          <p:cNvPr id="14" name="in_c2"/>
          <p:cNvSpPr/>
          <p:nvPr/>
        </p:nvSpPr>
        <p:spPr>
          <a:xfrm>
            <a:off x="640080" y="3310128"/>
            <a:ext cx="5318608" cy="1444752"/>
          </a:xfrm>
          <a:prstGeom prst="roundRect">
            <a:avLst>
              <a:gd name="adj" fmla="val 379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5" name="Shape 13"/>
          <p:cNvSpPr/>
          <p:nvPr/>
        </p:nvSpPr>
        <p:spPr>
          <a:xfrm>
            <a:off x="859536" y="3511296"/>
            <a:ext cx="457200" cy="457200"/>
          </a:xfrm>
          <a:prstGeom prst="roundRect">
            <a:avLst>
              <a:gd name="adj" fmla="val 70000"/>
            </a:avLst>
          </a:prstGeom>
          <a:solidFill>
            <a:srgbClr val="0E6B4F"/>
          </a:solidFill>
          <a:ln w="12700">
            <a:solidFill>
              <a:srgbClr val="25B98C"/>
            </a:solidFill>
            <a:prstDash val="solid"/>
          </a:ln>
        </p:spPr>
      </p:sp>
      <p:sp>
        <p:nvSpPr>
          <p:cNvPr id="16" name="Text 14"/>
          <p:cNvSpPr txBox="1"/>
          <p:nvPr/>
        </p:nvSpPr>
        <p:spPr>
          <a:xfrm>
            <a:off x="859536" y="351129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1426464" y="3511296"/>
            <a:ext cx="4312768" cy="384048"/>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Produire les médias et transmettre</a:t>
            </a:r>
            <a:endParaRPr lang="en-US" sz="1500" dirty="0"/>
          </a:p>
        </p:txBody>
      </p:sp>
      <p:sp>
        <p:nvSpPr>
          <p:cNvPr id="18" name="Text 16"/>
          <p:cNvSpPr txBox="1"/>
          <p:nvPr/>
        </p:nvSpPr>
        <p:spPr>
          <a:xfrm>
            <a:off x="877824" y="3950208"/>
            <a:ext cx="4843120" cy="731520"/>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Campagne de prises de vue 360°, relevés LiDAR, numérisation d’un premier ensemble d’œuvres. Et le transfert : formation, documentation d’exploitation, désignation d’un référent interne — un dispositif qu’une seule personne sait exploiter n’est pas pérenne.</a:t>
            </a:r>
            <a:endParaRPr lang="en-US" sz="1050" dirty="0"/>
          </a:p>
        </p:txBody>
      </p:sp>
      <p:sp>
        <p:nvSpPr>
          <p:cNvPr id="19" name="in_c3"/>
          <p:cNvSpPr/>
          <p:nvPr/>
        </p:nvSpPr>
        <p:spPr>
          <a:xfrm>
            <a:off x="6233008" y="3310128"/>
            <a:ext cx="5318608" cy="1444752"/>
          </a:xfrm>
          <a:prstGeom prst="roundRect">
            <a:avLst>
              <a:gd name="adj" fmla="val 3797"/>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0" name="Shape 18"/>
          <p:cNvSpPr/>
          <p:nvPr/>
        </p:nvSpPr>
        <p:spPr>
          <a:xfrm>
            <a:off x="6452464" y="3511296"/>
            <a:ext cx="457200" cy="457200"/>
          </a:xfrm>
          <a:prstGeom prst="roundRect">
            <a:avLst>
              <a:gd name="adj" fmla="val 70000"/>
            </a:avLst>
          </a:prstGeom>
          <a:solidFill>
            <a:srgbClr val="0E6B4F"/>
          </a:solidFill>
          <a:ln w="12700">
            <a:solidFill>
              <a:srgbClr val="25B98C"/>
            </a:solidFill>
            <a:prstDash val="solid"/>
          </a:ln>
        </p:spPr>
      </p:sp>
      <p:sp>
        <p:nvSpPr>
          <p:cNvPr id="21" name="Text 19"/>
          <p:cNvSpPr txBox="1"/>
          <p:nvPr/>
        </p:nvSpPr>
        <p:spPr>
          <a:xfrm>
            <a:off x="6452464" y="3511296"/>
            <a:ext cx="457200" cy="457200"/>
          </a:xfrm>
          <a:prstGeom prst="rect">
            <a:avLst/>
          </a:prstGeom>
          <a:noFill/>
          <a:ln/>
        </p:spPr>
        <p:txBody>
          <a:bodyPr wrap="square" lIns="0" tIns="0" rIns="0" bIns="0" rtlCol="0" anchor="ctr"/>
          <a:lstStyle/>
          <a:p>
            <a:pPr algn="ctr" indent="0" marL="0">
              <a:buNone/>
            </a:pPr>
            <a:r>
              <a:rPr lang="en-US" sz="1300" b="1" dirty="0">
                <a:solidFill>
                  <a:srgbClr val="F0D68A"/>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7019392" y="3511296"/>
            <a:ext cx="4312768" cy="384048"/>
          </a:xfrm>
          <a:prstGeom prst="rect">
            <a:avLst/>
          </a:prstGeom>
          <a:noFill/>
          <a:ln/>
        </p:spPr>
        <p:txBody>
          <a:bodyPr wrap="square" lIns="0" tIns="0" rIns="0" bIns="0" rtlCol="0" anchor="ctr"/>
          <a:lstStyle/>
          <a:p>
            <a:pPr indent="0" marL="0">
              <a:buNone/>
            </a:pPr>
            <a:r>
              <a:rPr lang="en-US" sz="1500" b="1" dirty="0">
                <a:solidFill>
                  <a:srgbClr val="F4F1E9"/>
                </a:solidFill>
                <a:latin typeface="Cambria" pitchFamily="34" charset="0"/>
                <a:ea typeface="Cambria" pitchFamily="34" charset="-122"/>
                <a:cs typeface="Cambria" pitchFamily="34" charset="-120"/>
              </a:rPr>
              <a:t>Ouvrir aux partenaires</a:t>
            </a:r>
            <a:endParaRPr lang="en-US" sz="1500" dirty="0"/>
          </a:p>
        </p:txBody>
      </p:sp>
      <p:sp>
        <p:nvSpPr>
          <p:cNvPr id="23" name="Text 21"/>
          <p:cNvSpPr txBox="1"/>
          <p:nvPr/>
        </p:nvSpPr>
        <p:spPr>
          <a:xfrm>
            <a:off x="6470752" y="3950208"/>
            <a:ext cx="4843120" cy="731520"/>
          </a:xfrm>
          <a:prstGeom prst="rect">
            <a:avLst/>
          </a:prstGeom>
          <a:noFill/>
          <a:ln/>
        </p:spPr>
        <p:txBody>
          <a:bodyPr wrap="square" lIns="0" tIns="0" rIns="0" bIns="0" rtlCol="0" anchor="ctr"/>
          <a:lstStyle/>
          <a:p>
            <a:pPr indent="0" marL="0">
              <a:lnSpc>
                <a:spcPts val="1400"/>
              </a:lnSpc>
              <a:buNone/>
            </a:pPr>
            <a:r>
              <a:rPr lang="en-US" sz="1050" dirty="0">
                <a:solidFill>
                  <a:srgbClr val="9CB6A9"/>
                </a:solidFill>
                <a:latin typeface="Calibri" pitchFamily="34" charset="0"/>
                <a:ea typeface="Calibri" pitchFamily="34" charset="-122"/>
                <a:cs typeface="Calibri" pitchFamily="34" charset="-120"/>
              </a:rPr>
              <a:t>Accueillir deux institutions partenaires, mesurer le délai réel d’installation, recueillir leurs retours. L’ouverture de l’architecture ne sera établie qu’après avoir été éprouvée.</a:t>
            </a:r>
            <a:endParaRPr lang="en-US" sz="1050" dirty="0"/>
          </a:p>
        </p:txBody>
      </p:sp>
      <p:sp>
        <p:nvSpPr>
          <p:cNvPr id="24" name="in_f0"/>
          <p:cNvSpPr/>
          <p:nvPr/>
        </p:nvSpPr>
        <p:spPr>
          <a:xfrm>
            <a:off x="640080" y="4937760"/>
            <a:ext cx="3454298" cy="987552"/>
          </a:xfrm>
          <a:prstGeom prst="roundRect">
            <a:avLst>
              <a:gd name="adj" fmla="val 5556"/>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25" name="Text 23"/>
          <p:cNvSpPr txBox="1"/>
          <p:nvPr/>
        </p:nvSpPr>
        <p:spPr>
          <a:xfrm>
            <a:off x="877824" y="5047488"/>
            <a:ext cx="2978810" cy="384048"/>
          </a:xfrm>
          <a:prstGeom prst="rect">
            <a:avLst/>
          </a:prstGeom>
          <a:noFill/>
          <a:ln/>
        </p:spPr>
        <p:txBody>
          <a:bodyPr wrap="square" lIns="0" tIns="0" rIns="0" bIns="0" rtlCol="0" anchor="ctr"/>
          <a:lstStyle/>
          <a:p>
            <a:pPr indent="0" marL="0">
              <a:buNone/>
            </a:pPr>
            <a:r>
              <a:rPr lang="en-US" sz="1800" b="1" dirty="0">
                <a:solidFill>
                  <a:srgbClr val="F0D68A"/>
                </a:solidFill>
                <a:latin typeface="Cambria" pitchFamily="34" charset="0"/>
                <a:ea typeface="Cambria" pitchFamily="34" charset="-122"/>
                <a:cs typeface="Cambria" pitchFamily="34" charset="-120"/>
              </a:rPr>
              <a:t>12 mois</a:t>
            </a:r>
            <a:endParaRPr lang="en-US" sz="1800" dirty="0"/>
          </a:p>
        </p:txBody>
      </p:sp>
      <p:sp>
        <p:nvSpPr>
          <p:cNvPr id="26" name="Text 24"/>
          <p:cNvSpPr txBox="1"/>
          <p:nvPr/>
        </p:nvSpPr>
        <p:spPr>
          <a:xfrm>
            <a:off x="877824" y="5431536"/>
            <a:ext cx="2978810" cy="438912"/>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de calendrier prévisionnel, en quatre composantes séquencées</a:t>
            </a:r>
            <a:endParaRPr lang="en-US" sz="1000" dirty="0"/>
          </a:p>
        </p:txBody>
      </p:sp>
      <p:sp>
        <p:nvSpPr>
          <p:cNvPr id="27" name="in_f1"/>
          <p:cNvSpPr/>
          <p:nvPr/>
        </p:nvSpPr>
        <p:spPr>
          <a:xfrm>
            <a:off x="4368698" y="4937760"/>
            <a:ext cx="3454298" cy="987552"/>
          </a:xfrm>
          <a:prstGeom prst="roundRect">
            <a:avLst>
              <a:gd name="adj" fmla="val 5556"/>
            </a:avLst>
          </a:prstGeom>
          <a:solidFill>
            <a:srgbClr val="0D231C"/>
          </a:solidFill>
          <a:ln w="12700">
            <a:solidFill>
              <a:srgbClr val="D4A62A"/>
            </a:solidFill>
            <a:prstDash val="solid"/>
          </a:ln>
          <a:effectLst>
            <a:outerShdw sx="100000" sy="100000" kx="0" ky="0" algn="bl" rotWithShape="0" blurRad="203200" dist="63500" dir="5400000">
              <a:srgbClr val="000000">
                <a:alpha val="40000"/>
              </a:srgbClr>
            </a:outerShdw>
          </a:effectLst>
        </p:spPr>
      </p:sp>
      <p:sp>
        <p:nvSpPr>
          <p:cNvPr id="28" name="Text 26"/>
          <p:cNvSpPr txBox="1"/>
          <p:nvPr/>
        </p:nvSpPr>
        <p:spPr>
          <a:xfrm>
            <a:off x="4606442" y="5047488"/>
            <a:ext cx="2978810" cy="384048"/>
          </a:xfrm>
          <a:prstGeom prst="rect">
            <a:avLst/>
          </a:prstGeom>
          <a:noFill/>
          <a:ln/>
        </p:spPr>
        <p:txBody>
          <a:bodyPr wrap="square" lIns="0" tIns="0" rIns="0" bIns="0" rtlCol="0" anchor="ctr"/>
          <a:lstStyle/>
          <a:p>
            <a:pPr indent="0" marL="0">
              <a:buNone/>
            </a:pPr>
            <a:r>
              <a:rPr lang="en-US" sz="1800" b="1" dirty="0">
                <a:solidFill>
                  <a:srgbClr val="F0D68A"/>
                </a:solidFill>
                <a:latin typeface="Cambria" pitchFamily="34" charset="0"/>
                <a:ea typeface="Cambria" pitchFamily="34" charset="-122"/>
                <a:cs typeface="Cambria" pitchFamily="34" charset="-120"/>
              </a:rPr>
              <a:t>369 360 FCFA</a:t>
            </a:r>
            <a:endParaRPr lang="en-US" sz="1800" dirty="0"/>
          </a:p>
        </p:txBody>
      </p:sp>
      <p:sp>
        <p:nvSpPr>
          <p:cNvPr id="29" name="Text 27"/>
          <p:cNvSpPr txBox="1"/>
          <p:nvPr/>
        </p:nvSpPr>
        <p:spPr>
          <a:xfrm>
            <a:off x="4606442" y="5431536"/>
            <a:ext cx="2978810" cy="438912"/>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de fonctionnement annuel projeté — moins qu’un poste de travail, et mutualisable</a:t>
            </a:r>
            <a:endParaRPr lang="en-US" sz="1000" dirty="0"/>
          </a:p>
        </p:txBody>
      </p:sp>
      <p:sp>
        <p:nvSpPr>
          <p:cNvPr id="30" name="in_f2"/>
          <p:cNvSpPr/>
          <p:nvPr/>
        </p:nvSpPr>
        <p:spPr>
          <a:xfrm>
            <a:off x="8097317" y="4937760"/>
            <a:ext cx="3454298" cy="987552"/>
          </a:xfrm>
          <a:prstGeom prst="roundRect">
            <a:avLst>
              <a:gd name="adj" fmla="val 5556"/>
            </a:avLst>
          </a:prstGeom>
          <a:solidFill>
            <a:srgbClr val="0D231C"/>
          </a:solidFill>
          <a:ln w="12700">
            <a:solidFill>
              <a:srgbClr val="E08A3C"/>
            </a:solidFill>
            <a:prstDash val="solid"/>
          </a:ln>
          <a:effectLst>
            <a:outerShdw sx="100000" sy="100000" kx="0" ky="0" algn="bl" rotWithShape="0" blurRad="203200" dist="63500" dir="5400000">
              <a:srgbClr val="000000">
                <a:alpha val="40000"/>
              </a:srgbClr>
            </a:outerShdw>
          </a:effectLst>
        </p:spPr>
      </p:sp>
      <p:sp>
        <p:nvSpPr>
          <p:cNvPr id="31" name="Text 29"/>
          <p:cNvSpPr txBox="1"/>
          <p:nvPr/>
        </p:nvSpPr>
        <p:spPr>
          <a:xfrm>
            <a:off x="8335061" y="5047488"/>
            <a:ext cx="2978810" cy="384048"/>
          </a:xfrm>
          <a:prstGeom prst="rect">
            <a:avLst/>
          </a:prstGeom>
          <a:noFill/>
          <a:ln/>
        </p:spPr>
        <p:txBody>
          <a:bodyPr wrap="square" lIns="0" tIns="0" rIns="0" bIns="0" rtlCol="0" anchor="ctr"/>
          <a:lstStyle/>
          <a:p>
            <a:pPr indent="0" marL="0">
              <a:buNone/>
            </a:pPr>
            <a:r>
              <a:rPr lang="en-US" sz="1800" b="1" dirty="0">
                <a:solidFill>
                  <a:srgbClr val="E08A3C"/>
                </a:solidFill>
                <a:latin typeface="Cambria" pitchFamily="34" charset="0"/>
                <a:ea typeface="Cambria" pitchFamily="34" charset="-122"/>
                <a:cs typeface="Cambria" pitchFamily="34" charset="-120"/>
              </a:rPr>
              <a:t>2 risques majeurs</a:t>
            </a:r>
            <a:endParaRPr lang="en-US" sz="1800" dirty="0"/>
          </a:p>
        </p:txBody>
      </p:sp>
      <p:sp>
        <p:nvSpPr>
          <p:cNvPr id="32" name="Text 30"/>
          <p:cNvSpPr txBox="1"/>
          <p:nvPr/>
        </p:nvSpPr>
        <p:spPr>
          <a:xfrm>
            <a:off x="8335061" y="5431536"/>
            <a:ext cx="2978810" cy="438912"/>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mise en sommeil de la base faute de trafic ; départ du référent technique</a:t>
            </a:r>
            <a:endParaRPr lang="en-US" sz="1000" dirty="0"/>
          </a:p>
        </p:txBody>
      </p:sp>
      <p:sp>
        <p:nvSpPr>
          <p:cNvPr id="33" name="Text 31"/>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4" name="Text 32"/>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29</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additive="base">
                                        <p:cTn id="8" dur="500" fill="hold"/>
                                        <p:tgtEl>
                                          <p:spTgt spid="3"/>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5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anim calcmode="lin" valueType="num">
                                      <p:cBhvr additive="base">
                                        <p:cTn id="12" dur="500" fill="hold"/>
                                        <p:tgtEl>
                                          <p:spTgt spid="4"/>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2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anim calcmode="lin" valueType="num">
                                      <p:cBhvr additive="base">
                                        <p:cTn id="16" dur="500" fill="hold"/>
                                        <p:tgtEl>
                                          <p:spTgt spid="9"/>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9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additive="base">
                                        <p:cTn id="20" dur="500" fill="hold"/>
                                        <p:tgtEl>
                                          <p:spTgt spid="14"/>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86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anim calcmode="lin" valueType="num">
                                      <p:cBhvr additive="base">
                                        <p:cTn id="24" dur="500" fill="hold"/>
                                        <p:tgtEl>
                                          <p:spTgt spid="19"/>
                                        </p:tgtEl>
                                        <p:attrNameLst>
                                          <p:attrName>ppt_y</p:attrName>
                                        </p:attrNameLst>
                                      </p:cBhvr>
                                      <p:tavLst>
                                        <p:tav tm="0">
                                          <p:val>
                                            <p:strVal val="#ppt_y+.035"/>
                                          </p:val>
                                        </p:tav>
                                        <p:tav tm="100000">
                                          <p:val>
                                            <p:strVal val="#ppt_y"/>
                                          </p:val>
                                        </p:tav>
                                      </p:tavLst>
                                    </p:anim>
                                  </p:childTnLst>
                                </p:cTn>
                              </p:par>
                              <p:par>
                                <p:cTn id="25" presetID="42" presetClass="entr" presetSubtype="8" fill="hold" grpId="0" nodeType="withEffect">
                                  <p:stCondLst>
                                    <p:cond delay="105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anim calcmode="lin" valueType="num">
                                      <p:cBhvr additive="base">
                                        <p:cTn id="28" dur="500" fill="hold"/>
                                        <p:tgtEl>
                                          <p:spTgt spid="24"/>
                                        </p:tgtEl>
                                        <p:attrNameLst>
                                          <p:attrName>ppt_y</p:attrName>
                                        </p:attrNameLst>
                                      </p:cBhvr>
                                      <p:tavLst>
                                        <p:tav tm="0">
                                          <p:val>
                                            <p:strVal val="#ppt_y+.035"/>
                                          </p:val>
                                        </p:tav>
                                        <p:tav tm="100000">
                                          <p:val>
                                            <p:strVal val="#ppt_y"/>
                                          </p:val>
                                        </p:tav>
                                      </p:tavLst>
                                    </p:anim>
                                  </p:childTnLst>
                                </p:cTn>
                              </p:par>
                              <p:par>
                                <p:cTn id="29" presetID="42" presetClass="entr" presetSubtype="8" fill="hold" grpId="0" nodeType="withEffect">
                                  <p:stCondLst>
                                    <p:cond delay="120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anim calcmode="lin" valueType="num">
                                      <p:cBhvr additive="base">
                                        <p:cTn id="32" dur="500" fill="hold"/>
                                        <p:tgtEl>
                                          <p:spTgt spid="27"/>
                                        </p:tgtEl>
                                        <p:attrNameLst>
                                          <p:attrName>ppt_y</p:attrName>
                                        </p:attrNameLst>
                                      </p:cBhvr>
                                      <p:tavLst>
                                        <p:tav tm="0">
                                          <p:val>
                                            <p:strVal val="#ppt_y+.035"/>
                                          </p:val>
                                        </p:tav>
                                        <p:tav tm="100000">
                                          <p:val>
                                            <p:strVal val="#ppt_y"/>
                                          </p:val>
                                        </p:tav>
                                      </p:tavLst>
                                    </p:anim>
                                  </p:childTnLst>
                                </p:cTn>
                              </p:par>
                              <p:par>
                                <p:cTn id="33" presetID="42" presetClass="entr" presetSubtype="8" fill="hold" grpId="0" nodeType="withEffect">
                                  <p:stCondLst>
                                    <p:cond delay="135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anim calcmode="lin" valueType="num">
                                      <p:cBhvr additive="base">
                                        <p:cTn id="36" dur="500" fill="hold"/>
                                        <p:tgtEl>
                                          <p:spTgt spid="3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30">
    <p:bg>
      <p:bgPr>
        <a:solidFill>
          <a:srgbClr val="07130F"/>
        </a:solidFill>
      </p:bgPr>
    </p:bg>
    <p:spTree>
      <p:nvGrpSpPr>
        <p:cNvPr id="1" name=""/>
        <p:cNvGrpSpPr/>
        <p:nvPr/>
      </p:nvGrpSpPr>
      <p:grpSpPr>
        <a:xfrm>
          <a:off x="0" y="0"/>
          <a:ext cx="0" cy="0"/>
          <a:chOff x="0" y="0"/>
          <a:chExt cx="0" cy="0"/>
        </a:xfrm>
      </p:grpSpPr>
      <p:sp>
        <p:nvSpPr>
          <p:cNvPr id="2" name="Shape 0"/>
          <p:cNvSpPr/>
          <p:nvPr/>
        </p:nvSpPr>
        <p:spPr>
          <a:xfrm>
            <a:off x="9509760" y="4023360"/>
            <a:ext cx="5486400" cy="5486400"/>
          </a:xfrm>
          <a:prstGeom prst="ellipse">
            <a:avLst/>
          </a:prstGeom>
          <a:solidFill>
            <a:srgbClr val="D4A62A">
              <a:alpha val="6000"/>
            </a:srgbClr>
          </a:solidFill>
          <a:ln/>
        </p:spPr>
      </p:sp>
      <p:sp>
        <p:nvSpPr>
          <p:cNvPr id="3" name="Text 1"/>
          <p:cNvSpPr txBox="1"/>
          <p:nvPr/>
        </p:nvSpPr>
        <p:spPr>
          <a:xfrm>
            <a:off x="640080" y="475488"/>
            <a:ext cx="8229600" cy="274320"/>
          </a:xfrm>
          <a:prstGeom prst="rect">
            <a:avLst/>
          </a:prstGeom>
          <a:noFill/>
          <a:ln/>
        </p:spPr>
        <p:txBody>
          <a:bodyPr wrap="square" lIns="0" tIns="0" rIns="0" bIns="0" rtlCol="0" anchor="ctr"/>
          <a:lstStyle/>
          <a:p>
            <a:pPr indent="0" marL="0">
              <a:buNone/>
            </a:pPr>
            <a:r>
              <a:rPr lang="en-US" sz="1100" b="1" spc="260" kern="0" dirty="0">
                <a:solidFill>
                  <a:srgbClr val="D4A62A"/>
                </a:solidFill>
                <a:latin typeface="Calibri" pitchFamily="34" charset="0"/>
                <a:ea typeface="Calibri" pitchFamily="34" charset="-122"/>
                <a:cs typeface="Calibri" pitchFamily="34" charset="-120"/>
              </a:rPr>
              <a:t>CONCLUSION ET PERSPECTIVES</a:t>
            </a:r>
            <a:endParaRPr lang="en-US" sz="1100" dirty="0"/>
          </a:p>
        </p:txBody>
      </p:sp>
      <p:sp>
        <p:nvSpPr>
          <p:cNvPr id="4" name="cc_t"/>
          <p:cNvSpPr txBox="1"/>
          <p:nvPr/>
        </p:nvSpPr>
        <p:spPr>
          <a:xfrm>
            <a:off x="640080" y="841248"/>
            <a:ext cx="10911535" cy="777240"/>
          </a:xfrm>
          <a:prstGeom prst="rect">
            <a:avLst/>
          </a:prstGeom>
          <a:noFill/>
          <a:ln/>
        </p:spPr>
        <p:txBody>
          <a:bodyPr wrap="square" lIns="0" tIns="0" rIns="0" bIns="0" rtlCol="0" anchor="ctr"/>
          <a:lstStyle/>
          <a:p>
            <a:pPr indent="0" marL="0">
              <a:lnSpc>
                <a:spcPts val="3600"/>
              </a:lnSpc>
              <a:buNone/>
            </a:pPr>
            <a:r>
              <a:rPr lang="en-US" sz="3200" b="1" dirty="0">
                <a:solidFill>
                  <a:srgbClr val="F4F1E9"/>
                </a:solidFill>
                <a:latin typeface="Cambria" pitchFamily="34" charset="0"/>
                <a:ea typeface="Cambria" pitchFamily="34" charset="-122"/>
                <a:cs typeface="Cambria" pitchFamily="34" charset="-120"/>
              </a:rPr>
              <a:t>Trois enseignements, et ce qui reste à faire</a:t>
            </a:r>
            <a:endParaRPr lang="en-US" sz="3200" dirty="0"/>
          </a:p>
        </p:txBody>
      </p:sp>
      <p:sp>
        <p:nvSpPr>
          <p:cNvPr id="5" name="cc_l0"/>
          <p:cNvSpPr/>
          <p:nvPr/>
        </p:nvSpPr>
        <p:spPr>
          <a:xfrm>
            <a:off x="640080" y="1737360"/>
            <a:ext cx="6537960" cy="1097280"/>
          </a:xfrm>
          <a:prstGeom prst="roundRect">
            <a:avLst>
              <a:gd name="adj" fmla="val 5000"/>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6" name="Shape 4"/>
          <p:cNvSpPr/>
          <p:nvPr/>
        </p:nvSpPr>
        <p:spPr>
          <a:xfrm>
            <a:off x="859536" y="1920240"/>
            <a:ext cx="438912" cy="438912"/>
          </a:xfrm>
          <a:prstGeom prst="roundRect">
            <a:avLst>
              <a:gd name="adj" fmla="val 72917"/>
            </a:avLst>
          </a:prstGeom>
          <a:solidFill>
            <a:srgbClr val="0E6B4F"/>
          </a:solidFill>
          <a:ln w="12700">
            <a:solidFill>
              <a:srgbClr val="25B98C"/>
            </a:solidFill>
            <a:prstDash val="solid"/>
          </a:ln>
        </p:spPr>
      </p:sp>
      <p:sp>
        <p:nvSpPr>
          <p:cNvPr id="7" name="Text 5"/>
          <p:cNvSpPr txBox="1"/>
          <p:nvPr/>
        </p:nvSpPr>
        <p:spPr>
          <a:xfrm>
            <a:off x="859536" y="1920240"/>
            <a:ext cx="438912" cy="438912"/>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408176" y="1883664"/>
            <a:ext cx="5532120" cy="329184"/>
          </a:xfrm>
          <a:prstGeom prst="rect">
            <a:avLst/>
          </a:prstGeom>
          <a:noFill/>
          <a:ln/>
        </p:spPr>
        <p:txBody>
          <a:bodyPr wrap="square" lIns="0" tIns="0" rIns="0" bIns="0" rtlCol="0" anchor="ctr"/>
          <a:lstStyle/>
          <a:p>
            <a:pPr indent="0" marL="0">
              <a:buNone/>
            </a:pPr>
            <a:r>
              <a:rPr lang="en-US" sz="1450" b="1" dirty="0">
                <a:solidFill>
                  <a:srgbClr val="F0D68A"/>
                </a:solidFill>
                <a:latin typeface="Cambria" pitchFamily="34" charset="0"/>
                <a:ea typeface="Cambria" pitchFamily="34" charset="-122"/>
                <a:cs typeface="Cambria" pitchFamily="34" charset="-120"/>
              </a:rPr>
              <a:t>Le vocabulaire est une seconde dispersion</a:t>
            </a:r>
            <a:endParaRPr lang="en-US" sz="1450" dirty="0"/>
          </a:p>
        </p:txBody>
      </p:sp>
      <p:sp>
        <p:nvSpPr>
          <p:cNvPr id="9" name="Text 7"/>
          <p:cNvSpPr txBox="1"/>
          <p:nvPr/>
        </p:nvSpPr>
        <p:spPr>
          <a:xfrm>
            <a:off x="1408176" y="2194560"/>
            <a:ext cx="5532120" cy="566928"/>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Une recherche en français ramène du bruit là où la même recherche, reformulée dans le vocabulaire de catalogage, identifie des correspondances précises (57 → 85 sur 100). À la dispersion physique des œuvres s’ajoute une dispersion documentaire — réversible, celle-là.</a:t>
            </a:r>
            <a:endParaRPr lang="en-US" sz="1000" dirty="0"/>
          </a:p>
        </p:txBody>
      </p:sp>
      <p:sp>
        <p:nvSpPr>
          <p:cNvPr id="10" name="cc_l1"/>
          <p:cNvSpPr/>
          <p:nvPr/>
        </p:nvSpPr>
        <p:spPr>
          <a:xfrm>
            <a:off x="640080" y="2944368"/>
            <a:ext cx="6537960" cy="1097280"/>
          </a:xfrm>
          <a:prstGeom prst="roundRect">
            <a:avLst>
              <a:gd name="adj" fmla="val 5000"/>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1" name="Shape 9"/>
          <p:cNvSpPr/>
          <p:nvPr/>
        </p:nvSpPr>
        <p:spPr>
          <a:xfrm>
            <a:off x="859536" y="3127248"/>
            <a:ext cx="438912" cy="438912"/>
          </a:xfrm>
          <a:prstGeom prst="roundRect">
            <a:avLst>
              <a:gd name="adj" fmla="val 72917"/>
            </a:avLst>
          </a:prstGeom>
          <a:solidFill>
            <a:srgbClr val="0E6B4F"/>
          </a:solidFill>
          <a:ln w="12700">
            <a:solidFill>
              <a:srgbClr val="25B98C"/>
            </a:solidFill>
            <a:prstDash val="solid"/>
          </a:ln>
        </p:spPr>
      </p:sp>
      <p:sp>
        <p:nvSpPr>
          <p:cNvPr id="12" name="Text 10"/>
          <p:cNvSpPr txBox="1"/>
          <p:nvPr/>
        </p:nvSpPr>
        <p:spPr>
          <a:xfrm>
            <a:off x="859536" y="3127248"/>
            <a:ext cx="438912" cy="438912"/>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408176" y="3090672"/>
            <a:ext cx="5532120" cy="329184"/>
          </a:xfrm>
          <a:prstGeom prst="rect">
            <a:avLst/>
          </a:prstGeom>
          <a:noFill/>
          <a:ln/>
        </p:spPr>
        <p:txBody>
          <a:bodyPr wrap="square" lIns="0" tIns="0" rIns="0" bIns="0" rtlCol="0" anchor="ctr"/>
          <a:lstStyle/>
          <a:p>
            <a:pPr indent="0" marL="0">
              <a:buNone/>
            </a:pPr>
            <a:r>
              <a:rPr lang="en-US" sz="1450" b="1" dirty="0">
                <a:solidFill>
                  <a:srgbClr val="F0D68A"/>
                </a:solidFill>
                <a:latin typeface="Cambria" pitchFamily="34" charset="0"/>
                <a:ea typeface="Cambria" pitchFamily="34" charset="-122"/>
                <a:cs typeface="Cambria" pitchFamily="34" charset="-120"/>
              </a:rPr>
              <a:t>L’isolement doit être une propriété de la donnée</a:t>
            </a:r>
            <a:endParaRPr lang="en-US" sz="1450" dirty="0"/>
          </a:p>
        </p:txBody>
      </p:sp>
      <p:sp>
        <p:nvSpPr>
          <p:cNvPr id="14" name="Text 12"/>
          <p:cNvSpPr txBox="1"/>
          <p:nvPr/>
        </p:nvSpPr>
        <p:spPr>
          <a:xfrm>
            <a:off x="1408176" y="3401568"/>
            <a:ext cx="5532120" cy="566928"/>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Les deux fuites détectées étaient d’origine applicative : le code demandait sincèrement ce qu’il croyait devoir demander. Seule une garantie portée par la base de données résiste à l’erreur de programmation.</a:t>
            </a:r>
            <a:endParaRPr lang="en-US" sz="1000" dirty="0"/>
          </a:p>
        </p:txBody>
      </p:sp>
      <p:sp>
        <p:nvSpPr>
          <p:cNvPr id="15" name="cc_l2"/>
          <p:cNvSpPr/>
          <p:nvPr/>
        </p:nvSpPr>
        <p:spPr>
          <a:xfrm>
            <a:off x="640080" y="4151376"/>
            <a:ext cx="6537960" cy="1097280"/>
          </a:xfrm>
          <a:prstGeom prst="roundRect">
            <a:avLst>
              <a:gd name="adj" fmla="val 5000"/>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16" name="Shape 14"/>
          <p:cNvSpPr/>
          <p:nvPr/>
        </p:nvSpPr>
        <p:spPr>
          <a:xfrm>
            <a:off x="859536" y="4334256"/>
            <a:ext cx="438912" cy="438912"/>
          </a:xfrm>
          <a:prstGeom prst="roundRect">
            <a:avLst>
              <a:gd name="adj" fmla="val 72917"/>
            </a:avLst>
          </a:prstGeom>
          <a:solidFill>
            <a:srgbClr val="0E6B4F"/>
          </a:solidFill>
          <a:ln w="12700">
            <a:solidFill>
              <a:srgbClr val="25B98C"/>
            </a:solidFill>
            <a:prstDash val="solid"/>
          </a:ln>
        </p:spPr>
      </p:sp>
      <p:sp>
        <p:nvSpPr>
          <p:cNvPr id="17" name="Text 15"/>
          <p:cNvSpPr txBox="1"/>
          <p:nvPr/>
        </p:nvSpPr>
        <p:spPr>
          <a:xfrm>
            <a:off x="859536" y="4334256"/>
            <a:ext cx="438912" cy="438912"/>
          </a:xfrm>
          <a:prstGeom prst="rect">
            <a:avLst/>
          </a:prstGeom>
          <a:noFill/>
          <a:ln/>
        </p:spPr>
        <p:txBody>
          <a:bodyPr wrap="square" lIns="0" tIns="0" rIns="0" bIns="0" rtlCol="0" anchor="ctr"/>
          <a:lstStyle/>
          <a:p>
            <a:pPr algn="ctr" indent="0" marL="0">
              <a:buNone/>
            </a:pPr>
            <a:r>
              <a:rPr lang="en-US" sz="1200" b="1" dirty="0">
                <a:solidFill>
                  <a:srgbClr val="F0D68A"/>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408176" y="4297680"/>
            <a:ext cx="5532120" cy="329184"/>
          </a:xfrm>
          <a:prstGeom prst="rect">
            <a:avLst/>
          </a:prstGeom>
          <a:noFill/>
          <a:ln/>
        </p:spPr>
        <p:txBody>
          <a:bodyPr wrap="square" lIns="0" tIns="0" rIns="0" bIns="0" rtlCol="0" anchor="ctr"/>
          <a:lstStyle/>
          <a:p>
            <a:pPr indent="0" marL="0">
              <a:buNone/>
            </a:pPr>
            <a:r>
              <a:rPr lang="en-US" sz="1450" b="1" dirty="0">
                <a:solidFill>
                  <a:srgbClr val="F0D68A"/>
                </a:solidFill>
                <a:latin typeface="Cambria" pitchFamily="34" charset="0"/>
                <a:ea typeface="Cambria" pitchFamily="34" charset="-122"/>
                <a:cs typeface="Cambria" pitchFamily="34" charset="-120"/>
              </a:rPr>
              <a:t>Quatre continuités font la visite</a:t>
            </a:r>
            <a:endParaRPr lang="en-US" sz="1450" dirty="0"/>
          </a:p>
        </p:txBody>
      </p:sp>
      <p:sp>
        <p:nvSpPr>
          <p:cNvPr id="19" name="Text 17"/>
          <p:cNvSpPr txBox="1"/>
          <p:nvPr/>
        </p:nvSpPr>
        <p:spPr>
          <a:xfrm>
            <a:off x="1408176" y="4608576"/>
            <a:ext cx="5532120" cy="566928"/>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Spatiale, d’échelle, documentaire, narrative. La rupture d’une seule fait échouer l’ensemble — c’est la formulation synthétique du diagnostic.</a:t>
            </a:r>
            <a:endParaRPr lang="en-US" sz="1000" dirty="0"/>
          </a:p>
        </p:txBody>
      </p:sp>
      <p:sp>
        <p:nvSpPr>
          <p:cNvPr id="20" name="cc_p"/>
          <p:cNvSpPr/>
          <p:nvPr/>
        </p:nvSpPr>
        <p:spPr>
          <a:xfrm>
            <a:off x="7452360" y="1737360"/>
            <a:ext cx="4096512" cy="3675888"/>
          </a:xfrm>
          <a:prstGeom prst="roundRect">
            <a:avLst>
              <a:gd name="adj" fmla="val 1493"/>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21" name="Text 19"/>
          <p:cNvSpPr txBox="1"/>
          <p:nvPr/>
        </p:nvSpPr>
        <p:spPr>
          <a:xfrm>
            <a:off x="7699248" y="1901952"/>
            <a:ext cx="3611880" cy="274320"/>
          </a:xfrm>
          <a:prstGeom prst="rect">
            <a:avLst/>
          </a:prstGeom>
          <a:noFill/>
          <a:ln/>
        </p:spPr>
        <p:txBody>
          <a:bodyPr wrap="square" lIns="0" tIns="0" rIns="0" bIns="0" rtlCol="0" anchor="ctr"/>
          <a:lstStyle/>
          <a:p>
            <a:pPr indent="0" marL="0">
              <a:buNone/>
            </a:pPr>
            <a:r>
              <a:rPr lang="en-US" sz="1000" b="1" spc="200" kern="0" dirty="0">
                <a:solidFill>
                  <a:srgbClr val="D4A62A"/>
                </a:solidFill>
                <a:latin typeface="Calibri" pitchFamily="34" charset="0"/>
                <a:ea typeface="Calibri" pitchFamily="34" charset="-122"/>
                <a:cs typeface="Calibri" pitchFamily="34" charset="-120"/>
              </a:rPr>
              <a:t>PERSPECTIVES</a:t>
            </a:r>
            <a:endParaRPr lang="en-US" sz="1000" dirty="0"/>
          </a:p>
        </p:txBody>
      </p:sp>
      <p:sp>
        <p:nvSpPr>
          <p:cNvPr id="22" name="Text 20"/>
          <p:cNvSpPr txBox="1"/>
          <p:nvPr/>
        </p:nvSpPr>
        <p:spPr>
          <a:xfrm>
            <a:off x="7699248" y="2240280"/>
            <a:ext cx="361188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Comparer sur l’image, non sur le texte</a:t>
            </a:r>
            <a:endParaRPr lang="en-US" sz="1150" dirty="0"/>
          </a:p>
        </p:txBody>
      </p:sp>
      <p:sp>
        <p:nvSpPr>
          <p:cNvPr id="23" name="Text 21"/>
          <p:cNvSpPr txBox="1"/>
          <p:nvPr/>
        </p:nvSpPr>
        <p:spPr>
          <a:xfrm>
            <a:off x="7699248" y="2532888"/>
            <a:ext cx="3611880" cy="685800"/>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Un plongement visuel rapprocherait deux objets semblables mais décrits selon des conventions différentes : c’est la principale limite de la mémoire réunifiée.</a:t>
            </a:r>
            <a:endParaRPr lang="en-US" sz="1000" dirty="0"/>
          </a:p>
        </p:txBody>
      </p:sp>
      <p:sp>
        <p:nvSpPr>
          <p:cNvPr id="24" name="Text 22"/>
          <p:cNvSpPr txBox="1"/>
          <p:nvPr/>
        </p:nvSpPr>
        <p:spPr>
          <a:xfrm>
            <a:off x="7699248" y="3282696"/>
            <a:ext cx="361188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Les langues de l’Ouest camerounais</a:t>
            </a:r>
            <a:endParaRPr lang="en-US" sz="1150" dirty="0"/>
          </a:p>
        </p:txBody>
      </p:sp>
      <p:sp>
        <p:nvSpPr>
          <p:cNvPr id="25" name="Text 23"/>
          <p:cNvSpPr txBox="1"/>
          <p:nvPr/>
        </p:nvSpPr>
        <p:spPr>
          <a:xfrm>
            <a:off x="7699248" y="3575304"/>
            <a:ext cx="3611880" cy="685800"/>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Ghomálá’, fe’efe’e, medumba : restituer le patrimoine aux communautés qui en sont issues, dans leur langue. La structure du système le permet déjà.</a:t>
            </a:r>
            <a:endParaRPr lang="en-US" sz="1000" dirty="0"/>
          </a:p>
        </p:txBody>
      </p:sp>
      <p:sp>
        <p:nvSpPr>
          <p:cNvPr id="26" name="Text 24"/>
          <p:cNvSpPr txBox="1"/>
          <p:nvPr/>
        </p:nvSpPr>
        <p:spPr>
          <a:xfrm>
            <a:off x="7699248" y="4325112"/>
            <a:ext cx="3611880" cy="292608"/>
          </a:xfrm>
          <a:prstGeom prst="rect">
            <a:avLst/>
          </a:prstGeom>
          <a:noFill/>
          <a:ln/>
        </p:spPr>
        <p:txBody>
          <a:bodyPr wrap="square" lIns="0" tIns="0" rIns="0" bIns="0" rtlCol="0" anchor="ctr"/>
          <a:lstStyle/>
          <a:p>
            <a:pPr indent="0" marL="0">
              <a:buNone/>
            </a:pPr>
            <a:r>
              <a:rPr lang="en-US" sz="1150" b="1" dirty="0">
                <a:solidFill>
                  <a:srgbClr val="F4F1E9"/>
                </a:solidFill>
                <a:latin typeface="Calibri" pitchFamily="34" charset="0"/>
                <a:ea typeface="Calibri" pitchFamily="34" charset="-122"/>
                <a:cs typeface="Calibri" pitchFamily="34" charset="-120"/>
              </a:rPr>
              <a:t>Industrialiser et essaimer</a:t>
            </a:r>
            <a:endParaRPr lang="en-US" sz="1150" dirty="0"/>
          </a:p>
        </p:txBody>
      </p:sp>
      <p:sp>
        <p:nvSpPr>
          <p:cNvPr id="27" name="Text 25"/>
          <p:cNvSpPr txBox="1"/>
          <p:nvPr/>
        </p:nvSpPr>
        <p:spPr>
          <a:xfrm>
            <a:off x="7699248" y="4617720"/>
            <a:ext cx="3611880" cy="685800"/>
          </a:xfrm>
          <a:prstGeom prst="rect">
            <a:avLst/>
          </a:prstGeom>
          <a:noFill/>
          <a:ln/>
        </p:spPr>
        <p:txBody>
          <a:bodyPr wrap="square" lIns="0" tIns="0" rIns="0" bIns="0" rtlCol="0" anchor="ctr"/>
          <a:lstStyle/>
          <a:p>
            <a:pPr indent="0" marL="0">
              <a:lnSpc>
                <a:spcPts val="1300"/>
              </a:lnSpc>
              <a:buNone/>
            </a:pPr>
            <a:r>
              <a:rPr lang="en-US" sz="1000" dirty="0">
                <a:solidFill>
                  <a:srgbClr val="9CB6A9"/>
                </a:solidFill>
                <a:latin typeface="Calibri" pitchFamily="34" charset="0"/>
                <a:ea typeface="Calibri" pitchFamily="34" charset="-122"/>
                <a:cs typeface="Calibri" pitchFamily="34" charset="-120"/>
              </a:rPr>
              <a:t>Conteneurs orchestrés, ingestion automatisée, puis mutualisation : le coût par institution décroît à mesure que le réseau s’étoffe.</a:t>
            </a:r>
            <a:endParaRPr lang="en-US" sz="1000" dirty="0"/>
          </a:p>
        </p:txBody>
      </p:sp>
      <p:sp>
        <p:nvSpPr>
          <p:cNvPr id="28" name="cc_q"/>
          <p:cNvSpPr txBox="1"/>
          <p:nvPr/>
        </p:nvSpPr>
        <p:spPr>
          <a:xfrm>
            <a:off x="640080" y="5623560"/>
            <a:ext cx="10911535" cy="411480"/>
          </a:xfrm>
          <a:prstGeom prst="rect">
            <a:avLst/>
          </a:prstGeom>
          <a:noFill/>
          <a:ln/>
        </p:spPr>
        <p:txBody>
          <a:bodyPr wrap="square" lIns="0" tIns="0" rIns="0" bIns="0" rtlCol="0" anchor="ctr"/>
          <a:lstStyle/>
          <a:p>
            <a:pPr algn="ctr" indent="0" marL="0">
              <a:buNone/>
            </a:pPr>
            <a:r>
              <a:rPr lang="en-US" sz="1600" i="1" dirty="0">
                <a:solidFill>
                  <a:srgbClr val="D4A62A"/>
                </a:solidFill>
                <a:latin typeface="Cambria" pitchFamily="34" charset="0"/>
                <a:ea typeface="Cambria" pitchFamily="34" charset="-122"/>
                <a:cs typeface="Cambria" pitchFamily="34" charset="-120"/>
              </a:rPr>
              <a:t>« Faire entrer la Fondation dans l’écran de ceux qui ne peuvent pas franchir son portail. »</a:t>
            </a:r>
            <a:endParaRPr lang="en-US" sz="1600" dirty="0"/>
          </a:p>
        </p:txBody>
      </p:sp>
      <p:sp>
        <p:nvSpPr>
          <p:cNvPr id="29" name="Text 27"/>
          <p:cNvSpPr txBox="1"/>
          <p:nvPr/>
        </p:nvSpPr>
        <p:spPr>
          <a:xfrm>
            <a:off x="640080" y="6336792"/>
            <a:ext cx="6400800" cy="274320"/>
          </a:xfrm>
          <a:prstGeom prst="rect">
            <a:avLst/>
          </a:prstGeom>
          <a:noFill/>
          <a:ln/>
        </p:spPr>
        <p:txBody>
          <a:bodyPr wrap="square" lIns="0" tIns="0" rIns="0" bIns="0" rtlCol="0" anchor="ctr"/>
          <a:lstStyle/>
          <a:p>
            <a:pPr indent="0" marL="0">
              <a:buNone/>
            </a:pPr>
            <a:r>
              <a:rPr lang="en-US" sz="900" dirty="0">
                <a:solidFill>
                  <a:srgbClr val="9CB6A9">
                    <a:alpha val="70000"/>
                  </a:srgbClr>
                </a:solidFill>
                <a:latin typeface="Calibri" pitchFamily="34" charset="0"/>
                <a:ea typeface="Calibri" pitchFamily="34" charset="-122"/>
                <a:cs typeface="Calibri" pitchFamily="34" charset="-120"/>
              </a:rPr>
              <a:t>MUSÉA  ·  Soutenance de Licence en Génie Informatique</a:t>
            </a:r>
            <a:endParaRPr lang="en-US" sz="900" dirty="0"/>
          </a:p>
        </p:txBody>
      </p:sp>
      <p:sp>
        <p:nvSpPr>
          <p:cNvPr id="30" name="Text 28"/>
          <p:cNvSpPr txBox="1"/>
          <p:nvPr/>
        </p:nvSpPr>
        <p:spPr>
          <a:xfrm>
            <a:off x="11155680" y="6336792"/>
            <a:ext cx="576072" cy="274320"/>
          </a:xfrm>
          <a:prstGeom prst="rect">
            <a:avLst/>
          </a:prstGeom>
          <a:noFill/>
          <a:ln/>
        </p:spPr>
        <p:txBody>
          <a:bodyPr wrap="square" lIns="0" tIns="0" rIns="0" bIns="0" rtlCol="0" anchor="ctr"/>
          <a:lstStyle/>
          <a:p>
            <a:pPr algn="r" indent="0" marL="0">
              <a:buNone/>
            </a:pPr>
            <a:r>
              <a:rPr lang="en-US" sz="1000" dirty="0">
                <a:solidFill>
                  <a:srgbClr val="D4A62A"/>
                </a:solidFill>
                <a:latin typeface="Calibri" pitchFamily="34" charset="0"/>
                <a:ea typeface="Calibri" pitchFamily="34" charset="-122"/>
                <a:cs typeface="Calibri" pitchFamily="34" charset="-120"/>
              </a:rPr>
              <a:t>30</a:t>
            </a:r>
            <a:endParaRPr lang="en-US" sz="1000" dirty="0"/>
          </a:p>
        </p:txBody>
      </p:sp>
    </p:spTree>
  </p:cSld>
  <p:clrMapOvr>
    <a:masterClrMapping/>
  </p:clrMapOvr>
  <mc:AlternateContent>
    <mc:Choice Requires="p14">
      <p:transition spd="med" p14:dur="6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42" presetClass="entr" presetSubtype="8" fill="hold" grpId="0" nodeType="withEffect">
                                  <p:stCondLst>
                                    <p:cond delay="12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additive="base">
                                        <p:cTn id="8" dur="500" fill="hold"/>
                                        <p:tgtEl>
                                          <p:spTgt spid="4"/>
                                        </p:tgtEl>
                                        <p:attrNameLst>
                                          <p:attrName>ppt_y</p:attrName>
                                        </p:attrNameLst>
                                      </p:cBhvr>
                                      <p:tavLst>
                                        <p:tav tm="0">
                                          <p:val>
                                            <p:strVal val="#ppt_y+.035"/>
                                          </p:val>
                                        </p:tav>
                                        <p:tav tm="100000">
                                          <p:val>
                                            <p:strVal val="#ppt_y"/>
                                          </p:val>
                                        </p:tav>
                                      </p:tavLst>
                                    </p:anim>
                                  </p:childTnLst>
                                </p:cTn>
                              </p:par>
                              <p:par>
                                <p:cTn id="9" presetID="42" presetClass="entr" presetSubtype="8" fill="hold" grpId="0" nodeType="withEffect">
                                  <p:stCondLst>
                                    <p:cond delay="33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additive="base">
                                        <p:cTn id="12" dur="500" fill="hold"/>
                                        <p:tgtEl>
                                          <p:spTgt spid="5"/>
                                        </p:tgtEl>
                                        <p:attrNameLst>
                                          <p:attrName>ppt_y</p:attrName>
                                        </p:attrNameLst>
                                      </p:cBhvr>
                                      <p:tavLst>
                                        <p:tav tm="0">
                                          <p:val>
                                            <p:strVal val="#ppt_y+.035"/>
                                          </p:val>
                                        </p:tav>
                                        <p:tav tm="100000">
                                          <p:val>
                                            <p:strVal val="#ppt_y"/>
                                          </p:val>
                                        </p:tav>
                                      </p:tavLst>
                                    </p:anim>
                                  </p:childTnLst>
                                </p:cTn>
                              </p:par>
                              <p:par>
                                <p:cTn id="13" presetID="42" presetClass="entr" presetSubtype="8" fill="hold" grpId="0" nodeType="withEffect">
                                  <p:stCondLst>
                                    <p:cond delay="5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additive="base">
                                        <p:cTn id="16" dur="500" fill="hold"/>
                                        <p:tgtEl>
                                          <p:spTgt spid="10"/>
                                        </p:tgtEl>
                                        <p:attrNameLst>
                                          <p:attrName>ppt_y</p:attrName>
                                        </p:attrNameLst>
                                      </p:cBhvr>
                                      <p:tavLst>
                                        <p:tav tm="0">
                                          <p:val>
                                            <p:strVal val="#ppt_y+.035"/>
                                          </p:val>
                                        </p:tav>
                                        <p:tav tm="100000">
                                          <p:val>
                                            <p:strVal val="#ppt_y"/>
                                          </p:val>
                                        </p:tav>
                                      </p:tavLst>
                                    </p:anim>
                                  </p:childTnLst>
                                </p:cTn>
                              </p:par>
                              <p:par>
                                <p:cTn id="17" presetID="42" presetClass="entr" presetSubtype="8" fill="hold" grpId="0" nodeType="withEffect">
                                  <p:stCondLst>
                                    <p:cond delay="67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anim calcmode="lin" valueType="num">
                                      <p:cBhvr additive="base">
                                        <p:cTn id="20" dur="500" fill="hold"/>
                                        <p:tgtEl>
                                          <p:spTgt spid="15"/>
                                        </p:tgtEl>
                                        <p:attrNameLst>
                                          <p:attrName>ppt_y</p:attrName>
                                        </p:attrNameLst>
                                      </p:cBhvr>
                                      <p:tavLst>
                                        <p:tav tm="0">
                                          <p:val>
                                            <p:strVal val="#ppt_y+.035"/>
                                          </p:val>
                                        </p:tav>
                                        <p:tav tm="100000">
                                          <p:val>
                                            <p:strVal val="#ppt_y"/>
                                          </p:val>
                                        </p:tav>
                                      </p:tavLst>
                                    </p:anim>
                                  </p:childTnLst>
                                </p:cTn>
                              </p:par>
                              <p:par>
                                <p:cTn id="21" presetID="42" presetClass="entr" presetSubtype="8" fill="hold" grpId="0" nodeType="withEffect">
                                  <p:stCondLst>
                                    <p:cond delay="8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anim calcmode="lin" valueType="num">
                                      <p:cBhvr additive="base">
                                        <p:cTn id="24" dur="500" fill="hold"/>
                                        <p:tgtEl>
                                          <p:spTgt spid="20"/>
                                        </p:tgtEl>
                                        <p:attrNameLst>
                                          <p:attrName>ppt_y</p:attrName>
                                        </p:attrNameLst>
                                      </p:cBhvr>
                                      <p:tavLst>
                                        <p:tav tm="0">
                                          <p:val>
                                            <p:strVal val="#ppt_y+.035"/>
                                          </p:val>
                                        </p:tav>
                                        <p:tav tm="100000">
                                          <p:val>
                                            <p:strVal val="#ppt_y"/>
                                          </p:val>
                                        </p:tav>
                                      </p:tavLst>
                                    </p:anim>
                                  </p:childTnLst>
                                </p:cTn>
                              </p:par>
                              <p:par>
                                <p:cTn id="25" presetID="10" presetClass="entr" presetSubtype="0" fill="hold" grpId="0" nodeType="withEffect">
                                  <p:stCondLst>
                                    <p:cond delay="120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xmlns:p14="http://schemas.microsoft.com/office/powerpoint/2010/main" xmlns:mc="http://schemas.openxmlformats.org/markup-compatibility/2006" mc:Ignorable="p14">
  <p:cSld name="Slide 31">
    <p:bg>
      <p:bgPr>
        <a:solidFill>
          <a:srgbClr val="07130F"/>
        </a:solidFill>
      </p:bgPr>
    </p:bg>
    <p:spTree>
      <p:nvGrpSpPr>
        <p:cNvPr id="1" name=""/>
        <p:cNvGrpSpPr/>
        <p:nvPr/>
      </p:nvGrpSpPr>
      <p:grpSpPr>
        <a:xfrm>
          <a:off x="0" y="0"/>
          <a:ext cx="0" cy="0"/>
          <a:chOff x="0" y="0"/>
          <a:chExt cx="0" cy="0"/>
        </a:xfrm>
      </p:grpSpPr>
      <p:pic>
        <p:nvPicPr>
          <p:cNvPr id="2" name="Image 0" descr="C:/Users/maxib/Desktop/visite_immersive/public/hero/hero-plateform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30F">
              <a:alpha val="82000"/>
            </a:srgbClr>
          </a:solidFill>
          <a:ln/>
        </p:spPr>
      </p:sp>
      <p:sp>
        <p:nvSpPr>
          <p:cNvPr id="4" name="z_e"/>
          <p:cNvSpPr txBox="1"/>
          <p:nvPr/>
        </p:nvSpPr>
        <p:spPr>
          <a:xfrm>
            <a:off x="640080" y="2331720"/>
            <a:ext cx="10058400" cy="548640"/>
          </a:xfrm>
          <a:prstGeom prst="rect">
            <a:avLst/>
          </a:prstGeom>
          <a:noFill/>
          <a:ln/>
        </p:spPr>
        <p:txBody>
          <a:bodyPr wrap="square" lIns="0" tIns="0" rIns="0" bIns="0" rtlCol="0" anchor="ctr"/>
          <a:lstStyle/>
          <a:p>
            <a:pPr indent="0" marL="0">
              <a:buNone/>
            </a:pPr>
            <a:r>
              <a:rPr lang="en-US" sz="1400" b="1" spc="450" kern="0" dirty="0">
                <a:solidFill>
                  <a:srgbClr val="D4A62A"/>
                </a:solidFill>
                <a:latin typeface="Calibri" pitchFamily="34" charset="0"/>
                <a:ea typeface="Calibri" pitchFamily="34" charset="-122"/>
                <a:cs typeface="Calibri" pitchFamily="34" charset="-120"/>
              </a:rPr>
              <a:t>MERCI DE VOTRE ATTENTION</a:t>
            </a:r>
            <a:endParaRPr lang="en-US" sz="1400" dirty="0"/>
          </a:p>
        </p:txBody>
      </p:sp>
      <p:sp>
        <p:nvSpPr>
          <p:cNvPr id="5" name="!!wordmark"/>
          <p:cNvSpPr txBox="1"/>
          <p:nvPr/>
        </p:nvSpPr>
        <p:spPr>
          <a:xfrm>
            <a:off x="640080" y="2788920"/>
            <a:ext cx="7315200" cy="1188720"/>
          </a:xfrm>
          <a:prstGeom prst="rect">
            <a:avLst/>
          </a:prstGeom>
          <a:noFill/>
          <a:ln/>
          <a:effectLst>
            <a:outerShdw sx="100000" sy="100000" kx="0" ky="0" algn="bl" rotWithShape="0" blurRad="228600" dist="50800" dir="5400000">
              <a:srgbClr val="000000">
                <a:alpha val="55000"/>
              </a:srgbClr>
            </a:outerShdw>
          </a:effectLst>
        </p:spPr>
        <p:txBody>
          <a:bodyPr wrap="square" lIns="0" tIns="0" rIns="0" bIns="0" rtlCol="0" anchor="ctr"/>
          <a:lstStyle/>
          <a:p>
            <a:pPr indent="0" marL="0">
              <a:buNone/>
            </a:pPr>
            <a:r>
              <a:rPr lang="en-US" sz="6600" b="1" spc="800" kern="0" dirty="0">
                <a:solidFill>
                  <a:srgbClr val="F0D68A"/>
                </a:solidFill>
                <a:latin typeface="Cambria" pitchFamily="34" charset="0"/>
                <a:ea typeface="Cambria" pitchFamily="34" charset="-122"/>
                <a:cs typeface="Cambria" pitchFamily="34" charset="-120"/>
              </a:rPr>
              <a:t>MUSÉA</a:t>
            </a:r>
            <a:endParaRPr lang="en-US" sz="6600" dirty="0"/>
          </a:p>
        </p:txBody>
      </p:sp>
      <p:sp>
        <p:nvSpPr>
          <p:cNvPr id="6" name="z_q"/>
          <p:cNvSpPr txBox="1"/>
          <p:nvPr/>
        </p:nvSpPr>
        <p:spPr>
          <a:xfrm>
            <a:off x="640080" y="4023360"/>
            <a:ext cx="8229600" cy="457200"/>
          </a:xfrm>
          <a:prstGeom prst="rect">
            <a:avLst/>
          </a:prstGeom>
          <a:noFill/>
          <a:ln/>
        </p:spPr>
        <p:txBody>
          <a:bodyPr wrap="square" lIns="0" tIns="0" rIns="0" bIns="0" rtlCol="0" anchor="ctr"/>
          <a:lstStyle/>
          <a:p>
            <a:pPr indent="0" marL="0">
              <a:buNone/>
            </a:pPr>
            <a:r>
              <a:rPr lang="en-US" sz="2000" i="1" dirty="0">
                <a:solidFill>
                  <a:srgbClr val="F4F1E9"/>
                </a:solidFill>
                <a:latin typeface="Cambria" pitchFamily="34" charset="0"/>
                <a:ea typeface="Cambria" pitchFamily="34" charset="-122"/>
                <a:cs typeface="Cambria" pitchFamily="34" charset="-120"/>
              </a:rPr>
              <a:t>Je suis à votre disposition pour vos questions.</a:t>
            </a:r>
            <a:endParaRPr lang="en-US" sz="2000" dirty="0"/>
          </a:p>
        </p:txBody>
      </p:sp>
      <p:sp>
        <p:nvSpPr>
          <p:cNvPr id="7" name="z_c"/>
          <p:cNvSpPr/>
          <p:nvPr/>
        </p:nvSpPr>
        <p:spPr>
          <a:xfrm>
            <a:off x="640080" y="4892040"/>
            <a:ext cx="6766560" cy="960120"/>
          </a:xfrm>
          <a:prstGeom prst="roundRect">
            <a:avLst>
              <a:gd name="adj" fmla="val 5714"/>
            </a:avLst>
          </a:prstGeom>
          <a:solidFill>
            <a:srgbClr val="102A21"/>
          </a:solidFill>
          <a:ln w="12700">
            <a:solidFill>
              <a:srgbClr val="1E4738"/>
            </a:solidFill>
            <a:prstDash val="solid"/>
          </a:ln>
          <a:effectLst>
            <a:outerShdw sx="100000" sy="100000" kx="0" ky="0" algn="bl" rotWithShape="0" blurRad="203200" dist="63500" dir="5400000">
              <a:srgbClr val="000000">
                <a:alpha val="40000"/>
              </a:srgbClr>
            </a:outerShdw>
          </a:effectLst>
        </p:spPr>
      </p:sp>
      <p:sp>
        <p:nvSpPr>
          <p:cNvPr id="8" name="Text 5"/>
          <p:cNvSpPr txBox="1"/>
          <p:nvPr/>
        </p:nvSpPr>
        <p:spPr>
          <a:xfrm>
            <a:off x="914400" y="5029200"/>
            <a:ext cx="6217920" cy="685800"/>
          </a:xfrm>
          <a:prstGeom prst="rect">
            <a:avLst/>
          </a:prstGeom>
          <a:noFill/>
          <a:ln/>
        </p:spPr>
        <p:txBody>
          <a:bodyPr wrap="square" lIns="0" tIns="0" rIns="0" bIns="0" rtlCol="0" anchor="ctr"/>
          <a:lstStyle/>
          <a:p>
            <a:pPr indent="0" marL="0">
              <a:lnSpc>
                <a:spcPts val="1800"/>
              </a:lnSpc>
              <a:buNone/>
            </a:pPr>
            <a:r>
              <a:rPr lang="en-US" sz="1300" b="1" dirty="0">
                <a:solidFill>
                  <a:srgbClr val="F4F1E9"/>
                </a:solidFill>
                <a:latin typeface="Calibri" pitchFamily="34" charset="0"/>
                <a:ea typeface="Calibri" pitchFamily="34" charset="-122"/>
                <a:cs typeface="Calibri" pitchFamily="34" charset="-120"/>
              </a:rPr>
              <a:t>DASSI KAMGANG Max-Brian</a:t>
            </a:r>
            <a:pPr indent="0" marL="0">
              <a:lnSpc>
                <a:spcPts val="1800"/>
              </a:lnSpc>
              <a:buNone/>
            </a:pPr>
            <a:r>
              <a:rPr lang="en-US" sz="1200" dirty="0">
                <a:solidFill>
                  <a:srgbClr val="9CB6A9"/>
                </a:solidFill>
                <a:latin typeface="Calibri" pitchFamily="34" charset="0"/>
                <a:ea typeface="Calibri" pitchFamily="34" charset="-122"/>
                <a:cs typeface="Calibri" pitchFamily="34" charset="-120"/>
              </a:rPr>
              <a:t>   ·   Licence en Génie Informatique   ·   2025 – 2026
</a:t>
            </a:r>
            <a:pPr indent="0" marL="0">
              <a:lnSpc>
                <a:spcPts val="1800"/>
              </a:lnSpc>
              <a:buNone/>
            </a:pPr>
            <a:r>
              <a:rPr lang="en-US" sz="1150" i="1" dirty="0">
                <a:solidFill>
                  <a:srgbClr val="9CB6A9"/>
                </a:solidFill>
                <a:latin typeface="Calibri" pitchFamily="34" charset="0"/>
                <a:ea typeface="Calibri" pitchFamily="34" charset="-122"/>
                <a:cs typeface="Calibri" pitchFamily="34" charset="-120"/>
              </a:rPr>
              <a:t>Fondation Jean Félicien Gacha — Think Tank Fou’ndjem, Bangoulap</a:t>
            </a:r>
            <a:endParaRPr lang="en-US" sz="1300" dirty="0"/>
          </a:p>
        </p:txBody>
      </p:sp>
    </p:spTree>
  </p:cSld>
  <p:clrMapOvr>
    <a:masterClrMapping/>
  </p:clrMapOvr>
  <mc:AlternateContent>
    <mc:Choice Requires="p14">
      <p:transition spd="slow" p14:dur="1250">
        <p14: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8" fill="hold" grpId="0" nodeType="withEffect">
                                  <p:stCondLst>
                                    <p:cond delay="6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ppt_y</p:attrName>
                                        </p:attrNameLst>
                                      </p:cBhvr>
                                      <p:tavLst>
                                        <p:tav tm="0">
                                          <p:val>
                                            <p:strVal val="#ppt_y+.035"/>
                                          </p:val>
                                        </p:tav>
                                        <p:tav tm="100000">
                                          <p:val>
                                            <p:strVal val="#ppt_y"/>
                                          </p:val>
                                        </p:tav>
                                      </p:tavLst>
                                    </p:anim>
                                  </p:childTnLst>
                                </p:cTn>
                              </p:par>
                              <p:par>
                                <p:cTn id="12" presetID="42" presetClass="entr" presetSubtype="8" fill="hold" grpId="0" nodeType="withEffect">
                                  <p:stCondLst>
                                    <p:cond delay="9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additive="base">
                                        <p:cTn id="15" dur="500" fill="hold"/>
                                        <p:tgtEl>
                                          <p:spTgt spid="7"/>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Institut Supérieur KEYCE Informatique et Intelligence Artificielle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MUSÉA — Mise en place d’un système de visite immersive des musées</dc:title>
  <dc:subject>Soutenance de Licence en Génie Informatique — 2025-2026</dc:subject>
  <dc:creator>DASSI KAMGANG Max-Brian</dc:creator>
  <cp:lastModifiedBy>DASSI KAMGANG Max-Brian</cp:lastModifiedBy>
  <cp:revision>1</cp:revision>
  <dcterms:created xsi:type="dcterms:W3CDTF">2026-09-05T11:54:45Z</dcterms:created>
  <dcterms:modified xsi:type="dcterms:W3CDTF">2026-09-05T11:54:45Z</dcterms:modified>
</cp:coreProperties>
</file>